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Inter" panose="020B0604020202020204" charset="0"/>
      <p:regular r:id="rId13"/>
    </p:embeddedFont>
    <p:embeddedFont>
      <p:font typeface="Inter Bold" panose="020B0604020202020204" charset="0"/>
      <p:regular r:id="rId14"/>
    </p:embeddedFont>
    <p:embeddedFont>
      <p:font typeface="Inter Light"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4" d="100"/>
          <a:sy n="74" d="100"/>
        </p:scale>
        <p:origin x="53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992238" y="815283"/>
            <a:ext cx="16303523" cy="3706416"/>
          </a:xfrm>
          <a:prstGeom prst="rect">
            <a:avLst/>
          </a:prstGeom>
        </p:spPr>
        <p:txBody>
          <a:bodyPr lIns="0" tIns="0" rIns="0" bIns="0" rtlCol="0" anchor="t">
            <a:spAutoFit/>
          </a:bodyPr>
          <a:lstStyle/>
          <a:p>
            <a:pPr algn="l">
              <a:lnSpc>
                <a:spcPts val="9625"/>
              </a:lnSpc>
            </a:pPr>
            <a:r>
              <a:rPr lang="en-US" sz="7687" b="1">
                <a:solidFill>
                  <a:srgbClr val="000000"/>
                </a:solidFill>
                <a:latin typeface="Inter Bold"/>
                <a:ea typeface="Inter Bold"/>
                <a:cs typeface="Inter Bold"/>
                <a:sym typeface="Inter Bold"/>
              </a:rPr>
              <a:t>Real-Time Sign Language Recognition System Using LSTM and MediaPipe</a:t>
            </a:r>
          </a:p>
        </p:txBody>
      </p:sp>
      <p:sp>
        <p:nvSpPr>
          <p:cNvPr id="7" name="TextBox 7"/>
          <p:cNvSpPr txBox="1"/>
          <p:nvPr/>
        </p:nvSpPr>
        <p:spPr>
          <a:xfrm>
            <a:off x="992238" y="6260306"/>
            <a:ext cx="4252912" cy="550659"/>
          </a:xfrm>
          <a:prstGeom prst="rect">
            <a:avLst/>
          </a:prstGeom>
        </p:spPr>
        <p:txBody>
          <a:bodyPr lIns="0" tIns="0" rIns="0" bIns="0" rtlCol="0" anchor="t">
            <a:spAutoFit/>
          </a:bodyPr>
          <a:lstStyle/>
          <a:p>
            <a:pPr algn="l">
              <a:lnSpc>
                <a:spcPts val="4125"/>
              </a:lnSpc>
            </a:pPr>
            <a:r>
              <a:rPr lang="en-US" sz="3312" b="1">
                <a:solidFill>
                  <a:srgbClr val="000000"/>
                </a:solidFill>
                <a:latin typeface="Inter Bold"/>
                <a:ea typeface="Inter Bold"/>
                <a:cs typeface="Inter Bold"/>
                <a:sym typeface="Inter Bold"/>
              </a:rPr>
              <a:t>Shreyas Shinde</a:t>
            </a:r>
          </a:p>
        </p:txBody>
      </p:sp>
      <p:sp>
        <p:nvSpPr>
          <p:cNvPr id="8" name="TextBox 8"/>
          <p:cNvSpPr txBox="1"/>
          <p:nvPr/>
        </p:nvSpPr>
        <p:spPr>
          <a:xfrm>
            <a:off x="992238" y="6905330"/>
            <a:ext cx="4252912" cy="550659"/>
          </a:xfrm>
          <a:prstGeom prst="rect">
            <a:avLst/>
          </a:prstGeom>
        </p:spPr>
        <p:txBody>
          <a:bodyPr lIns="0" tIns="0" rIns="0" bIns="0" rtlCol="0" anchor="t">
            <a:spAutoFit/>
          </a:bodyPr>
          <a:lstStyle/>
          <a:p>
            <a:pPr algn="l">
              <a:lnSpc>
                <a:spcPts val="4125"/>
              </a:lnSpc>
            </a:pPr>
            <a:r>
              <a:rPr lang="en-US" sz="3312" b="1">
                <a:solidFill>
                  <a:srgbClr val="000000"/>
                </a:solidFill>
                <a:latin typeface="Inter Bold"/>
                <a:ea typeface="Inter Bold"/>
                <a:cs typeface="Inter Bold"/>
                <a:sym typeface="Inter Bold"/>
              </a:rPr>
              <a:t>FINX Institute</a:t>
            </a:r>
          </a:p>
        </p:txBody>
      </p:sp>
      <p:sp>
        <p:nvSpPr>
          <p:cNvPr id="9" name="TextBox 9"/>
          <p:cNvSpPr txBox="1"/>
          <p:nvPr/>
        </p:nvSpPr>
        <p:spPr>
          <a:xfrm>
            <a:off x="992238" y="7550353"/>
            <a:ext cx="6460922" cy="550659"/>
          </a:xfrm>
          <a:prstGeom prst="rect">
            <a:avLst/>
          </a:prstGeom>
        </p:spPr>
        <p:txBody>
          <a:bodyPr lIns="0" tIns="0" rIns="0" bIns="0" rtlCol="0" anchor="t">
            <a:spAutoFit/>
          </a:bodyPr>
          <a:lstStyle/>
          <a:p>
            <a:pPr algn="l">
              <a:lnSpc>
                <a:spcPts val="4125"/>
              </a:lnSpc>
            </a:pPr>
            <a:r>
              <a:rPr lang="en-US" sz="3312" b="1">
                <a:solidFill>
                  <a:srgbClr val="000000"/>
                </a:solidFill>
                <a:latin typeface="Inter Bold"/>
                <a:ea typeface="Inter Bold"/>
                <a:cs typeface="Inter Bold"/>
                <a:sym typeface="Inter Bold"/>
              </a:rPr>
              <a:t>Academic Session: 2023-2026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967553" y="1045714"/>
            <a:ext cx="7088238" cy="914552"/>
          </a:xfrm>
          <a:prstGeom prst="rect">
            <a:avLst/>
          </a:prstGeom>
        </p:spPr>
        <p:txBody>
          <a:bodyPr lIns="0" tIns="0" rIns="0" bIns="0" rtlCol="0" anchor="t">
            <a:spAutoFit/>
          </a:bodyPr>
          <a:lstStyle/>
          <a:p>
            <a:pPr algn="l">
              <a:lnSpc>
                <a:spcPts val="6937"/>
              </a:lnSpc>
            </a:pPr>
            <a:r>
              <a:rPr lang="en-US" sz="5562" b="1" dirty="0">
                <a:solidFill>
                  <a:srgbClr val="000000"/>
                </a:solidFill>
                <a:latin typeface="Inter Bold"/>
                <a:ea typeface="Inter Bold"/>
                <a:cs typeface="Inter Bold"/>
                <a:sym typeface="Inter Bold"/>
              </a:rPr>
              <a:t>The Challenge</a:t>
            </a:r>
          </a:p>
        </p:txBody>
      </p:sp>
      <p:sp>
        <p:nvSpPr>
          <p:cNvPr id="7" name="TextBox 7"/>
          <p:cNvSpPr txBox="1"/>
          <p:nvPr/>
        </p:nvSpPr>
        <p:spPr>
          <a:xfrm>
            <a:off x="1066800" y="3243263"/>
            <a:ext cx="16303523" cy="1900237"/>
          </a:xfrm>
          <a:prstGeom prst="rect">
            <a:avLst/>
          </a:prstGeom>
        </p:spPr>
        <p:txBody>
          <a:bodyPr lIns="0" tIns="0" rIns="0" bIns="0" rtlCol="0" anchor="t">
            <a:spAutoFit/>
          </a:bodyPr>
          <a:lstStyle/>
          <a:p>
            <a:pPr algn="l">
              <a:lnSpc>
                <a:spcPts val="3562"/>
              </a:lnSpc>
            </a:pPr>
            <a:r>
              <a:rPr lang="en-US" sz="2187" dirty="0">
                <a:solidFill>
                  <a:srgbClr val="272525"/>
                </a:solidFill>
                <a:latin typeface="Inter"/>
                <a:ea typeface="Inter"/>
                <a:cs typeface="Inter"/>
                <a:sym typeface="Inter"/>
              </a:rPr>
              <a:t>Sign language is a fundamental communication medium for individuals with hearing and speech impairments. Traditional sign language interpretation relies on human interpreters, which are scarce and expensive. This creates persistent accessibility barriers for millions of users worldwide. The need for real-time, automated sign language translation systems is critical for bridging communication gaps.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992238" y="919315"/>
            <a:ext cx="5670652" cy="737292"/>
          </a:xfrm>
          <a:prstGeom prst="rect">
            <a:avLst/>
          </a:prstGeom>
        </p:spPr>
        <p:txBody>
          <a:bodyPr lIns="0" tIns="0" rIns="0" bIns="0" rtlCol="0" anchor="t">
            <a:spAutoFit/>
          </a:bodyPr>
          <a:lstStyle/>
          <a:p>
            <a:pPr algn="l">
              <a:lnSpc>
                <a:spcPts val="5562"/>
              </a:lnSpc>
            </a:pPr>
            <a:r>
              <a:rPr lang="en-US" sz="4437" b="1">
                <a:solidFill>
                  <a:srgbClr val="000000"/>
                </a:solidFill>
                <a:latin typeface="Inter Bold"/>
                <a:ea typeface="Inter Bold"/>
                <a:cs typeface="Inter Bold"/>
                <a:sym typeface="Inter Bold"/>
              </a:rPr>
              <a:t>Our Solution</a:t>
            </a:r>
          </a:p>
        </p:txBody>
      </p:sp>
      <p:sp>
        <p:nvSpPr>
          <p:cNvPr id="7" name="TextBox 7"/>
          <p:cNvSpPr txBox="1"/>
          <p:nvPr/>
        </p:nvSpPr>
        <p:spPr>
          <a:xfrm>
            <a:off x="992238" y="1971827"/>
            <a:ext cx="16303523" cy="374152"/>
          </a:xfrm>
          <a:prstGeom prst="rect">
            <a:avLst/>
          </a:prstGeom>
        </p:spPr>
        <p:txBody>
          <a:bodyPr lIns="0" tIns="0" rIns="0" bIns="0" rtlCol="0" anchor="t">
            <a:spAutoFit/>
          </a:bodyPr>
          <a:lstStyle/>
          <a:p>
            <a:pPr algn="l">
              <a:lnSpc>
                <a:spcPts val="2562"/>
              </a:lnSpc>
            </a:pPr>
            <a:r>
              <a:rPr lang="en-US" sz="1750">
                <a:solidFill>
                  <a:srgbClr val="272525"/>
                </a:solidFill>
                <a:latin typeface="Inter"/>
                <a:ea typeface="Inter"/>
                <a:cs typeface="Inter"/>
                <a:sym typeface="Inter"/>
              </a:rPr>
              <a:t>This project presents a real-time sign language recognition system that integrates three core technologies:</a:t>
            </a:r>
          </a:p>
        </p:txBody>
      </p:sp>
      <p:grpSp>
        <p:nvGrpSpPr>
          <p:cNvPr id="8" name="Group 8"/>
          <p:cNvGrpSpPr/>
          <p:nvPr/>
        </p:nvGrpSpPr>
        <p:grpSpPr>
          <a:xfrm>
            <a:off x="3286716" y="2550023"/>
            <a:ext cx="11714407" cy="4240559"/>
            <a:chOff x="0" y="0"/>
            <a:chExt cx="15619209" cy="5654078"/>
          </a:xfrm>
        </p:grpSpPr>
        <p:sp>
          <p:nvSpPr>
            <p:cNvPr id="9" name="Freeform 9" descr="preencoded.png"/>
            <p:cNvSpPr/>
            <p:nvPr/>
          </p:nvSpPr>
          <p:spPr>
            <a:xfrm>
              <a:off x="0" y="0"/>
              <a:ext cx="15619222" cy="5654040"/>
            </a:xfrm>
            <a:custGeom>
              <a:avLst/>
              <a:gdLst/>
              <a:ahLst/>
              <a:cxnLst/>
              <a:rect l="l" t="t" r="r" b="b"/>
              <a:pathLst>
                <a:path w="15619222" h="5654040">
                  <a:moveTo>
                    <a:pt x="0" y="0"/>
                  </a:moveTo>
                  <a:lnTo>
                    <a:pt x="15619222" y="0"/>
                  </a:lnTo>
                  <a:lnTo>
                    <a:pt x="15619222" y="5654040"/>
                  </a:lnTo>
                  <a:lnTo>
                    <a:pt x="0" y="5654040"/>
                  </a:lnTo>
                  <a:lnTo>
                    <a:pt x="0" y="0"/>
                  </a:lnTo>
                  <a:close/>
                </a:path>
              </a:pathLst>
            </a:custGeom>
            <a:blipFill>
              <a:blip r:embed="rId3"/>
              <a:stretch>
                <a:fillRect l="-28" r="-28"/>
              </a:stretch>
            </a:blipFill>
          </p:spPr>
        </p:sp>
      </p:grpSp>
      <p:sp>
        <p:nvSpPr>
          <p:cNvPr id="10" name="TextBox 10"/>
          <p:cNvSpPr txBox="1"/>
          <p:nvPr/>
        </p:nvSpPr>
        <p:spPr>
          <a:xfrm>
            <a:off x="4146737" y="5736412"/>
            <a:ext cx="2934519" cy="385867"/>
          </a:xfrm>
          <a:prstGeom prst="rect">
            <a:avLst/>
          </a:prstGeom>
        </p:spPr>
        <p:txBody>
          <a:bodyPr lIns="0" tIns="0" rIns="0" bIns="0" rtlCol="0" anchor="t">
            <a:spAutoFit/>
          </a:bodyPr>
          <a:lstStyle/>
          <a:p>
            <a:pPr algn="l">
              <a:lnSpc>
                <a:spcPts val="2875"/>
              </a:lnSpc>
            </a:pPr>
            <a:r>
              <a:rPr lang="en-US" sz="2249" b="1">
                <a:solidFill>
                  <a:srgbClr val="FFFFFF"/>
                </a:solidFill>
                <a:latin typeface="Inter Bold"/>
                <a:ea typeface="Inter Bold"/>
                <a:cs typeface="Inter Bold"/>
                <a:sym typeface="Inter Bold"/>
              </a:rPr>
              <a:t>OpenCV</a:t>
            </a:r>
          </a:p>
        </p:txBody>
      </p:sp>
      <p:sp>
        <p:nvSpPr>
          <p:cNvPr id="11" name="TextBox 11"/>
          <p:cNvSpPr txBox="1"/>
          <p:nvPr/>
        </p:nvSpPr>
        <p:spPr>
          <a:xfrm>
            <a:off x="4146737" y="4458262"/>
            <a:ext cx="2934519" cy="385867"/>
          </a:xfrm>
          <a:prstGeom prst="rect">
            <a:avLst/>
          </a:prstGeom>
        </p:spPr>
        <p:txBody>
          <a:bodyPr lIns="0" tIns="0" rIns="0" bIns="0" rtlCol="0" anchor="t">
            <a:spAutoFit/>
          </a:bodyPr>
          <a:lstStyle/>
          <a:p>
            <a:pPr algn="l">
              <a:lnSpc>
                <a:spcPts val="2875"/>
              </a:lnSpc>
            </a:pPr>
            <a:r>
              <a:rPr lang="en-US" sz="2249" b="1">
                <a:solidFill>
                  <a:srgbClr val="FFFFFF"/>
                </a:solidFill>
                <a:latin typeface="Inter Bold"/>
                <a:ea typeface="Inter Bold"/>
                <a:cs typeface="Inter Bold"/>
                <a:sym typeface="Inter Bold"/>
              </a:rPr>
              <a:t>LSTM</a:t>
            </a:r>
          </a:p>
        </p:txBody>
      </p:sp>
      <p:sp>
        <p:nvSpPr>
          <p:cNvPr id="12" name="TextBox 12"/>
          <p:cNvSpPr txBox="1"/>
          <p:nvPr/>
        </p:nvSpPr>
        <p:spPr>
          <a:xfrm>
            <a:off x="4146737" y="3167072"/>
            <a:ext cx="2934519" cy="385867"/>
          </a:xfrm>
          <a:prstGeom prst="rect">
            <a:avLst/>
          </a:prstGeom>
        </p:spPr>
        <p:txBody>
          <a:bodyPr lIns="0" tIns="0" rIns="0" bIns="0" rtlCol="0" anchor="t">
            <a:spAutoFit/>
          </a:bodyPr>
          <a:lstStyle/>
          <a:p>
            <a:pPr algn="l">
              <a:lnSpc>
                <a:spcPts val="2875"/>
              </a:lnSpc>
            </a:pPr>
            <a:r>
              <a:rPr lang="en-US" sz="2249" b="1">
                <a:solidFill>
                  <a:srgbClr val="FFFFFF"/>
                </a:solidFill>
                <a:latin typeface="Inter Bold"/>
                <a:ea typeface="Inter Bold"/>
                <a:cs typeface="Inter Bold"/>
                <a:sym typeface="Inter Bold"/>
              </a:rPr>
              <a:t>MediaPipe</a:t>
            </a:r>
          </a:p>
        </p:txBody>
      </p:sp>
      <p:sp>
        <p:nvSpPr>
          <p:cNvPr id="13" name="TextBox 13"/>
          <p:cNvSpPr txBox="1"/>
          <p:nvPr/>
        </p:nvSpPr>
        <p:spPr>
          <a:xfrm>
            <a:off x="992238" y="6947002"/>
            <a:ext cx="226809" cy="331146"/>
          </a:xfrm>
          <a:prstGeom prst="rect">
            <a:avLst/>
          </a:prstGeom>
        </p:spPr>
        <p:txBody>
          <a:bodyPr lIns="0" tIns="0" rIns="0" bIns="0" rtlCol="0" anchor="t">
            <a:spAutoFit/>
          </a:bodyPr>
          <a:lstStyle/>
          <a:p>
            <a:pPr algn="l">
              <a:lnSpc>
                <a:spcPts val="2562"/>
              </a:lnSpc>
            </a:pPr>
            <a:r>
              <a:rPr lang="en-US" sz="1750">
                <a:solidFill>
                  <a:srgbClr val="272525"/>
                </a:solidFill>
                <a:latin typeface="Inter Light"/>
                <a:ea typeface="Inter Light"/>
                <a:cs typeface="Inter Light"/>
                <a:sym typeface="Inter Light"/>
              </a:rPr>
              <a:t>01</a:t>
            </a:r>
          </a:p>
        </p:txBody>
      </p:sp>
      <p:grpSp>
        <p:nvGrpSpPr>
          <p:cNvPr id="14" name="Group 14"/>
          <p:cNvGrpSpPr/>
          <p:nvPr/>
        </p:nvGrpSpPr>
        <p:grpSpPr>
          <a:xfrm>
            <a:off x="992238" y="7351509"/>
            <a:ext cx="5313464" cy="28575"/>
            <a:chOff x="0" y="0"/>
            <a:chExt cx="7084619" cy="38100"/>
          </a:xfrm>
        </p:grpSpPr>
        <p:sp>
          <p:nvSpPr>
            <p:cNvPr id="15" name="Freeform 15"/>
            <p:cNvSpPr/>
            <p:nvPr/>
          </p:nvSpPr>
          <p:spPr>
            <a:xfrm>
              <a:off x="0" y="0"/>
              <a:ext cx="7084568" cy="38100"/>
            </a:xfrm>
            <a:custGeom>
              <a:avLst/>
              <a:gdLst/>
              <a:ahLst/>
              <a:cxnLst/>
              <a:rect l="l" t="t" r="r" b="b"/>
              <a:pathLst>
                <a:path w="7084568" h="38100">
                  <a:moveTo>
                    <a:pt x="0" y="0"/>
                  </a:moveTo>
                  <a:lnTo>
                    <a:pt x="7084568" y="0"/>
                  </a:lnTo>
                  <a:lnTo>
                    <a:pt x="7084568" y="38100"/>
                  </a:lnTo>
                  <a:lnTo>
                    <a:pt x="0" y="38100"/>
                  </a:lnTo>
                  <a:close/>
                </a:path>
              </a:pathLst>
            </a:custGeom>
            <a:solidFill>
              <a:srgbClr val="4950BC"/>
            </a:solidFill>
          </p:spPr>
        </p:sp>
      </p:grpSp>
      <p:sp>
        <p:nvSpPr>
          <p:cNvPr id="16" name="TextBox 16"/>
          <p:cNvSpPr txBox="1"/>
          <p:nvPr/>
        </p:nvSpPr>
        <p:spPr>
          <a:xfrm>
            <a:off x="992238" y="7512548"/>
            <a:ext cx="2835326" cy="363884"/>
          </a:xfrm>
          <a:prstGeom prst="rect">
            <a:avLst/>
          </a:prstGeom>
        </p:spPr>
        <p:txBody>
          <a:bodyPr lIns="0" tIns="0" rIns="0" bIns="0" rtlCol="0" anchor="t">
            <a:spAutoFit/>
          </a:bodyPr>
          <a:lstStyle/>
          <a:p>
            <a:pPr algn="l">
              <a:lnSpc>
                <a:spcPts val="2750"/>
              </a:lnSpc>
            </a:pPr>
            <a:r>
              <a:rPr lang="en-US" sz="2187" b="1">
                <a:solidFill>
                  <a:srgbClr val="272525"/>
                </a:solidFill>
                <a:latin typeface="Inter Bold"/>
                <a:ea typeface="Inter Bold"/>
                <a:cs typeface="Inter Bold"/>
                <a:sym typeface="Inter Bold"/>
              </a:rPr>
              <a:t>MediaPipe Holistic</a:t>
            </a:r>
          </a:p>
        </p:txBody>
      </p:sp>
      <p:sp>
        <p:nvSpPr>
          <p:cNvPr id="17" name="TextBox 17"/>
          <p:cNvSpPr txBox="1"/>
          <p:nvPr/>
        </p:nvSpPr>
        <p:spPr>
          <a:xfrm>
            <a:off x="992238" y="7937602"/>
            <a:ext cx="5313464" cy="700678"/>
          </a:xfrm>
          <a:prstGeom prst="rect">
            <a:avLst/>
          </a:prstGeom>
        </p:spPr>
        <p:txBody>
          <a:bodyPr lIns="0" tIns="0" rIns="0" bIns="0" rtlCol="0" anchor="t">
            <a:spAutoFit/>
          </a:bodyPr>
          <a:lstStyle/>
          <a:p>
            <a:pPr algn="l">
              <a:lnSpc>
                <a:spcPts val="2562"/>
              </a:lnSpc>
            </a:pPr>
            <a:r>
              <a:rPr lang="en-US" sz="1750">
                <a:solidFill>
                  <a:srgbClr val="272525"/>
                </a:solidFill>
                <a:latin typeface="Inter"/>
                <a:ea typeface="Inter"/>
                <a:cs typeface="Inter"/>
                <a:sym typeface="Inter"/>
              </a:rPr>
              <a:t>for extracting 258-dimensional skeletal keypoint features from video frames</a:t>
            </a:r>
          </a:p>
        </p:txBody>
      </p:sp>
      <p:sp>
        <p:nvSpPr>
          <p:cNvPr id="18" name="TextBox 18"/>
          <p:cNvSpPr txBox="1"/>
          <p:nvPr/>
        </p:nvSpPr>
        <p:spPr>
          <a:xfrm>
            <a:off x="6487116" y="6947002"/>
            <a:ext cx="226809" cy="331146"/>
          </a:xfrm>
          <a:prstGeom prst="rect">
            <a:avLst/>
          </a:prstGeom>
        </p:spPr>
        <p:txBody>
          <a:bodyPr lIns="0" tIns="0" rIns="0" bIns="0" rtlCol="0" anchor="t">
            <a:spAutoFit/>
          </a:bodyPr>
          <a:lstStyle/>
          <a:p>
            <a:pPr algn="l">
              <a:lnSpc>
                <a:spcPts val="2562"/>
              </a:lnSpc>
            </a:pPr>
            <a:r>
              <a:rPr lang="en-US" sz="1750">
                <a:solidFill>
                  <a:srgbClr val="272525"/>
                </a:solidFill>
                <a:latin typeface="Inter Light"/>
                <a:ea typeface="Inter Light"/>
                <a:cs typeface="Inter Light"/>
                <a:sym typeface="Inter Light"/>
              </a:rPr>
              <a:t>02</a:t>
            </a:r>
          </a:p>
        </p:txBody>
      </p:sp>
      <p:grpSp>
        <p:nvGrpSpPr>
          <p:cNvPr id="19" name="Group 19"/>
          <p:cNvGrpSpPr/>
          <p:nvPr/>
        </p:nvGrpSpPr>
        <p:grpSpPr>
          <a:xfrm>
            <a:off x="6487116" y="7351509"/>
            <a:ext cx="5313607" cy="28575"/>
            <a:chOff x="0" y="0"/>
            <a:chExt cx="7084809" cy="38100"/>
          </a:xfrm>
        </p:grpSpPr>
        <p:sp>
          <p:nvSpPr>
            <p:cNvPr id="20" name="Freeform 20"/>
            <p:cNvSpPr/>
            <p:nvPr/>
          </p:nvSpPr>
          <p:spPr>
            <a:xfrm>
              <a:off x="0" y="0"/>
              <a:ext cx="7084822" cy="38100"/>
            </a:xfrm>
            <a:custGeom>
              <a:avLst/>
              <a:gdLst/>
              <a:ahLst/>
              <a:cxnLst/>
              <a:rect l="l" t="t" r="r" b="b"/>
              <a:pathLst>
                <a:path w="7084822" h="38100">
                  <a:moveTo>
                    <a:pt x="0" y="0"/>
                  </a:moveTo>
                  <a:lnTo>
                    <a:pt x="7084822" y="0"/>
                  </a:lnTo>
                  <a:lnTo>
                    <a:pt x="7084822" y="38100"/>
                  </a:lnTo>
                  <a:lnTo>
                    <a:pt x="0" y="38100"/>
                  </a:lnTo>
                  <a:close/>
                </a:path>
              </a:pathLst>
            </a:custGeom>
            <a:solidFill>
              <a:srgbClr val="4950BC"/>
            </a:solidFill>
          </p:spPr>
        </p:sp>
      </p:grpSp>
      <p:sp>
        <p:nvSpPr>
          <p:cNvPr id="21" name="TextBox 21"/>
          <p:cNvSpPr txBox="1"/>
          <p:nvPr/>
        </p:nvSpPr>
        <p:spPr>
          <a:xfrm>
            <a:off x="6487116" y="7512548"/>
            <a:ext cx="3193104" cy="363884"/>
          </a:xfrm>
          <a:prstGeom prst="rect">
            <a:avLst/>
          </a:prstGeom>
        </p:spPr>
        <p:txBody>
          <a:bodyPr lIns="0" tIns="0" rIns="0" bIns="0" rtlCol="0" anchor="t">
            <a:spAutoFit/>
          </a:bodyPr>
          <a:lstStyle/>
          <a:p>
            <a:pPr algn="l">
              <a:lnSpc>
                <a:spcPts val="2750"/>
              </a:lnSpc>
            </a:pPr>
            <a:r>
              <a:rPr lang="en-US" sz="2187" b="1">
                <a:solidFill>
                  <a:srgbClr val="272525"/>
                </a:solidFill>
                <a:latin typeface="Inter Bold"/>
                <a:ea typeface="Inter Bold"/>
                <a:cs typeface="Inter Bold"/>
                <a:sym typeface="Inter Bold"/>
              </a:rPr>
              <a:t>LSTM Neural Networks</a:t>
            </a:r>
          </a:p>
        </p:txBody>
      </p:sp>
      <p:sp>
        <p:nvSpPr>
          <p:cNvPr id="22" name="TextBox 22"/>
          <p:cNvSpPr txBox="1"/>
          <p:nvPr/>
        </p:nvSpPr>
        <p:spPr>
          <a:xfrm>
            <a:off x="6487116" y="7937602"/>
            <a:ext cx="5313607" cy="700678"/>
          </a:xfrm>
          <a:prstGeom prst="rect">
            <a:avLst/>
          </a:prstGeom>
        </p:spPr>
        <p:txBody>
          <a:bodyPr lIns="0" tIns="0" rIns="0" bIns="0" rtlCol="0" anchor="t">
            <a:spAutoFit/>
          </a:bodyPr>
          <a:lstStyle/>
          <a:p>
            <a:pPr algn="l">
              <a:lnSpc>
                <a:spcPts val="2562"/>
              </a:lnSpc>
            </a:pPr>
            <a:r>
              <a:rPr lang="en-US" sz="1750">
                <a:solidFill>
                  <a:srgbClr val="272525"/>
                </a:solidFill>
                <a:latin typeface="Inter"/>
                <a:ea typeface="Inter"/>
                <a:cs typeface="Inter"/>
                <a:sym typeface="Inter"/>
              </a:rPr>
              <a:t>for capturing temporal dependencies in gesture sequences</a:t>
            </a:r>
          </a:p>
        </p:txBody>
      </p:sp>
      <p:sp>
        <p:nvSpPr>
          <p:cNvPr id="23" name="TextBox 23"/>
          <p:cNvSpPr txBox="1"/>
          <p:nvPr/>
        </p:nvSpPr>
        <p:spPr>
          <a:xfrm>
            <a:off x="11982155" y="6947002"/>
            <a:ext cx="226809" cy="331146"/>
          </a:xfrm>
          <a:prstGeom prst="rect">
            <a:avLst/>
          </a:prstGeom>
        </p:spPr>
        <p:txBody>
          <a:bodyPr lIns="0" tIns="0" rIns="0" bIns="0" rtlCol="0" anchor="t">
            <a:spAutoFit/>
          </a:bodyPr>
          <a:lstStyle/>
          <a:p>
            <a:pPr algn="l">
              <a:lnSpc>
                <a:spcPts val="2562"/>
              </a:lnSpc>
            </a:pPr>
            <a:r>
              <a:rPr lang="en-US" sz="1750">
                <a:solidFill>
                  <a:srgbClr val="272525"/>
                </a:solidFill>
                <a:latin typeface="Inter Light"/>
                <a:ea typeface="Inter Light"/>
                <a:cs typeface="Inter Light"/>
                <a:sym typeface="Inter Light"/>
              </a:rPr>
              <a:t>03</a:t>
            </a:r>
          </a:p>
        </p:txBody>
      </p:sp>
      <p:grpSp>
        <p:nvGrpSpPr>
          <p:cNvPr id="24" name="Group 24"/>
          <p:cNvGrpSpPr/>
          <p:nvPr/>
        </p:nvGrpSpPr>
        <p:grpSpPr>
          <a:xfrm>
            <a:off x="11982155" y="7351509"/>
            <a:ext cx="5313607" cy="28575"/>
            <a:chOff x="0" y="0"/>
            <a:chExt cx="7084809" cy="38100"/>
          </a:xfrm>
        </p:grpSpPr>
        <p:sp>
          <p:nvSpPr>
            <p:cNvPr id="25" name="Freeform 25"/>
            <p:cNvSpPr/>
            <p:nvPr/>
          </p:nvSpPr>
          <p:spPr>
            <a:xfrm>
              <a:off x="0" y="0"/>
              <a:ext cx="7084822" cy="38100"/>
            </a:xfrm>
            <a:custGeom>
              <a:avLst/>
              <a:gdLst/>
              <a:ahLst/>
              <a:cxnLst/>
              <a:rect l="l" t="t" r="r" b="b"/>
              <a:pathLst>
                <a:path w="7084822" h="38100">
                  <a:moveTo>
                    <a:pt x="0" y="0"/>
                  </a:moveTo>
                  <a:lnTo>
                    <a:pt x="7084822" y="0"/>
                  </a:lnTo>
                  <a:lnTo>
                    <a:pt x="7084822" y="38100"/>
                  </a:lnTo>
                  <a:lnTo>
                    <a:pt x="0" y="38100"/>
                  </a:lnTo>
                  <a:close/>
                </a:path>
              </a:pathLst>
            </a:custGeom>
            <a:solidFill>
              <a:srgbClr val="4950BC"/>
            </a:solidFill>
          </p:spPr>
        </p:sp>
      </p:grpSp>
      <p:sp>
        <p:nvSpPr>
          <p:cNvPr id="26" name="TextBox 26"/>
          <p:cNvSpPr txBox="1"/>
          <p:nvPr/>
        </p:nvSpPr>
        <p:spPr>
          <a:xfrm>
            <a:off x="11982155" y="7512548"/>
            <a:ext cx="2835326" cy="363884"/>
          </a:xfrm>
          <a:prstGeom prst="rect">
            <a:avLst/>
          </a:prstGeom>
        </p:spPr>
        <p:txBody>
          <a:bodyPr lIns="0" tIns="0" rIns="0" bIns="0" rtlCol="0" anchor="t">
            <a:spAutoFit/>
          </a:bodyPr>
          <a:lstStyle/>
          <a:p>
            <a:pPr algn="l">
              <a:lnSpc>
                <a:spcPts val="2750"/>
              </a:lnSpc>
            </a:pPr>
            <a:r>
              <a:rPr lang="en-US" sz="2187" b="1">
                <a:solidFill>
                  <a:srgbClr val="272525"/>
                </a:solidFill>
                <a:latin typeface="Inter Bold"/>
                <a:ea typeface="Inter Bold"/>
                <a:cs typeface="Inter Bold"/>
                <a:sym typeface="Inter Bold"/>
              </a:rPr>
              <a:t>OpenCV</a:t>
            </a:r>
          </a:p>
        </p:txBody>
      </p:sp>
      <p:sp>
        <p:nvSpPr>
          <p:cNvPr id="27" name="TextBox 27"/>
          <p:cNvSpPr txBox="1"/>
          <p:nvPr/>
        </p:nvSpPr>
        <p:spPr>
          <a:xfrm>
            <a:off x="11982155" y="7937602"/>
            <a:ext cx="5313607" cy="374152"/>
          </a:xfrm>
          <a:prstGeom prst="rect">
            <a:avLst/>
          </a:prstGeom>
        </p:spPr>
        <p:txBody>
          <a:bodyPr lIns="0" tIns="0" rIns="0" bIns="0" rtlCol="0" anchor="t">
            <a:spAutoFit/>
          </a:bodyPr>
          <a:lstStyle/>
          <a:p>
            <a:pPr algn="l">
              <a:lnSpc>
                <a:spcPts val="2562"/>
              </a:lnSpc>
            </a:pPr>
            <a:r>
              <a:rPr lang="en-US" sz="1750">
                <a:solidFill>
                  <a:srgbClr val="272525"/>
                </a:solidFill>
                <a:latin typeface="Inter"/>
                <a:ea typeface="Inter"/>
                <a:cs typeface="Inter"/>
                <a:sym typeface="Inter"/>
              </a:rPr>
              <a:t>for real-time video processing and inference</a:t>
            </a:r>
          </a:p>
        </p:txBody>
      </p:sp>
      <p:sp>
        <p:nvSpPr>
          <p:cNvPr id="28" name="TextBox 28"/>
          <p:cNvSpPr txBox="1"/>
          <p:nvPr/>
        </p:nvSpPr>
        <p:spPr>
          <a:xfrm>
            <a:off x="992238" y="8964816"/>
            <a:ext cx="16303523" cy="374152"/>
          </a:xfrm>
          <a:prstGeom prst="rect">
            <a:avLst/>
          </a:prstGeom>
        </p:spPr>
        <p:txBody>
          <a:bodyPr lIns="0" tIns="0" rIns="0" bIns="0" rtlCol="0" anchor="t">
            <a:spAutoFit/>
          </a:bodyPr>
          <a:lstStyle/>
          <a:p>
            <a:pPr algn="l">
              <a:lnSpc>
                <a:spcPts val="2562"/>
              </a:lnSpc>
            </a:pPr>
            <a:r>
              <a:rPr lang="en-US" sz="1750">
                <a:solidFill>
                  <a:srgbClr val="272525"/>
                </a:solidFill>
                <a:latin typeface="Inter"/>
                <a:ea typeface="Inter"/>
                <a:cs typeface="Inter"/>
                <a:sym typeface="Inter"/>
              </a:rPr>
              <a:t>The system operates on standard CPU hardware without specialized peripherals, making it accessible for real-world deployment.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992238" y="2013052"/>
            <a:ext cx="8210845" cy="914552"/>
          </a:xfrm>
          <a:prstGeom prst="rect">
            <a:avLst/>
          </a:prstGeom>
        </p:spPr>
        <p:txBody>
          <a:bodyPr lIns="0" tIns="0" rIns="0" bIns="0" rtlCol="0" anchor="t">
            <a:spAutoFit/>
          </a:bodyPr>
          <a:lstStyle/>
          <a:p>
            <a:pPr algn="l">
              <a:lnSpc>
                <a:spcPts val="6937"/>
              </a:lnSpc>
            </a:pPr>
            <a:r>
              <a:rPr lang="en-US" sz="5562" b="1">
                <a:solidFill>
                  <a:srgbClr val="000000"/>
                </a:solidFill>
                <a:latin typeface="Inter Bold"/>
                <a:ea typeface="Inter Bold"/>
                <a:cs typeface="Inter Bold"/>
                <a:sym typeface="Inter Bold"/>
              </a:rPr>
              <a:t>Data Collection Pipeline</a:t>
            </a:r>
          </a:p>
        </p:txBody>
      </p:sp>
      <p:sp>
        <p:nvSpPr>
          <p:cNvPr id="7" name="TextBox 7"/>
          <p:cNvSpPr txBox="1"/>
          <p:nvPr/>
        </p:nvSpPr>
        <p:spPr>
          <a:xfrm>
            <a:off x="992238" y="3408912"/>
            <a:ext cx="16303523" cy="992981"/>
          </a:xfrm>
          <a:prstGeom prst="rect">
            <a:avLst/>
          </a:prstGeom>
        </p:spPr>
        <p:txBody>
          <a:bodyPr lIns="0" tIns="0" rIns="0" bIns="0" rtlCol="0" anchor="t">
            <a:spAutoFit/>
          </a:bodyPr>
          <a:lstStyle/>
          <a:p>
            <a:pPr algn="l">
              <a:lnSpc>
                <a:spcPts val="3562"/>
              </a:lnSpc>
            </a:pPr>
            <a:r>
              <a:rPr lang="en-US" sz="2187">
                <a:solidFill>
                  <a:srgbClr val="272525"/>
                </a:solidFill>
                <a:latin typeface="Inter"/>
                <a:ea typeface="Inter"/>
                <a:cs typeface="Inter"/>
                <a:sym typeface="Inter"/>
              </a:rPr>
              <a:t>The system uses MediaPipe Holistic to extract pose and hand landmarks from webcam video. Facial landmarks are intentionally excluded to reduce dimensionality and focus on hand/arm movements.</a:t>
            </a:r>
          </a:p>
        </p:txBody>
      </p:sp>
      <p:grpSp>
        <p:nvGrpSpPr>
          <p:cNvPr id="8" name="Group 8"/>
          <p:cNvGrpSpPr/>
          <p:nvPr/>
        </p:nvGrpSpPr>
        <p:grpSpPr>
          <a:xfrm>
            <a:off x="973188" y="4701778"/>
            <a:ext cx="5283546" cy="3562502"/>
            <a:chOff x="0" y="0"/>
            <a:chExt cx="7044728" cy="4750003"/>
          </a:xfrm>
        </p:grpSpPr>
        <p:sp>
          <p:nvSpPr>
            <p:cNvPr id="9" name="Freeform 9"/>
            <p:cNvSpPr/>
            <p:nvPr/>
          </p:nvSpPr>
          <p:spPr>
            <a:xfrm>
              <a:off x="25400" y="25400"/>
              <a:ext cx="6994017" cy="4699254"/>
            </a:xfrm>
            <a:custGeom>
              <a:avLst/>
              <a:gdLst/>
              <a:ahLst/>
              <a:cxnLst/>
              <a:rect l="l" t="t" r="r" b="b"/>
              <a:pathLst>
                <a:path w="6994017" h="4699254">
                  <a:moveTo>
                    <a:pt x="0" y="243840"/>
                  </a:moveTo>
                  <a:cubicBezTo>
                    <a:pt x="0" y="109220"/>
                    <a:pt x="109601" y="0"/>
                    <a:pt x="244729" y="0"/>
                  </a:cubicBezTo>
                  <a:lnTo>
                    <a:pt x="6749288" y="0"/>
                  </a:lnTo>
                  <a:cubicBezTo>
                    <a:pt x="6884416" y="0"/>
                    <a:pt x="6994017" y="109220"/>
                    <a:pt x="6994017" y="243840"/>
                  </a:cubicBezTo>
                  <a:lnTo>
                    <a:pt x="6994017" y="4455414"/>
                  </a:lnTo>
                  <a:cubicBezTo>
                    <a:pt x="6994017" y="4590034"/>
                    <a:pt x="6884416" y="4699254"/>
                    <a:pt x="6749288" y="4699254"/>
                  </a:cubicBezTo>
                  <a:lnTo>
                    <a:pt x="244729" y="4699254"/>
                  </a:lnTo>
                  <a:cubicBezTo>
                    <a:pt x="109601" y="4699254"/>
                    <a:pt x="0" y="4590034"/>
                    <a:pt x="0" y="4455414"/>
                  </a:cubicBezTo>
                  <a:close/>
                </a:path>
              </a:pathLst>
            </a:custGeom>
            <a:solidFill>
              <a:srgbClr val="FFFFFF"/>
            </a:solidFill>
          </p:spPr>
        </p:sp>
        <p:sp>
          <p:nvSpPr>
            <p:cNvPr id="10" name="Freeform 10"/>
            <p:cNvSpPr/>
            <p:nvPr/>
          </p:nvSpPr>
          <p:spPr>
            <a:xfrm>
              <a:off x="0" y="0"/>
              <a:ext cx="7044817" cy="4750054"/>
            </a:xfrm>
            <a:custGeom>
              <a:avLst/>
              <a:gdLst/>
              <a:ahLst/>
              <a:cxnLst/>
              <a:rect l="l" t="t" r="r" b="b"/>
              <a:pathLst>
                <a:path w="7044817" h="4750054">
                  <a:moveTo>
                    <a:pt x="0" y="269240"/>
                  </a:moveTo>
                  <a:cubicBezTo>
                    <a:pt x="0" y="120396"/>
                    <a:pt x="121031" y="0"/>
                    <a:pt x="270129" y="0"/>
                  </a:cubicBezTo>
                  <a:lnTo>
                    <a:pt x="6774688" y="0"/>
                  </a:lnTo>
                  <a:lnTo>
                    <a:pt x="6774688" y="25400"/>
                  </a:lnTo>
                  <a:lnTo>
                    <a:pt x="6774688" y="0"/>
                  </a:lnTo>
                  <a:cubicBezTo>
                    <a:pt x="6923786" y="0"/>
                    <a:pt x="7044817" y="120396"/>
                    <a:pt x="7044817" y="269240"/>
                  </a:cubicBezTo>
                  <a:lnTo>
                    <a:pt x="7044817" y="4480814"/>
                  </a:lnTo>
                  <a:lnTo>
                    <a:pt x="7019417" y="4480814"/>
                  </a:lnTo>
                  <a:lnTo>
                    <a:pt x="7044817" y="4480814"/>
                  </a:lnTo>
                  <a:cubicBezTo>
                    <a:pt x="7044817" y="4629658"/>
                    <a:pt x="6923786" y="4750054"/>
                    <a:pt x="6774688" y="4750054"/>
                  </a:cubicBezTo>
                  <a:lnTo>
                    <a:pt x="6774688" y="4724654"/>
                  </a:lnTo>
                  <a:lnTo>
                    <a:pt x="6774688" y="4750054"/>
                  </a:lnTo>
                  <a:lnTo>
                    <a:pt x="270129" y="4750054"/>
                  </a:lnTo>
                  <a:lnTo>
                    <a:pt x="270129" y="4724654"/>
                  </a:lnTo>
                  <a:lnTo>
                    <a:pt x="270129" y="4750054"/>
                  </a:lnTo>
                  <a:cubicBezTo>
                    <a:pt x="121031" y="4750054"/>
                    <a:pt x="0" y="4629531"/>
                    <a:pt x="0" y="4480814"/>
                  </a:cubicBezTo>
                  <a:lnTo>
                    <a:pt x="0" y="269240"/>
                  </a:lnTo>
                  <a:lnTo>
                    <a:pt x="25400" y="269240"/>
                  </a:lnTo>
                  <a:lnTo>
                    <a:pt x="0" y="269240"/>
                  </a:lnTo>
                  <a:moveTo>
                    <a:pt x="50800" y="269240"/>
                  </a:moveTo>
                  <a:lnTo>
                    <a:pt x="50800" y="4480814"/>
                  </a:lnTo>
                  <a:lnTo>
                    <a:pt x="25400" y="4480814"/>
                  </a:lnTo>
                  <a:lnTo>
                    <a:pt x="50800" y="4480814"/>
                  </a:lnTo>
                  <a:cubicBezTo>
                    <a:pt x="50800" y="4601337"/>
                    <a:pt x="148844" y="4699254"/>
                    <a:pt x="270129" y="4699254"/>
                  </a:cubicBezTo>
                  <a:lnTo>
                    <a:pt x="6774688" y="4699254"/>
                  </a:lnTo>
                  <a:cubicBezTo>
                    <a:pt x="6895846" y="4699254"/>
                    <a:pt x="6994017" y="4601337"/>
                    <a:pt x="6994017" y="4480814"/>
                  </a:cubicBezTo>
                  <a:lnTo>
                    <a:pt x="6994017" y="269240"/>
                  </a:lnTo>
                  <a:lnTo>
                    <a:pt x="7019417" y="269240"/>
                  </a:lnTo>
                  <a:lnTo>
                    <a:pt x="6994017" y="269240"/>
                  </a:lnTo>
                  <a:cubicBezTo>
                    <a:pt x="6994017" y="148717"/>
                    <a:pt x="6895973" y="50800"/>
                    <a:pt x="6774688" y="50800"/>
                  </a:cubicBezTo>
                  <a:lnTo>
                    <a:pt x="270129" y="50800"/>
                  </a:lnTo>
                  <a:lnTo>
                    <a:pt x="270129" y="25400"/>
                  </a:lnTo>
                  <a:lnTo>
                    <a:pt x="270129" y="50800"/>
                  </a:lnTo>
                  <a:cubicBezTo>
                    <a:pt x="148844" y="50800"/>
                    <a:pt x="50800" y="148717"/>
                    <a:pt x="50800" y="269240"/>
                  </a:cubicBezTo>
                  <a:close/>
                </a:path>
              </a:pathLst>
            </a:custGeom>
            <a:solidFill>
              <a:srgbClr val="C0C1D7"/>
            </a:solidFill>
          </p:spPr>
        </p:sp>
      </p:grpSp>
      <p:grpSp>
        <p:nvGrpSpPr>
          <p:cNvPr id="11" name="Group 11"/>
          <p:cNvGrpSpPr/>
          <p:nvPr/>
        </p:nvGrpSpPr>
        <p:grpSpPr>
          <a:xfrm>
            <a:off x="954138" y="4720828"/>
            <a:ext cx="152400" cy="3524402"/>
            <a:chOff x="0" y="0"/>
            <a:chExt cx="203200" cy="4699203"/>
          </a:xfrm>
        </p:grpSpPr>
        <p:sp>
          <p:nvSpPr>
            <p:cNvPr id="12" name="Freeform 12"/>
            <p:cNvSpPr/>
            <p:nvPr/>
          </p:nvSpPr>
          <p:spPr>
            <a:xfrm>
              <a:off x="0" y="0"/>
              <a:ext cx="203200" cy="4699254"/>
            </a:xfrm>
            <a:custGeom>
              <a:avLst/>
              <a:gdLst/>
              <a:ahLst/>
              <a:cxnLst/>
              <a:rect l="l" t="t" r="r" b="b"/>
              <a:pathLst>
                <a:path w="203200" h="4699254">
                  <a:moveTo>
                    <a:pt x="0" y="101600"/>
                  </a:moveTo>
                  <a:cubicBezTo>
                    <a:pt x="0" y="45466"/>
                    <a:pt x="45466" y="0"/>
                    <a:pt x="101600" y="0"/>
                  </a:cubicBezTo>
                  <a:cubicBezTo>
                    <a:pt x="157734" y="0"/>
                    <a:pt x="203200" y="45466"/>
                    <a:pt x="203200" y="101600"/>
                  </a:cubicBezTo>
                  <a:lnTo>
                    <a:pt x="203200" y="4597654"/>
                  </a:lnTo>
                  <a:cubicBezTo>
                    <a:pt x="203200" y="4653788"/>
                    <a:pt x="157734" y="4699254"/>
                    <a:pt x="101600" y="4699254"/>
                  </a:cubicBezTo>
                  <a:cubicBezTo>
                    <a:pt x="45466" y="4699254"/>
                    <a:pt x="0" y="4653788"/>
                    <a:pt x="0" y="4597654"/>
                  </a:cubicBezTo>
                  <a:close/>
                </a:path>
              </a:pathLst>
            </a:custGeom>
            <a:solidFill>
              <a:srgbClr val="4950BC"/>
            </a:solidFill>
          </p:spPr>
        </p:sp>
      </p:grpSp>
      <p:sp>
        <p:nvSpPr>
          <p:cNvPr id="13" name="TextBox 13"/>
          <p:cNvSpPr txBox="1"/>
          <p:nvPr/>
        </p:nvSpPr>
        <p:spPr>
          <a:xfrm>
            <a:off x="1428159" y="5023399"/>
            <a:ext cx="4487913" cy="904875"/>
          </a:xfrm>
          <a:prstGeom prst="rect">
            <a:avLst/>
          </a:prstGeom>
        </p:spPr>
        <p:txBody>
          <a:bodyPr lIns="0" tIns="0" rIns="0" bIns="0" rtlCol="0" anchor="t">
            <a:spAutoFit/>
          </a:bodyPr>
          <a:lstStyle/>
          <a:p>
            <a:pPr algn="l">
              <a:lnSpc>
                <a:spcPts val="3437"/>
              </a:lnSpc>
            </a:pPr>
            <a:r>
              <a:rPr lang="en-US" sz="2750" b="1">
                <a:solidFill>
                  <a:srgbClr val="272525"/>
                </a:solidFill>
                <a:latin typeface="Inter Bold"/>
                <a:ea typeface="Inter Bold"/>
                <a:cs typeface="Inter Bold"/>
                <a:sym typeface="Inter Bold"/>
              </a:rPr>
              <a:t>Feature Vector Generation</a:t>
            </a:r>
          </a:p>
        </p:txBody>
      </p:sp>
      <p:sp>
        <p:nvSpPr>
          <p:cNvPr id="14" name="TextBox 14"/>
          <p:cNvSpPr txBox="1"/>
          <p:nvPr/>
        </p:nvSpPr>
        <p:spPr>
          <a:xfrm>
            <a:off x="1428159" y="6012656"/>
            <a:ext cx="4487913" cy="1900237"/>
          </a:xfrm>
          <a:prstGeom prst="rect">
            <a:avLst/>
          </a:prstGeom>
        </p:spPr>
        <p:txBody>
          <a:bodyPr lIns="0" tIns="0" rIns="0" bIns="0" rtlCol="0" anchor="t">
            <a:spAutoFit/>
          </a:bodyPr>
          <a:lstStyle/>
          <a:p>
            <a:pPr algn="l">
              <a:lnSpc>
                <a:spcPts val="3562"/>
              </a:lnSpc>
            </a:pPr>
            <a:r>
              <a:rPr lang="en-US" sz="2187">
                <a:solidFill>
                  <a:srgbClr val="272525"/>
                </a:solidFill>
                <a:latin typeface="Inter"/>
                <a:ea typeface="Inter"/>
                <a:cs typeface="Inter"/>
                <a:sym typeface="Inter"/>
              </a:rPr>
              <a:t>Each frame generates a </a:t>
            </a:r>
            <a:r>
              <a:rPr lang="en-US" sz="2187" b="1">
                <a:solidFill>
                  <a:srgbClr val="272525"/>
                </a:solidFill>
                <a:latin typeface="Inter Bold"/>
                <a:ea typeface="Inter Bold"/>
                <a:cs typeface="Inter Bold"/>
                <a:sym typeface="Inter Bold"/>
              </a:rPr>
              <a:t>258-dimensional feature vector</a:t>
            </a:r>
            <a:r>
              <a:rPr lang="en-US" sz="2187">
                <a:solidFill>
                  <a:srgbClr val="272525"/>
                </a:solidFill>
                <a:latin typeface="Inter"/>
                <a:ea typeface="Inter"/>
                <a:cs typeface="Inter"/>
                <a:sym typeface="Inter"/>
              </a:rPr>
              <a:t> (132 pose values + 63 left hand + 63 right hand).</a:t>
            </a:r>
          </a:p>
        </p:txBody>
      </p:sp>
      <p:grpSp>
        <p:nvGrpSpPr>
          <p:cNvPr id="15" name="Group 15"/>
          <p:cNvGrpSpPr/>
          <p:nvPr/>
        </p:nvGrpSpPr>
        <p:grpSpPr>
          <a:xfrm>
            <a:off x="6502156" y="4701778"/>
            <a:ext cx="5283546" cy="3562502"/>
            <a:chOff x="0" y="0"/>
            <a:chExt cx="7044728" cy="4750003"/>
          </a:xfrm>
        </p:grpSpPr>
        <p:sp>
          <p:nvSpPr>
            <p:cNvPr id="16" name="Freeform 16"/>
            <p:cNvSpPr/>
            <p:nvPr/>
          </p:nvSpPr>
          <p:spPr>
            <a:xfrm>
              <a:off x="25400" y="25400"/>
              <a:ext cx="6994017" cy="4699254"/>
            </a:xfrm>
            <a:custGeom>
              <a:avLst/>
              <a:gdLst/>
              <a:ahLst/>
              <a:cxnLst/>
              <a:rect l="l" t="t" r="r" b="b"/>
              <a:pathLst>
                <a:path w="6994017" h="4699254">
                  <a:moveTo>
                    <a:pt x="0" y="243840"/>
                  </a:moveTo>
                  <a:cubicBezTo>
                    <a:pt x="0" y="109220"/>
                    <a:pt x="109601" y="0"/>
                    <a:pt x="244729" y="0"/>
                  </a:cubicBezTo>
                  <a:lnTo>
                    <a:pt x="6749288" y="0"/>
                  </a:lnTo>
                  <a:cubicBezTo>
                    <a:pt x="6884416" y="0"/>
                    <a:pt x="6994017" y="109220"/>
                    <a:pt x="6994017" y="243840"/>
                  </a:cubicBezTo>
                  <a:lnTo>
                    <a:pt x="6994017" y="4455414"/>
                  </a:lnTo>
                  <a:cubicBezTo>
                    <a:pt x="6994017" y="4590034"/>
                    <a:pt x="6884416" y="4699254"/>
                    <a:pt x="6749288" y="4699254"/>
                  </a:cubicBezTo>
                  <a:lnTo>
                    <a:pt x="244729" y="4699254"/>
                  </a:lnTo>
                  <a:cubicBezTo>
                    <a:pt x="109601" y="4699254"/>
                    <a:pt x="0" y="4590034"/>
                    <a:pt x="0" y="4455414"/>
                  </a:cubicBezTo>
                  <a:close/>
                </a:path>
              </a:pathLst>
            </a:custGeom>
            <a:solidFill>
              <a:srgbClr val="FFFFFF"/>
            </a:solidFill>
          </p:spPr>
        </p:sp>
        <p:sp>
          <p:nvSpPr>
            <p:cNvPr id="17" name="Freeform 17"/>
            <p:cNvSpPr/>
            <p:nvPr/>
          </p:nvSpPr>
          <p:spPr>
            <a:xfrm>
              <a:off x="0" y="0"/>
              <a:ext cx="7044817" cy="4750054"/>
            </a:xfrm>
            <a:custGeom>
              <a:avLst/>
              <a:gdLst/>
              <a:ahLst/>
              <a:cxnLst/>
              <a:rect l="l" t="t" r="r" b="b"/>
              <a:pathLst>
                <a:path w="7044817" h="4750054">
                  <a:moveTo>
                    <a:pt x="0" y="269240"/>
                  </a:moveTo>
                  <a:cubicBezTo>
                    <a:pt x="0" y="120396"/>
                    <a:pt x="121031" y="0"/>
                    <a:pt x="270129" y="0"/>
                  </a:cubicBezTo>
                  <a:lnTo>
                    <a:pt x="6774688" y="0"/>
                  </a:lnTo>
                  <a:lnTo>
                    <a:pt x="6774688" y="25400"/>
                  </a:lnTo>
                  <a:lnTo>
                    <a:pt x="6774688" y="0"/>
                  </a:lnTo>
                  <a:cubicBezTo>
                    <a:pt x="6923786" y="0"/>
                    <a:pt x="7044817" y="120396"/>
                    <a:pt x="7044817" y="269240"/>
                  </a:cubicBezTo>
                  <a:lnTo>
                    <a:pt x="7044817" y="4480814"/>
                  </a:lnTo>
                  <a:lnTo>
                    <a:pt x="7019417" y="4480814"/>
                  </a:lnTo>
                  <a:lnTo>
                    <a:pt x="7044817" y="4480814"/>
                  </a:lnTo>
                  <a:cubicBezTo>
                    <a:pt x="7044817" y="4629658"/>
                    <a:pt x="6923786" y="4750054"/>
                    <a:pt x="6774688" y="4750054"/>
                  </a:cubicBezTo>
                  <a:lnTo>
                    <a:pt x="6774688" y="4724654"/>
                  </a:lnTo>
                  <a:lnTo>
                    <a:pt x="6774688" y="4750054"/>
                  </a:lnTo>
                  <a:lnTo>
                    <a:pt x="270129" y="4750054"/>
                  </a:lnTo>
                  <a:lnTo>
                    <a:pt x="270129" y="4724654"/>
                  </a:lnTo>
                  <a:lnTo>
                    <a:pt x="270129" y="4750054"/>
                  </a:lnTo>
                  <a:cubicBezTo>
                    <a:pt x="121031" y="4750054"/>
                    <a:pt x="0" y="4629531"/>
                    <a:pt x="0" y="4480814"/>
                  </a:cubicBezTo>
                  <a:lnTo>
                    <a:pt x="0" y="269240"/>
                  </a:lnTo>
                  <a:lnTo>
                    <a:pt x="25400" y="269240"/>
                  </a:lnTo>
                  <a:lnTo>
                    <a:pt x="0" y="269240"/>
                  </a:lnTo>
                  <a:moveTo>
                    <a:pt x="50800" y="269240"/>
                  </a:moveTo>
                  <a:lnTo>
                    <a:pt x="50800" y="4480814"/>
                  </a:lnTo>
                  <a:lnTo>
                    <a:pt x="25400" y="4480814"/>
                  </a:lnTo>
                  <a:lnTo>
                    <a:pt x="50800" y="4480814"/>
                  </a:lnTo>
                  <a:cubicBezTo>
                    <a:pt x="50800" y="4601337"/>
                    <a:pt x="148844" y="4699254"/>
                    <a:pt x="270129" y="4699254"/>
                  </a:cubicBezTo>
                  <a:lnTo>
                    <a:pt x="6774688" y="4699254"/>
                  </a:lnTo>
                  <a:cubicBezTo>
                    <a:pt x="6895846" y="4699254"/>
                    <a:pt x="6994017" y="4601337"/>
                    <a:pt x="6994017" y="4480814"/>
                  </a:cubicBezTo>
                  <a:lnTo>
                    <a:pt x="6994017" y="269240"/>
                  </a:lnTo>
                  <a:lnTo>
                    <a:pt x="7019417" y="269240"/>
                  </a:lnTo>
                  <a:lnTo>
                    <a:pt x="6994017" y="269240"/>
                  </a:lnTo>
                  <a:cubicBezTo>
                    <a:pt x="6994017" y="148717"/>
                    <a:pt x="6895973" y="50800"/>
                    <a:pt x="6774688" y="50800"/>
                  </a:cubicBezTo>
                  <a:lnTo>
                    <a:pt x="270129" y="50800"/>
                  </a:lnTo>
                  <a:lnTo>
                    <a:pt x="270129" y="25400"/>
                  </a:lnTo>
                  <a:lnTo>
                    <a:pt x="270129" y="50800"/>
                  </a:lnTo>
                  <a:cubicBezTo>
                    <a:pt x="148844" y="50800"/>
                    <a:pt x="50800" y="148717"/>
                    <a:pt x="50800" y="269240"/>
                  </a:cubicBezTo>
                  <a:close/>
                </a:path>
              </a:pathLst>
            </a:custGeom>
            <a:solidFill>
              <a:srgbClr val="C0C1D7"/>
            </a:solidFill>
          </p:spPr>
        </p:sp>
      </p:grpSp>
      <p:grpSp>
        <p:nvGrpSpPr>
          <p:cNvPr id="18" name="Group 18"/>
          <p:cNvGrpSpPr/>
          <p:nvPr/>
        </p:nvGrpSpPr>
        <p:grpSpPr>
          <a:xfrm>
            <a:off x="6483106" y="4720828"/>
            <a:ext cx="152400" cy="3524402"/>
            <a:chOff x="0" y="0"/>
            <a:chExt cx="203200" cy="4699203"/>
          </a:xfrm>
        </p:grpSpPr>
        <p:sp>
          <p:nvSpPr>
            <p:cNvPr id="19" name="Freeform 19"/>
            <p:cNvSpPr/>
            <p:nvPr/>
          </p:nvSpPr>
          <p:spPr>
            <a:xfrm>
              <a:off x="0" y="0"/>
              <a:ext cx="203200" cy="4699254"/>
            </a:xfrm>
            <a:custGeom>
              <a:avLst/>
              <a:gdLst/>
              <a:ahLst/>
              <a:cxnLst/>
              <a:rect l="l" t="t" r="r" b="b"/>
              <a:pathLst>
                <a:path w="203200" h="4699254">
                  <a:moveTo>
                    <a:pt x="0" y="101600"/>
                  </a:moveTo>
                  <a:cubicBezTo>
                    <a:pt x="0" y="45466"/>
                    <a:pt x="45466" y="0"/>
                    <a:pt x="101600" y="0"/>
                  </a:cubicBezTo>
                  <a:cubicBezTo>
                    <a:pt x="157734" y="0"/>
                    <a:pt x="203200" y="45466"/>
                    <a:pt x="203200" y="101600"/>
                  </a:cubicBezTo>
                  <a:lnTo>
                    <a:pt x="203200" y="4597654"/>
                  </a:lnTo>
                  <a:cubicBezTo>
                    <a:pt x="203200" y="4653788"/>
                    <a:pt x="157734" y="4699254"/>
                    <a:pt x="101600" y="4699254"/>
                  </a:cubicBezTo>
                  <a:cubicBezTo>
                    <a:pt x="45466" y="4699254"/>
                    <a:pt x="0" y="4653788"/>
                    <a:pt x="0" y="4597654"/>
                  </a:cubicBezTo>
                  <a:close/>
                </a:path>
              </a:pathLst>
            </a:custGeom>
            <a:solidFill>
              <a:srgbClr val="4950BC"/>
            </a:solidFill>
          </p:spPr>
        </p:sp>
      </p:grpSp>
      <p:sp>
        <p:nvSpPr>
          <p:cNvPr id="20" name="TextBox 20"/>
          <p:cNvSpPr txBox="1"/>
          <p:nvPr/>
        </p:nvSpPr>
        <p:spPr>
          <a:xfrm>
            <a:off x="6957117" y="5023399"/>
            <a:ext cx="4216003" cy="461962"/>
          </a:xfrm>
          <a:prstGeom prst="rect">
            <a:avLst/>
          </a:prstGeom>
        </p:spPr>
        <p:txBody>
          <a:bodyPr lIns="0" tIns="0" rIns="0" bIns="0" rtlCol="0" anchor="t">
            <a:spAutoFit/>
          </a:bodyPr>
          <a:lstStyle/>
          <a:p>
            <a:pPr algn="l">
              <a:lnSpc>
                <a:spcPts val="3437"/>
              </a:lnSpc>
            </a:pPr>
            <a:r>
              <a:rPr lang="en-US" sz="2750" b="1">
                <a:solidFill>
                  <a:srgbClr val="272525"/>
                </a:solidFill>
                <a:latin typeface="Inter Bold"/>
                <a:ea typeface="Inter Bold"/>
                <a:cs typeface="Inter Bold"/>
                <a:sym typeface="Inter Bold"/>
              </a:rPr>
              <a:t>Dataset Collection Scale</a:t>
            </a:r>
          </a:p>
        </p:txBody>
      </p:sp>
      <p:sp>
        <p:nvSpPr>
          <p:cNvPr id="21" name="TextBox 21"/>
          <p:cNvSpPr txBox="1"/>
          <p:nvPr/>
        </p:nvSpPr>
        <p:spPr>
          <a:xfrm>
            <a:off x="6957117" y="5569744"/>
            <a:ext cx="4487913" cy="992981"/>
          </a:xfrm>
          <a:prstGeom prst="rect">
            <a:avLst/>
          </a:prstGeom>
        </p:spPr>
        <p:txBody>
          <a:bodyPr lIns="0" tIns="0" rIns="0" bIns="0" rtlCol="0" anchor="t">
            <a:spAutoFit/>
          </a:bodyPr>
          <a:lstStyle/>
          <a:p>
            <a:pPr algn="l">
              <a:lnSpc>
                <a:spcPts val="3562"/>
              </a:lnSpc>
            </a:pPr>
            <a:r>
              <a:rPr lang="en-US" sz="2187" b="1">
                <a:solidFill>
                  <a:srgbClr val="272525"/>
                </a:solidFill>
                <a:latin typeface="Inter Bold"/>
                <a:ea typeface="Inter Bold"/>
                <a:cs typeface="Inter Bold"/>
                <a:sym typeface="Inter Bold"/>
              </a:rPr>
              <a:t>60 sequences of 40 frames</a:t>
            </a:r>
            <a:r>
              <a:rPr lang="en-US" sz="2187">
                <a:solidFill>
                  <a:srgbClr val="272525"/>
                </a:solidFill>
                <a:latin typeface="Inter"/>
                <a:ea typeface="Inter"/>
                <a:cs typeface="Inter"/>
                <a:sym typeface="Inter"/>
              </a:rPr>
              <a:t> per gesture class.</a:t>
            </a:r>
          </a:p>
        </p:txBody>
      </p:sp>
      <p:grpSp>
        <p:nvGrpSpPr>
          <p:cNvPr id="22" name="Group 22"/>
          <p:cNvGrpSpPr/>
          <p:nvPr/>
        </p:nvGrpSpPr>
        <p:grpSpPr>
          <a:xfrm>
            <a:off x="12031113" y="4701778"/>
            <a:ext cx="5283546" cy="3562502"/>
            <a:chOff x="0" y="0"/>
            <a:chExt cx="7044728" cy="4750003"/>
          </a:xfrm>
        </p:grpSpPr>
        <p:sp>
          <p:nvSpPr>
            <p:cNvPr id="23" name="Freeform 23"/>
            <p:cNvSpPr/>
            <p:nvPr/>
          </p:nvSpPr>
          <p:spPr>
            <a:xfrm>
              <a:off x="25400" y="25400"/>
              <a:ext cx="6994017" cy="4699254"/>
            </a:xfrm>
            <a:custGeom>
              <a:avLst/>
              <a:gdLst/>
              <a:ahLst/>
              <a:cxnLst/>
              <a:rect l="l" t="t" r="r" b="b"/>
              <a:pathLst>
                <a:path w="6994017" h="4699254">
                  <a:moveTo>
                    <a:pt x="0" y="243840"/>
                  </a:moveTo>
                  <a:cubicBezTo>
                    <a:pt x="0" y="109220"/>
                    <a:pt x="109601" y="0"/>
                    <a:pt x="244729" y="0"/>
                  </a:cubicBezTo>
                  <a:lnTo>
                    <a:pt x="6749288" y="0"/>
                  </a:lnTo>
                  <a:cubicBezTo>
                    <a:pt x="6884416" y="0"/>
                    <a:pt x="6994017" y="109220"/>
                    <a:pt x="6994017" y="243840"/>
                  </a:cubicBezTo>
                  <a:lnTo>
                    <a:pt x="6994017" y="4455414"/>
                  </a:lnTo>
                  <a:cubicBezTo>
                    <a:pt x="6994017" y="4590034"/>
                    <a:pt x="6884416" y="4699254"/>
                    <a:pt x="6749288" y="4699254"/>
                  </a:cubicBezTo>
                  <a:lnTo>
                    <a:pt x="244729" y="4699254"/>
                  </a:lnTo>
                  <a:cubicBezTo>
                    <a:pt x="109601" y="4699254"/>
                    <a:pt x="0" y="4590034"/>
                    <a:pt x="0" y="4455414"/>
                  </a:cubicBezTo>
                  <a:close/>
                </a:path>
              </a:pathLst>
            </a:custGeom>
            <a:solidFill>
              <a:srgbClr val="FFFFFF"/>
            </a:solidFill>
          </p:spPr>
        </p:sp>
        <p:sp>
          <p:nvSpPr>
            <p:cNvPr id="24" name="Freeform 24"/>
            <p:cNvSpPr/>
            <p:nvPr/>
          </p:nvSpPr>
          <p:spPr>
            <a:xfrm>
              <a:off x="0" y="0"/>
              <a:ext cx="7044817" cy="4750054"/>
            </a:xfrm>
            <a:custGeom>
              <a:avLst/>
              <a:gdLst/>
              <a:ahLst/>
              <a:cxnLst/>
              <a:rect l="l" t="t" r="r" b="b"/>
              <a:pathLst>
                <a:path w="7044817" h="4750054">
                  <a:moveTo>
                    <a:pt x="0" y="269240"/>
                  </a:moveTo>
                  <a:cubicBezTo>
                    <a:pt x="0" y="120396"/>
                    <a:pt x="121031" y="0"/>
                    <a:pt x="270129" y="0"/>
                  </a:cubicBezTo>
                  <a:lnTo>
                    <a:pt x="6774688" y="0"/>
                  </a:lnTo>
                  <a:lnTo>
                    <a:pt x="6774688" y="25400"/>
                  </a:lnTo>
                  <a:lnTo>
                    <a:pt x="6774688" y="0"/>
                  </a:lnTo>
                  <a:cubicBezTo>
                    <a:pt x="6923786" y="0"/>
                    <a:pt x="7044817" y="120396"/>
                    <a:pt x="7044817" y="269240"/>
                  </a:cubicBezTo>
                  <a:lnTo>
                    <a:pt x="7044817" y="4480814"/>
                  </a:lnTo>
                  <a:lnTo>
                    <a:pt x="7019417" y="4480814"/>
                  </a:lnTo>
                  <a:lnTo>
                    <a:pt x="7044817" y="4480814"/>
                  </a:lnTo>
                  <a:cubicBezTo>
                    <a:pt x="7044817" y="4629658"/>
                    <a:pt x="6923786" y="4750054"/>
                    <a:pt x="6774688" y="4750054"/>
                  </a:cubicBezTo>
                  <a:lnTo>
                    <a:pt x="6774688" y="4724654"/>
                  </a:lnTo>
                  <a:lnTo>
                    <a:pt x="6774688" y="4750054"/>
                  </a:lnTo>
                  <a:lnTo>
                    <a:pt x="270129" y="4750054"/>
                  </a:lnTo>
                  <a:lnTo>
                    <a:pt x="270129" y="4724654"/>
                  </a:lnTo>
                  <a:lnTo>
                    <a:pt x="270129" y="4750054"/>
                  </a:lnTo>
                  <a:cubicBezTo>
                    <a:pt x="121031" y="4750054"/>
                    <a:pt x="0" y="4629531"/>
                    <a:pt x="0" y="4480814"/>
                  </a:cubicBezTo>
                  <a:lnTo>
                    <a:pt x="0" y="269240"/>
                  </a:lnTo>
                  <a:lnTo>
                    <a:pt x="25400" y="269240"/>
                  </a:lnTo>
                  <a:lnTo>
                    <a:pt x="0" y="269240"/>
                  </a:lnTo>
                  <a:moveTo>
                    <a:pt x="50800" y="269240"/>
                  </a:moveTo>
                  <a:lnTo>
                    <a:pt x="50800" y="4480814"/>
                  </a:lnTo>
                  <a:lnTo>
                    <a:pt x="25400" y="4480814"/>
                  </a:lnTo>
                  <a:lnTo>
                    <a:pt x="50800" y="4480814"/>
                  </a:lnTo>
                  <a:cubicBezTo>
                    <a:pt x="50800" y="4601337"/>
                    <a:pt x="148844" y="4699254"/>
                    <a:pt x="270129" y="4699254"/>
                  </a:cubicBezTo>
                  <a:lnTo>
                    <a:pt x="6774688" y="4699254"/>
                  </a:lnTo>
                  <a:cubicBezTo>
                    <a:pt x="6895846" y="4699254"/>
                    <a:pt x="6994017" y="4601337"/>
                    <a:pt x="6994017" y="4480814"/>
                  </a:cubicBezTo>
                  <a:lnTo>
                    <a:pt x="6994017" y="269240"/>
                  </a:lnTo>
                  <a:lnTo>
                    <a:pt x="7019417" y="269240"/>
                  </a:lnTo>
                  <a:lnTo>
                    <a:pt x="6994017" y="269240"/>
                  </a:lnTo>
                  <a:cubicBezTo>
                    <a:pt x="6994017" y="148717"/>
                    <a:pt x="6895973" y="50800"/>
                    <a:pt x="6774688" y="50800"/>
                  </a:cubicBezTo>
                  <a:lnTo>
                    <a:pt x="270129" y="50800"/>
                  </a:lnTo>
                  <a:lnTo>
                    <a:pt x="270129" y="25400"/>
                  </a:lnTo>
                  <a:lnTo>
                    <a:pt x="270129" y="50800"/>
                  </a:lnTo>
                  <a:cubicBezTo>
                    <a:pt x="148844" y="50800"/>
                    <a:pt x="50800" y="148717"/>
                    <a:pt x="50800" y="269240"/>
                  </a:cubicBezTo>
                  <a:close/>
                </a:path>
              </a:pathLst>
            </a:custGeom>
            <a:solidFill>
              <a:srgbClr val="C0C1D7"/>
            </a:solidFill>
          </p:spPr>
        </p:sp>
      </p:grpSp>
      <p:grpSp>
        <p:nvGrpSpPr>
          <p:cNvPr id="25" name="Group 25"/>
          <p:cNvGrpSpPr/>
          <p:nvPr/>
        </p:nvGrpSpPr>
        <p:grpSpPr>
          <a:xfrm>
            <a:off x="12012063" y="4720828"/>
            <a:ext cx="152400" cy="3524402"/>
            <a:chOff x="0" y="0"/>
            <a:chExt cx="203200" cy="4699203"/>
          </a:xfrm>
        </p:grpSpPr>
        <p:sp>
          <p:nvSpPr>
            <p:cNvPr id="26" name="Freeform 26"/>
            <p:cNvSpPr/>
            <p:nvPr/>
          </p:nvSpPr>
          <p:spPr>
            <a:xfrm>
              <a:off x="0" y="0"/>
              <a:ext cx="203200" cy="4699254"/>
            </a:xfrm>
            <a:custGeom>
              <a:avLst/>
              <a:gdLst/>
              <a:ahLst/>
              <a:cxnLst/>
              <a:rect l="l" t="t" r="r" b="b"/>
              <a:pathLst>
                <a:path w="203200" h="4699254">
                  <a:moveTo>
                    <a:pt x="0" y="101600"/>
                  </a:moveTo>
                  <a:cubicBezTo>
                    <a:pt x="0" y="45466"/>
                    <a:pt x="45466" y="0"/>
                    <a:pt x="101600" y="0"/>
                  </a:cubicBezTo>
                  <a:cubicBezTo>
                    <a:pt x="157734" y="0"/>
                    <a:pt x="203200" y="45466"/>
                    <a:pt x="203200" y="101600"/>
                  </a:cubicBezTo>
                  <a:lnTo>
                    <a:pt x="203200" y="4597654"/>
                  </a:lnTo>
                  <a:cubicBezTo>
                    <a:pt x="203200" y="4653788"/>
                    <a:pt x="157734" y="4699254"/>
                    <a:pt x="101600" y="4699254"/>
                  </a:cubicBezTo>
                  <a:cubicBezTo>
                    <a:pt x="45466" y="4699254"/>
                    <a:pt x="0" y="4653788"/>
                    <a:pt x="0" y="4597654"/>
                  </a:cubicBezTo>
                  <a:close/>
                </a:path>
              </a:pathLst>
            </a:custGeom>
            <a:solidFill>
              <a:srgbClr val="4950BC"/>
            </a:solidFill>
          </p:spPr>
        </p:sp>
      </p:grpSp>
      <p:sp>
        <p:nvSpPr>
          <p:cNvPr id="27" name="TextBox 27"/>
          <p:cNvSpPr txBox="1"/>
          <p:nvPr/>
        </p:nvSpPr>
        <p:spPr>
          <a:xfrm>
            <a:off x="12486084" y="5023399"/>
            <a:ext cx="3952427" cy="461962"/>
          </a:xfrm>
          <a:prstGeom prst="rect">
            <a:avLst/>
          </a:prstGeom>
        </p:spPr>
        <p:txBody>
          <a:bodyPr lIns="0" tIns="0" rIns="0" bIns="0" rtlCol="0" anchor="t">
            <a:spAutoFit/>
          </a:bodyPr>
          <a:lstStyle/>
          <a:p>
            <a:pPr algn="l">
              <a:lnSpc>
                <a:spcPts val="3437"/>
              </a:lnSpc>
            </a:pPr>
            <a:r>
              <a:rPr lang="en-US" sz="2750" b="1">
                <a:solidFill>
                  <a:srgbClr val="272525"/>
                </a:solidFill>
                <a:latin typeface="Inter Bold"/>
                <a:ea typeface="Inter Bold"/>
                <a:cs typeface="Inter Bold"/>
                <a:sym typeface="Inter Bold"/>
              </a:rPr>
              <a:t>Incremental Expansion</a:t>
            </a:r>
          </a:p>
        </p:txBody>
      </p:sp>
      <p:sp>
        <p:nvSpPr>
          <p:cNvPr id="28" name="TextBox 28"/>
          <p:cNvSpPr txBox="1"/>
          <p:nvPr/>
        </p:nvSpPr>
        <p:spPr>
          <a:xfrm>
            <a:off x="12486084" y="5569744"/>
            <a:ext cx="4487913" cy="2353866"/>
          </a:xfrm>
          <a:prstGeom prst="rect">
            <a:avLst/>
          </a:prstGeom>
        </p:spPr>
        <p:txBody>
          <a:bodyPr lIns="0" tIns="0" rIns="0" bIns="0" rtlCol="0" anchor="t">
            <a:spAutoFit/>
          </a:bodyPr>
          <a:lstStyle/>
          <a:p>
            <a:pPr algn="l">
              <a:lnSpc>
                <a:spcPts val="3562"/>
              </a:lnSpc>
            </a:pPr>
            <a:r>
              <a:rPr lang="en-US" sz="2187">
                <a:solidFill>
                  <a:srgbClr val="272525"/>
                </a:solidFill>
                <a:latin typeface="Inter"/>
                <a:ea typeface="Inter"/>
                <a:cs typeface="Inter"/>
                <a:sym typeface="Inter"/>
              </a:rPr>
              <a:t>Hierarchical directory structure supports </a:t>
            </a:r>
            <a:r>
              <a:rPr lang="en-US" sz="2187" b="1">
                <a:solidFill>
                  <a:srgbClr val="272525"/>
                </a:solidFill>
                <a:latin typeface="Inter Bold"/>
                <a:ea typeface="Inter Bold"/>
                <a:cs typeface="Inter Bold"/>
                <a:sym typeface="Inter Bold"/>
              </a:rPr>
              <a:t>incremental expansion</a:t>
            </a:r>
            <a:r>
              <a:rPr lang="en-US" sz="2187">
                <a:solidFill>
                  <a:srgbClr val="272525"/>
                </a:solidFill>
                <a:latin typeface="Inter"/>
                <a:ea typeface="Inter"/>
                <a:cs typeface="Inter"/>
                <a:sym typeface="Inter"/>
              </a:rPr>
              <a:t> - new gestures can be added without reprocessing existing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grpSp>
        <p:nvGrpSpPr>
          <p:cNvPr id="6" name="Group 6"/>
          <p:cNvGrpSpPr/>
          <p:nvPr/>
        </p:nvGrpSpPr>
        <p:grpSpPr>
          <a:xfrm>
            <a:off x="1143000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3"/>
              <a:stretch>
                <a:fillRect/>
              </a:stretch>
            </a:blipFill>
          </p:spPr>
        </p:sp>
      </p:grpSp>
      <p:sp>
        <p:nvSpPr>
          <p:cNvPr id="8" name="TextBox 8"/>
          <p:cNvSpPr txBox="1"/>
          <p:nvPr/>
        </p:nvSpPr>
        <p:spPr>
          <a:xfrm>
            <a:off x="992238" y="1036139"/>
            <a:ext cx="6005217" cy="693096"/>
          </a:xfrm>
          <a:prstGeom prst="rect">
            <a:avLst/>
          </a:prstGeom>
        </p:spPr>
        <p:txBody>
          <a:bodyPr lIns="0" tIns="0" rIns="0" bIns="0" rtlCol="0" anchor="t">
            <a:spAutoFit/>
          </a:bodyPr>
          <a:lstStyle/>
          <a:p>
            <a:pPr algn="l">
              <a:lnSpc>
                <a:spcPts val="5187"/>
              </a:lnSpc>
            </a:pPr>
            <a:r>
              <a:rPr lang="en-US" sz="4124" b="1">
                <a:solidFill>
                  <a:srgbClr val="000000"/>
                </a:solidFill>
                <a:latin typeface="Inter Bold"/>
                <a:ea typeface="Inter Bold"/>
                <a:cs typeface="Inter Bold"/>
                <a:sym typeface="Inter Bold"/>
              </a:rPr>
              <a:t>Neural Network Design</a:t>
            </a:r>
          </a:p>
        </p:txBody>
      </p:sp>
      <p:sp>
        <p:nvSpPr>
          <p:cNvPr id="9" name="TextBox 9"/>
          <p:cNvSpPr txBox="1"/>
          <p:nvPr/>
        </p:nvSpPr>
        <p:spPr>
          <a:xfrm>
            <a:off x="992238" y="1920773"/>
            <a:ext cx="9445523" cy="589905"/>
          </a:xfrm>
          <a:prstGeom prst="rect">
            <a:avLst/>
          </a:prstGeom>
        </p:spPr>
        <p:txBody>
          <a:bodyPr lIns="0" tIns="0" rIns="0" bIns="0" rtlCol="0" anchor="t">
            <a:spAutoFit/>
          </a:bodyPr>
          <a:lstStyle/>
          <a:p>
            <a:pPr algn="l">
              <a:lnSpc>
                <a:spcPts val="2312"/>
              </a:lnSpc>
            </a:pPr>
            <a:r>
              <a:rPr lang="en-US" sz="2000" dirty="0">
                <a:solidFill>
                  <a:srgbClr val="272525"/>
                </a:solidFill>
                <a:latin typeface="Inter"/>
                <a:ea typeface="Inter"/>
                <a:cs typeface="Inter"/>
                <a:sym typeface="Inter"/>
              </a:rPr>
              <a:t>The gesture classification model uses a stacked LSTM architecture designed to capture temporal dependencies across gesture sequences.</a:t>
            </a:r>
          </a:p>
        </p:txBody>
      </p:sp>
      <p:sp>
        <p:nvSpPr>
          <p:cNvPr id="10" name="TextBox 10"/>
          <p:cNvSpPr txBox="1"/>
          <p:nvPr/>
        </p:nvSpPr>
        <p:spPr>
          <a:xfrm>
            <a:off x="992238" y="2695423"/>
            <a:ext cx="212522" cy="313430"/>
          </a:xfrm>
          <a:prstGeom prst="rect">
            <a:avLst/>
          </a:prstGeom>
        </p:spPr>
        <p:txBody>
          <a:bodyPr lIns="0" tIns="0" rIns="0" bIns="0" rtlCol="0" anchor="t">
            <a:spAutoFit/>
          </a:bodyPr>
          <a:lstStyle/>
          <a:p>
            <a:pPr algn="l">
              <a:lnSpc>
                <a:spcPts val="2312"/>
              </a:lnSpc>
            </a:pPr>
            <a:r>
              <a:rPr lang="en-US" sz="1625" dirty="0">
                <a:solidFill>
                  <a:srgbClr val="272525"/>
                </a:solidFill>
                <a:latin typeface="Inter Light"/>
                <a:ea typeface="Inter Light"/>
                <a:cs typeface="Inter Light"/>
                <a:sym typeface="Inter Light"/>
              </a:rPr>
              <a:t>01</a:t>
            </a:r>
          </a:p>
        </p:txBody>
      </p:sp>
      <p:grpSp>
        <p:nvGrpSpPr>
          <p:cNvPr id="11" name="Group 11"/>
          <p:cNvGrpSpPr/>
          <p:nvPr/>
        </p:nvGrpSpPr>
        <p:grpSpPr>
          <a:xfrm>
            <a:off x="992238" y="3075832"/>
            <a:ext cx="4642990" cy="28575"/>
            <a:chOff x="0" y="0"/>
            <a:chExt cx="6190653" cy="38100"/>
          </a:xfrm>
        </p:grpSpPr>
        <p:sp>
          <p:nvSpPr>
            <p:cNvPr id="12" name="Freeform 12"/>
            <p:cNvSpPr/>
            <p:nvPr/>
          </p:nvSpPr>
          <p:spPr>
            <a:xfrm>
              <a:off x="0" y="0"/>
              <a:ext cx="6190615" cy="38100"/>
            </a:xfrm>
            <a:custGeom>
              <a:avLst/>
              <a:gdLst/>
              <a:ahLst/>
              <a:cxnLst/>
              <a:rect l="l" t="t" r="r" b="b"/>
              <a:pathLst>
                <a:path w="6190615" h="38100">
                  <a:moveTo>
                    <a:pt x="0" y="0"/>
                  </a:moveTo>
                  <a:lnTo>
                    <a:pt x="6190615" y="0"/>
                  </a:lnTo>
                  <a:lnTo>
                    <a:pt x="6190615" y="38100"/>
                  </a:lnTo>
                  <a:lnTo>
                    <a:pt x="0" y="38100"/>
                  </a:lnTo>
                  <a:close/>
                </a:path>
              </a:pathLst>
            </a:custGeom>
            <a:solidFill>
              <a:srgbClr val="4950BC"/>
            </a:solidFill>
          </p:spPr>
        </p:sp>
      </p:grpSp>
      <p:sp>
        <p:nvSpPr>
          <p:cNvPr id="13" name="TextBox 13"/>
          <p:cNvSpPr txBox="1"/>
          <p:nvPr/>
        </p:nvSpPr>
        <p:spPr>
          <a:xfrm>
            <a:off x="992238" y="3220193"/>
            <a:ext cx="2658066" cy="351234"/>
          </a:xfrm>
          <a:prstGeom prst="rect">
            <a:avLst/>
          </a:prstGeom>
        </p:spPr>
        <p:txBody>
          <a:bodyPr lIns="0" tIns="0" rIns="0" bIns="0" rtlCol="0" anchor="t">
            <a:spAutoFit/>
          </a:bodyPr>
          <a:lstStyle/>
          <a:p>
            <a:pPr algn="l">
              <a:lnSpc>
                <a:spcPts val="2562"/>
              </a:lnSpc>
            </a:pPr>
            <a:r>
              <a:rPr lang="en-US" sz="2062" b="1">
                <a:solidFill>
                  <a:srgbClr val="272525"/>
                </a:solidFill>
                <a:latin typeface="Inter Bold"/>
                <a:ea typeface="Inter Bold"/>
                <a:cs typeface="Inter Bold"/>
                <a:sym typeface="Inter Bold"/>
              </a:rPr>
              <a:t>Input layer</a:t>
            </a:r>
          </a:p>
        </p:txBody>
      </p:sp>
      <p:sp>
        <p:nvSpPr>
          <p:cNvPr id="14" name="TextBox 14"/>
          <p:cNvSpPr txBox="1"/>
          <p:nvPr/>
        </p:nvSpPr>
        <p:spPr>
          <a:xfrm>
            <a:off x="992238" y="3619348"/>
            <a:ext cx="4642990" cy="294953"/>
          </a:xfrm>
          <a:prstGeom prst="rect">
            <a:avLst/>
          </a:prstGeom>
        </p:spPr>
        <p:txBody>
          <a:bodyPr lIns="0" tIns="0" rIns="0" bIns="0" rtlCol="0" anchor="t">
            <a:spAutoFit/>
          </a:bodyPr>
          <a:lstStyle/>
          <a:p>
            <a:pPr algn="l">
              <a:lnSpc>
                <a:spcPts val="2312"/>
              </a:lnSpc>
            </a:pPr>
            <a:r>
              <a:rPr lang="en-US" sz="2000" dirty="0">
                <a:solidFill>
                  <a:srgbClr val="272525"/>
                </a:solidFill>
                <a:latin typeface="Inter"/>
                <a:ea typeface="Inter"/>
                <a:cs typeface="Inter"/>
                <a:sym typeface="Inter"/>
              </a:rPr>
              <a:t>(40 frames × 258 features)</a:t>
            </a:r>
          </a:p>
        </p:txBody>
      </p:sp>
      <p:sp>
        <p:nvSpPr>
          <p:cNvPr id="15" name="TextBox 15"/>
          <p:cNvSpPr txBox="1"/>
          <p:nvPr/>
        </p:nvSpPr>
        <p:spPr>
          <a:xfrm>
            <a:off x="5794618" y="2695423"/>
            <a:ext cx="301381" cy="271100"/>
          </a:xfrm>
          <a:prstGeom prst="rect">
            <a:avLst/>
          </a:prstGeom>
        </p:spPr>
        <p:txBody>
          <a:bodyPr wrap="square" lIns="0" tIns="0" rIns="0" bIns="0" rtlCol="0" anchor="t">
            <a:spAutoFit/>
          </a:bodyPr>
          <a:lstStyle/>
          <a:p>
            <a:pPr algn="l">
              <a:lnSpc>
                <a:spcPts val="2312"/>
              </a:lnSpc>
            </a:pPr>
            <a:r>
              <a:rPr lang="en-US" sz="1625" dirty="0">
                <a:solidFill>
                  <a:srgbClr val="272525"/>
                </a:solidFill>
                <a:latin typeface="Inter Light"/>
                <a:ea typeface="Inter Light"/>
                <a:cs typeface="Inter Light"/>
                <a:sym typeface="Inter Light"/>
              </a:rPr>
              <a:t>02</a:t>
            </a:r>
          </a:p>
        </p:txBody>
      </p:sp>
      <p:grpSp>
        <p:nvGrpSpPr>
          <p:cNvPr id="16" name="Group 16"/>
          <p:cNvGrpSpPr/>
          <p:nvPr/>
        </p:nvGrpSpPr>
        <p:grpSpPr>
          <a:xfrm>
            <a:off x="5794619" y="3075832"/>
            <a:ext cx="4643142" cy="28575"/>
            <a:chOff x="0" y="0"/>
            <a:chExt cx="6190856" cy="38100"/>
          </a:xfrm>
        </p:grpSpPr>
        <p:sp>
          <p:nvSpPr>
            <p:cNvPr id="17" name="Freeform 17"/>
            <p:cNvSpPr/>
            <p:nvPr/>
          </p:nvSpPr>
          <p:spPr>
            <a:xfrm>
              <a:off x="0" y="0"/>
              <a:ext cx="6190869" cy="38100"/>
            </a:xfrm>
            <a:custGeom>
              <a:avLst/>
              <a:gdLst/>
              <a:ahLst/>
              <a:cxnLst/>
              <a:rect l="l" t="t" r="r" b="b"/>
              <a:pathLst>
                <a:path w="6190869" h="38100">
                  <a:moveTo>
                    <a:pt x="0" y="0"/>
                  </a:moveTo>
                  <a:lnTo>
                    <a:pt x="6190869" y="0"/>
                  </a:lnTo>
                  <a:lnTo>
                    <a:pt x="6190869" y="38100"/>
                  </a:lnTo>
                  <a:lnTo>
                    <a:pt x="0" y="38100"/>
                  </a:lnTo>
                  <a:close/>
                </a:path>
              </a:pathLst>
            </a:custGeom>
            <a:solidFill>
              <a:srgbClr val="4950BC"/>
            </a:solidFill>
          </p:spPr>
        </p:sp>
      </p:grpSp>
      <p:sp>
        <p:nvSpPr>
          <p:cNvPr id="18" name="TextBox 18"/>
          <p:cNvSpPr txBox="1"/>
          <p:nvPr/>
        </p:nvSpPr>
        <p:spPr>
          <a:xfrm>
            <a:off x="5794619" y="3220193"/>
            <a:ext cx="2658066" cy="351234"/>
          </a:xfrm>
          <a:prstGeom prst="rect">
            <a:avLst/>
          </a:prstGeom>
        </p:spPr>
        <p:txBody>
          <a:bodyPr lIns="0" tIns="0" rIns="0" bIns="0" rtlCol="0" anchor="t">
            <a:spAutoFit/>
          </a:bodyPr>
          <a:lstStyle/>
          <a:p>
            <a:pPr algn="l">
              <a:lnSpc>
                <a:spcPts val="2562"/>
              </a:lnSpc>
            </a:pPr>
            <a:r>
              <a:rPr lang="en-US" sz="2062" b="1">
                <a:solidFill>
                  <a:srgbClr val="272525"/>
                </a:solidFill>
                <a:latin typeface="Inter Bold"/>
                <a:ea typeface="Inter Bold"/>
                <a:cs typeface="Inter Bold"/>
                <a:sym typeface="Inter Bold"/>
              </a:rPr>
              <a:t>LSTM Layer 1</a:t>
            </a:r>
          </a:p>
        </p:txBody>
      </p:sp>
      <p:sp>
        <p:nvSpPr>
          <p:cNvPr id="19" name="TextBox 19"/>
          <p:cNvSpPr txBox="1"/>
          <p:nvPr/>
        </p:nvSpPr>
        <p:spPr>
          <a:xfrm>
            <a:off x="5794619" y="3619348"/>
            <a:ext cx="4643142" cy="294953"/>
          </a:xfrm>
          <a:prstGeom prst="rect">
            <a:avLst/>
          </a:prstGeom>
        </p:spPr>
        <p:txBody>
          <a:bodyPr lIns="0" tIns="0" rIns="0" bIns="0" rtlCol="0" anchor="t">
            <a:spAutoFit/>
          </a:bodyPr>
          <a:lstStyle/>
          <a:p>
            <a:pPr algn="l">
              <a:lnSpc>
                <a:spcPts val="2312"/>
              </a:lnSpc>
            </a:pPr>
            <a:r>
              <a:rPr lang="en-US" sz="2000" dirty="0">
                <a:solidFill>
                  <a:srgbClr val="272525"/>
                </a:solidFill>
                <a:latin typeface="Inter"/>
                <a:ea typeface="Inter"/>
                <a:cs typeface="Inter"/>
                <a:sym typeface="Inter"/>
              </a:rPr>
              <a:t>(64 units, returns sequences)</a:t>
            </a:r>
          </a:p>
        </p:txBody>
      </p:sp>
      <p:sp>
        <p:nvSpPr>
          <p:cNvPr id="20" name="TextBox 20"/>
          <p:cNvSpPr txBox="1"/>
          <p:nvPr/>
        </p:nvSpPr>
        <p:spPr>
          <a:xfrm>
            <a:off x="992238" y="4235796"/>
            <a:ext cx="303162" cy="271100"/>
          </a:xfrm>
          <a:prstGeom prst="rect">
            <a:avLst/>
          </a:prstGeom>
        </p:spPr>
        <p:txBody>
          <a:bodyPr wrap="square" lIns="0" tIns="0" rIns="0" bIns="0" rtlCol="0" anchor="t">
            <a:spAutoFit/>
          </a:bodyPr>
          <a:lstStyle/>
          <a:p>
            <a:pPr algn="l">
              <a:lnSpc>
                <a:spcPts val="2312"/>
              </a:lnSpc>
            </a:pPr>
            <a:r>
              <a:rPr lang="en-US" sz="1625" dirty="0">
                <a:solidFill>
                  <a:srgbClr val="272525"/>
                </a:solidFill>
                <a:latin typeface="Inter Light"/>
                <a:ea typeface="Inter Light"/>
                <a:cs typeface="Inter Light"/>
                <a:sym typeface="Inter Light"/>
              </a:rPr>
              <a:t>03</a:t>
            </a:r>
          </a:p>
        </p:txBody>
      </p:sp>
      <p:grpSp>
        <p:nvGrpSpPr>
          <p:cNvPr id="21" name="Group 21"/>
          <p:cNvGrpSpPr/>
          <p:nvPr/>
        </p:nvGrpSpPr>
        <p:grpSpPr>
          <a:xfrm>
            <a:off x="992238" y="4616206"/>
            <a:ext cx="4642990" cy="28575"/>
            <a:chOff x="0" y="0"/>
            <a:chExt cx="6190653" cy="38100"/>
          </a:xfrm>
        </p:grpSpPr>
        <p:sp>
          <p:nvSpPr>
            <p:cNvPr id="22" name="Freeform 22"/>
            <p:cNvSpPr/>
            <p:nvPr/>
          </p:nvSpPr>
          <p:spPr>
            <a:xfrm>
              <a:off x="0" y="0"/>
              <a:ext cx="6190615" cy="38100"/>
            </a:xfrm>
            <a:custGeom>
              <a:avLst/>
              <a:gdLst/>
              <a:ahLst/>
              <a:cxnLst/>
              <a:rect l="l" t="t" r="r" b="b"/>
              <a:pathLst>
                <a:path w="6190615" h="38100">
                  <a:moveTo>
                    <a:pt x="0" y="0"/>
                  </a:moveTo>
                  <a:lnTo>
                    <a:pt x="6190615" y="0"/>
                  </a:lnTo>
                  <a:lnTo>
                    <a:pt x="6190615" y="38100"/>
                  </a:lnTo>
                  <a:lnTo>
                    <a:pt x="0" y="38100"/>
                  </a:lnTo>
                  <a:close/>
                </a:path>
              </a:pathLst>
            </a:custGeom>
            <a:solidFill>
              <a:srgbClr val="4950BC"/>
            </a:solidFill>
          </p:spPr>
        </p:sp>
      </p:grpSp>
      <p:sp>
        <p:nvSpPr>
          <p:cNvPr id="23" name="TextBox 23"/>
          <p:cNvSpPr txBox="1"/>
          <p:nvPr/>
        </p:nvSpPr>
        <p:spPr>
          <a:xfrm>
            <a:off x="992238" y="4760566"/>
            <a:ext cx="2658066" cy="351234"/>
          </a:xfrm>
          <a:prstGeom prst="rect">
            <a:avLst/>
          </a:prstGeom>
        </p:spPr>
        <p:txBody>
          <a:bodyPr lIns="0" tIns="0" rIns="0" bIns="0" rtlCol="0" anchor="t">
            <a:spAutoFit/>
          </a:bodyPr>
          <a:lstStyle/>
          <a:p>
            <a:pPr algn="l">
              <a:lnSpc>
                <a:spcPts val="2562"/>
              </a:lnSpc>
            </a:pPr>
            <a:r>
              <a:rPr lang="en-US" sz="2062" b="1">
                <a:solidFill>
                  <a:srgbClr val="272525"/>
                </a:solidFill>
                <a:latin typeface="Inter Bold"/>
                <a:ea typeface="Inter Bold"/>
                <a:cs typeface="Inter Bold"/>
                <a:sym typeface="Inter Bold"/>
              </a:rPr>
              <a:t>LSTM Layer 2</a:t>
            </a:r>
          </a:p>
        </p:txBody>
      </p:sp>
      <p:sp>
        <p:nvSpPr>
          <p:cNvPr id="24" name="TextBox 24"/>
          <p:cNvSpPr txBox="1"/>
          <p:nvPr/>
        </p:nvSpPr>
        <p:spPr>
          <a:xfrm>
            <a:off x="992238" y="5159721"/>
            <a:ext cx="4642990" cy="294953"/>
          </a:xfrm>
          <a:prstGeom prst="rect">
            <a:avLst/>
          </a:prstGeom>
        </p:spPr>
        <p:txBody>
          <a:bodyPr lIns="0" tIns="0" rIns="0" bIns="0" rtlCol="0" anchor="t">
            <a:spAutoFit/>
          </a:bodyPr>
          <a:lstStyle/>
          <a:p>
            <a:pPr algn="l">
              <a:lnSpc>
                <a:spcPts val="2312"/>
              </a:lnSpc>
            </a:pPr>
            <a:r>
              <a:rPr lang="en-US" sz="2000" dirty="0">
                <a:solidFill>
                  <a:srgbClr val="272525"/>
                </a:solidFill>
                <a:latin typeface="Inter"/>
                <a:ea typeface="Inter"/>
                <a:cs typeface="Inter"/>
                <a:sym typeface="Inter"/>
              </a:rPr>
              <a:t>(128 units, returns sequences)</a:t>
            </a:r>
          </a:p>
        </p:txBody>
      </p:sp>
      <p:sp>
        <p:nvSpPr>
          <p:cNvPr id="25" name="TextBox 25"/>
          <p:cNvSpPr txBox="1"/>
          <p:nvPr/>
        </p:nvSpPr>
        <p:spPr>
          <a:xfrm>
            <a:off x="5794619" y="4235796"/>
            <a:ext cx="301380" cy="271100"/>
          </a:xfrm>
          <a:prstGeom prst="rect">
            <a:avLst/>
          </a:prstGeom>
        </p:spPr>
        <p:txBody>
          <a:bodyPr wrap="square" lIns="0" tIns="0" rIns="0" bIns="0" rtlCol="0" anchor="t">
            <a:spAutoFit/>
          </a:bodyPr>
          <a:lstStyle/>
          <a:p>
            <a:pPr algn="l">
              <a:lnSpc>
                <a:spcPts val="2312"/>
              </a:lnSpc>
            </a:pPr>
            <a:r>
              <a:rPr lang="en-US" sz="1625" dirty="0">
                <a:solidFill>
                  <a:srgbClr val="272525"/>
                </a:solidFill>
                <a:latin typeface="Inter Light"/>
                <a:ea typeface="Inter Light"/>
                <a:cs typeface="Inter Light"/>
                <a:sym typeface="Inter Light"/>
              </a:rPr>
              <a:t>04</a:t>
            </a:r>
          </a:p>
        </p:txBody>
      </p:sp>
      <p:grpSp>
        <p:nvGrpSpPr>
          <p:cNvPr id="26" name="Group 26"/>
          <p:cNvGrpSpPr/>
          <p:nvPr/>
        </p:nvGrpSpPr>
        <p:grpSpPr>
          <a:xfrm>
            <a:off x="5794619" y="4616206"/>
            <a:ext cx="4643142" cy="28575"/>
            <a:chOff x="0" y="0"/>
            <a:chExt cx="6190856" cy="38100"/>
          </a:xfrm>
        </p:grpSpPr>
        <p:sp>
          <p:nvSpPr>
            <p:cNvPr id="27" name="Freeform 27"/>
            <p:cNvSpPr/>
            <p:nvPr/>
          </p:nvSpPr>
          <p:spPr>
            <a:xfrm>
              <a:off x="0" y="0"/>
              <a:ext cx="6190869" cy="38100"/>
            </a:xfrm>
            <a:custGeom>
              <a:avLst/>
              <a:gdLst/>
              <a:ahLst/>
              <a:cxnLst/>
              <a:rect l="l" t="t" r="r" b="b"/>
              <a:pathLst>
                <a:path w="6190869" h="38100">
                  <a:moveTo>
                    <a:pt x="0" y="0"/>
                  </a:moveTo>
                  <a:lnTo>
                    <a:pt x="6190869" y="0"/>
                  </a:lnTo>
                  <a:lnTo>
                    <a:pt x="6190869" y="38100"/>
                  </a:lnTo>
                  <a:lnTo>
                    <a:pt x="0" y="38100"/>
                  </a:lnTo>
                  <a:close/>
                </a:path>
              </a:pathLst>
            </a:custGeom>
            <a:solidFill>
              <a:srgbClr val="4950BC"/>
            </a:solidFill>
          </p:spPr>
        </p:sp>
      </p:grpSp>
      <p:sp>
        <p:nvSpPr>
          <p:cNvPr id="28" name="TextBox 28"/>
          <p:cNvSpPr txBox="1"/>
          <p:nvPr/>
        </p:nvSpPr>
        <p:spPr>
          <a:xfrm>
            <a:off x="5794619" y="4760566"/>
            <a:ext cx="2658066" cy="351234"/>
          </a:xfrm>
          <a:prstGeom prst="rect">
            <a:avLst/>
          </a:prstGeom>
        </p:spPr>
        <p:txBody>
          <a:bodyPr lIns="0" tIns="0" rIns="0" bIns="0" rtlCol="0" anchor="t">
            <a:spAutoFit/>
          </a:bodyPr>
          <a:lstStyle/>
          <a:p>
            <a:pPr algn="l">
              <a:lnSpc>
                <a:spcPts val="2562"/>
              </a:lnSpc>
            </a:pPr>
            <a:r>
              <a:rPr lang="en-US" sz="2062" b="1">
                <a:solidFill>
                  <a:srgbClr val="272525"/>
                </a:solidFill>
                <a:latin typeface="Inter Bold"/>
                <a:ea typeface="Inter Bold"/>
                <a:cs typeface="Inter Bold"/>
                <a:sym typeface="Inter Bold"/>
              </a:rPr>
              <a:t>LSTM Layer 3</a:t>
            </a:r>
          </a:p>
        </p:txBody>
      </p:sp>
      <p:sp>
        <p:nvSpPr>
          <p:cNvPr id="29" name="TextBox 29"/>
          <p:cNvSpPr txBox="1"/>
          <p:nvPr/>
        </p:nvSpPr>
        <p:spPr>
          <a:xfrm>
            <a:off x="5794619" y="5159721"/>
            <a:ext cx="4643142" cy="294953"/>
          </a:xfrm>
          <a:prstGeom prst="rect">
            <a:avLst/>
          </a:prstGeom>
        </p:spPr>
        <p:txBody>
          <a:bodyPr lIns="0" tIns="0" rIns="0" bIns="0" rtlCol="0" anchor="t">
            <a:spAutoFit/>
          </a:bodyPr>
          <a:lstStyle/>
          <a:p>
            <a:pPr algn="l">
              <a:lnSpc>
                <a:spcPts val="2312"/>
              </a:lnSpc>
            </a:pPr>
            <a:r>
              <a:rPr lang="en-US" sz="2000" dirty="0">
                <a:solidFill>
                  <a:srgbClr val="272525"/>
                </a:solidFill>
                <a:latin typeface="Inter"/>
                <a:ea typeface="Inter"/>
                <a:cs typeface="Inter"/>
                <a:sym typeface="Inter"/>
              </a:rPr>
              <a:t>(64 units)</a:t>
            </a:r>
          </a:p>
        </p:txBody>
      </p:sp>
      <p:sp>
        <p:nvSpPr>
          <p:cNvPr id="30" name="TextBox 30"/>
          <p:cNvSpPr txBox="1"/>
          <p:nvPr/>
        </p:nvSpPr>
        <p:spPr>
          <a:xfrm>
            <a:off x="992238" y="5776170"/>
            <a:ext cx="455562" cy="271100"/>
          </a:xfrm>
          <a:prstGeom prst="rect">
            <a:avLst/>
          </a:prstGeom>
        </p:spPr>
        <p:txBody>
          <a:bodyPr wrap="square" lIns="0" tIns="0" rIns="0" bIns="0" rtlCol="0" anchor="t">
            <a:spAutoFit/>
          </a:bodyPr>
          <a:lstStyle/>
          <a:p>
            <a:pPr algn="l">
              <a:lnSpc>
                <a:spcPts val="2312"/>
              </a:lnSpc>
            </a:pPr>
            <a:r>
              <a:rPr lang="en-US" sz="1625" dirty="0">
                <a:solidFill>
                  <a:srgbClr val="272525"/>
                </a:solidFill>
                <a:latin typeface="Inter Light"/>
                <a:ea typeface="Inter Light"/>
                <a:cs typeface="Inter Light"/>
                <a:sym typeface="Inter Light"/>
              </a:rPr>
              <a:t>05</a:t>
            </a:r>
          </a:p>
        </p:txBody>
      </p:sp>
      <p:grpSp>
        <p:nvGrpSpPr>
          <p:cNvPr id="31" name="Group 31"/>
          <p:cNvGrpSpPr/>
          <p:nvPr/>
        </p:nvGrpSpPr>
        <p:grpSpPr>
          <a:xfrm>
            <a:off x="992238" y="6156569"/>
            <a:ext cx="4642990" cy="28575"/>
            <a:chOff x="0" y="0"/>
            <a:chExt cx="6190653" cy="38100"/>
          </a:xfrm>
        </p:grpSpPr>
        <p:sp>
          <p:nvSpPr>
            <p:cNvPr id="32" name="Freeform 32"/>
            <p:cNvSpPr/>
            <p:nvPr/>
          </p:nvSpPr>
          <p:spPr>
            <a:xfrm>
              <a:off x="0" y="0"/>
              <a:ext cx="6190615" cy="38100"/>
            </a:xfrm>
            <a:custGeom>
              <a:avLst/>
              <a:gdLst/>
              <a:ahLst/>
              <a:cxnLst/>
              <a:rect l="l" t="t" r="r" b="b"/>
              <a:pathLst>
                <a:path w="6190615" h="38100">
                  <a:moveTo>
                    <a:pt x="0" y="0"/>
                  </a:moveTo>
                  <a:lnTo>
                    <a:pt x="6190615" y="0"/>
                  </a:lnTo>
                  <a:lnTo>
                    <a:pt x="6190615" y="38100"/>
                  </a:lnTo>
                  <a:lnTo>
                    <a:pt x="0" y="38100"/>
                  </a:lnTo>
                  <a:close/>
                </a:path>
              </a:pathLst>
            </a:custGeom>
            <a:solidFill>
              <a:srgbClr val="4950BC"/>
            </a:solidFill>
          </p:spPr>
        </p:sp>
      </p:grpSp>
      <p:sp>
        <p:nvSpPr>
          <p:cNvPr id="33" name="TextBox 33"/>
          <p:cNvSpPr txBox="1"/>
          <p:nvPr/>
        </p:nvSpPr>
        <p:spPr>
          <a:xfrm>
            <a:off x="992238" y="6300940"/>
            <a:ext cx="2658066" cy="351234"/>
          </a:xfrm>
          <a:prstGeom prst="rect">
            <a:avLst/>
          </a:prstGeom>
        </p:spPr>
        <p:txBody>
          <a:bodyPr lIns="0" tIns="0" rIns="0" bIns="0" rtlCol="0" anchor="t">
            <a:spAutoFit/>
          </a:bodyPr>
          <a:lstStyle/>
          <a:p>
            <a:pPr algn="l">
              <a:lnSpc>
                <a:spcPts val="2562"/>
              </a:lnSpc>
            </a:pPr>
            <a:r>
              <a:rPr lang="en-US" sz="2062" b="1">
                <a:solidFill>
                  <a:srgbClr val="272525"/>
                </a:solidFill>
                <a:latin typeface="Inter Bold"/>
                <a:ea typeface="Inter Bold"/>
                <a:cs typeface="Inter Bold"/>
                <a:sym typeface="Inter Bold"/>
              </a:rPr>
              <a:t>Dense Layer 1</a:t>
            </a:r>
          </a:p>
        </p:txBody>
      </p:sp>
      <p:sp>
        <p:nvSpPr>
          <p:cNvPr id="34" name="TextBox 34"/>
          <p:cNvSpPr txBox="1"/>
          <p:nvPr/>
        </p:nvSpPr>
        <p:spPr>
          <a:xfrm>
            <a:off x="992238" y="6700095"/>
            <a:ext cx="4642990" cy="294953"/>
          </a:xfrm>
          <a:prstGeom prst="rect">
            <a:avLst/>
          </a:prstGeom>
        </p:spPr>
        <p:txBody>
          <a:bodyPr lIns="0" tIns="0" rIns="0" bIns="0" rtlCol="0" anchor="t">
            <a:spAutoFit/>
          </a:bodyPr>
          <a:lstStyle/>
          <a:p>
            <a:pPr algn="l">
              <a:lnSpc>
                <a:spcPts val="2312"/>
              </a:lnSpc>
            </a:pPr>
            <a:r>
              <a:rPr lang="en-US" sz="2000" dirty="0">
                <a:solidFill>
                  <a:srgbClr val="272525"/>
                </a:solidFill>
                <a:latin typeface="Inter"/>
                <a:ea typeface="Inter"/>
                <a:cs typeface="Inter"/>
                <a:sym typeface="Inter"/>
              </a:rPr>
              <a:t>(</a:t>
            </a:r>
            <a:r>
              <a:rPr lang="en-US" sz="2000" dirty="0" err="1">
                <a:solidFill>
                  <a:srgbClr val="272525"/>
                </a:solidFill>
                <a:latin typeface="Inter"/>
                <a:ea typeface="Inter"/>
                <a:cs typeface="Inter"/>
                <a:sym typeface="Inter"/>
              </a:rPr>
              <a:t>ReLU</a:t>
            </a:r>
            <a:r>
              <a:rPr lang="en-US" sz="2000" dirty="0">
                <a:solidFill>
                  <a:srgbClr val="272525"/>
                </a:solidFill>
                <a:latin typeface="Inter"/>
                <a:ea typeface="Inter"/>
                <a:cs typeface="Inter"/>
                <a:sym typeface="Inter"/>
              </a:rPr>
              <a:t> activation)</a:t>
            </a:r>
          </a:p>
        </p:txBody>
      </p:sp>
      <p:sp>
        <p:nvSpPr>
          <p:cNvPr id="35" name="TextBox 35"/>
          <p:cNvSpPr txBox="1"/>
          <p:nvPr/>
        </p:nvSpPr>
        <p:spPr>
          <a:xfrm>
            <a:off x="5794619" y="5776170"/>
            <a:ext cx="301380" cy="271100"/>
          </a:xfrm>
          <a:prstGeom prst="rect">
            <a:avLst/>
          </a:prstGeom>
        </p:spPr>
        <p:txBody>
          <a:bodyPr wrap="square" lIns="0" tIns="0" rIns="0" bIns="0" rtlCol="0" anchor="t">
            <a:spAutoFit/>
          </a:bodyPr>
          <a:lstStyle/>
          <a:p>
            <a:pPr algn="l">
              <a:lnSpc>
                <a:spcPts val="2312"/>
              </a:lnSpc>
            </a:pPr>
            <a:r>
              <a:rPr lang="en-US" sz="1625" dirty="0">
                <a:solidFill>
                  <a:srgbClr val="272525"/>
                </a:solidFill>
                <a:latin typeface="Inter Light"/>
                <a:ea typeface="Inter Light"/>
                <a:cs typeface="Inter Light"/>
                <a:sym typeface="Inter Light"/>
              </a:rPr>
              <a:t>06</a:t>
            </a:r>
          </a:p>
        </p:txBody>
      </p:sp>
      <p:grpSp>
        <p:nvGrpSpPr>
          <p:cNvPr id="36" name="Group 36"/>
          <p:cNvGrpSpPr/>
          <p:nvPr/>
        </p:nvGrpSpPr>
        <p:grpSpPr>
          <a:xfrm>
            <a:off x="5794619" y="6156569"/>
            <a:ext cx="4643142" cy="28575"/>
            <a:chOff x="0" y="0"/>
            <a:chExt cx="6190856" cy="38100"/>
          </a:xfrm>
        </p:grpSpPr>
        <p:sp>
          <p:nvSpPr>
            <p:cNvPr id="37" name="Freeform 37"/>
            <p:cNvSpPr/>
            <p:nvPr/>
          </p:nvSpPr>
          <p:spPr>
            <a:xfrm>
              <a:off x="0" y="0"/>
              <a:ext cx="6190869" cy="38100"/>
            </a:xfrm>
            <a:custGeom>
              <a:avLst/>
              <a:gdLst/>
              <a:ahLst/>
              <a:cxnLst/>
              <a:rect l="l" t="t" r="r" b="b"/>
              <a:pathLst>
                <a:path w="6190869" h="38100">
                  <a:moveTo>
                    <a:pt x="0" y="0"/>
                  </a:moveTo>
                  <a:lnTo>
                    <a:pt x="6190869" y="0"/>
                  </a:lnTo>
                  <a:lnTo>
                    <a:pt x="6190869" y="38100"/>
                  </a:lnTo>
                  <a:lnTo>
                    <a:pt x="0" y="38100"/>
                  </a:lnTo>
                  <a:close/>
                </a:path>
              </a:pathLst>
            </a:custGeom>
            <a:solidFill>
              <a:srgbClr val="4950BC"/>
            </a:solidFill>
          </p:spPr>
        </p:sp>
      </p:grpSp>
      <p:sp>
        <p:nvSpPr>
          <p:cNvPr id="38" name="TextBox 38"/>
          <p:cNvSpPr txBox="1"/>
          <p:nvPr/>
        </p:nvSpPr>
        <p:spPr>
          <a:xfrm>
            <a:off x="5794619" y="6300940"/>
            <a:ext cx="2658066" cy="351234"/>
          </a:xfrm>
          <a:prstGeom prst="rect">
            <a:avLst/>
          </a:prstGeom>
        </p:spPr>
        <p:txBody>
          <a:bodyPr lIns="0" tIns="0" rIns="0" bIns="0" rtlCol="0" anchor="t">
            <a:spAutoFit/>
          </a:bodyPr>
          <a:lstStyle/>
          <a:p>
            <a:pPr algn="l">
              <a:lnSpc>
                <a:spcPts val="2562"/>
              </a:lnSpc>
            </a:pPr>
            <a:r>
              <a:rPr lang="en-US" sz="2062" b="1">
                <a:solidFill>
                  <a:srgbClr val="272525"/>
                </a:solidFill>
                <a:latin typeface="Inter Bold"/>
                <a:ea typeface="Inter Bold"/>
                <a:cs typeface="Inter Bold"/>
                <a:sym typeface="Inter Bold"/>
              </a:rPr>
              <a:t>Dense Layer 2</a:t>
            </a:r>
          </a:p>
        </p:txBody>
      </p:sp>
      <p:sp>
        <p:nvSpPr>
          <p:cNvPr id="39" name="TextBox 39"/>
          <p:cNvSpPr txBox="1"/>
          <p:nvPr/>
        </p:nvSpPr>
        <p:spPr>
          <a:xfrm>
            <a:off x="5794619" y="6700095"/>
            <a:ext cx="4643142" cy="294953"/>
          </a:xfrm>
          <a:prstGeom prst="rect">
            <a:avLst/>
          </a:prstGeom>
        </p:spPr>
        <p:txBody>
          <a:bodyPr lIns="0" tIns="0" rIns="0" bIns="0" rtlCol="0" anchor="t">
            <a:spAutoFit/>
          </a:bodyPr>
          <a:lstStyle/>
          <a:p>
            <a:pPr algn="l">
              <a:lnSpc>
                <a:spcPts val="2312"/>
              </a:lnSpc>
            </a:pPr>
            <a:r>
              <a:rPr lang="en-US" sz="2000" dirty="0">
                <a:solidFill>
                  <a:srgbClr val="272525"/>
                </a:solidFill>
                <a:latin typeface="Inter"/>
                <a:ea typeface="Inter"/>
                <a:cs typeface="Inter"/>
                <a:sym typeface="Inter"/>
              </a:rPr>
              <a:t>(</a:t>
            </a:r>
            <a:r>
              <a:rPr lang="en-US" sz="2000" dirty="0" err="1">
                <a:solidFill>
                  <a:srgbClr val="272525"/>
                </a:solidFill>
                <a:latin typeface="Inter"/>
                <a:ea typeface="Inter"/>
                <a:cs typeface="Inter"/>
                <a:sym typeface="Inter"/>
              </a:rPr>
              <a:t>ReLU</a:t>
            </a:r>
            <a:r>
              <a:rPr lang="en-US" sz="2000" dirty="0">
                <a:solidFill>
                  <a:srgbClr val="272525"/>
                </a:solidFill>
                <a:latin typeface="Inter"/>
                <a:ea typeface="Inter"/>
                <a:cs typeface="Inter"/>
                <a:sym typeface="Inter"/>
              </a:rPr>
              <a:t> activation)</a:t>
            </a:r>
          </a:p>
        </p:txBody>
      </p:sp>
      <p:sp>
        <p:nvSpPr>
          <p:cNvPr id="40" name="TextBox 40"/>
          <p:cNvSpPr txBox="1"/>
          <p:nvPr/>
        </p:nvSpPr>
        <p:spPr>
          <a:xfrm>
            <a:off x="992238" y="7316543"/>
            <a:ext cx="455562" cy="271100"/>
          </a:xfrm>
          <a:prstGeom prst="rect">
            <a:avLst/>
          </a:prstGeom>
        </p:spPr>
        <p:txBody>
          <a:bodyPr wrap="square" lIns="0" tIns="0" rIns="0" bIns="0" rtlCol="0" anchor="t">
            <a:spAutoFit/>
          </a:bodyPr>
          <a:lstStyle/>
          <a:p>
            <a:pPr algn="l">
              <a:lnSpc>
                <a:spcPts val="2312"/>
              </a:lnSpc>
            </a:pPr>
            <a:r>
              <a:rPr lang="en-US" sz="1625" dirty="0">
                <a:solidFill>
                  <a:srgbClr val="272525"/>
                </a:solidFill>
                <a:latin typeface="Inter Light"/>
                <a:ea typeface="Inter Light"/>
                <a:cs typeface="Inter Light"/>
                <a:sym typeface="Inter Light"/>
              </a:rPr>
              <a:t>07</a:t>
            </a:r>
          </a:p>
        </p:txBody>
      </p:sp>
      <p:grpSp>
        <p:nvGrpSpPr>
          <p:cNvPr id="41" name="Group 41"/>
          <p:cNvGrpSpPr/>
          <p:nvPr/>
        </p:nvGrpSpPr>
        <p:grpSpPr>
          <a:xfrm>
            <a:off x="992238" y="7696943"/>
            <a:ext cx="9445523" cy="28575"/>
            <a:chOff x="0" y="0"/>
            <a:chExt cx="12594031" cy="38100"/>
          </a:xfrm>
        </p:grpSpPr>
        <p:sp>
          <p:nvSpPr>
            <p:cNvPr id="42" name="Freeform 42"/>
            <p:cNvSpPr/>
            <p:nvPr/>
          </p:nvSpPr>
          <p:spPr>
            <a:xfrm>
              <a:off x="0" y="0"/>
              <a:ext cx="12594082" cy="38100"/>
            </a:xfrm>
            <a:custGeom>
              <a:avLst/>
              <a:gdLst/>
              <a:ahLst/>
              <a:cxnLst/>
              <a:rect l="l" t="t" r="r" b="b"/>
              <a:pathLst>
                <a:path w="12594082" h="38100">
                  <a:moveTo>
                    <a:pt x="0" y="0"/>
                  </a:moveTo>
                  <a:lnTo>
                    <a:pt x="12594082" y="0"/>
                  </a:lnTo>
                  <a:lnTo>
                    <a:pt x="12594082" y="38100"/>
                  </a:lnTo>
                  <a:lnTo>
                    <a:pt x="0" y="38100"/>
                  </a:lnTo>
                  <a:close/>
                </a:path>
              </a:pathLst>
            </a:custGeom>
            <a:solidFill>
              <a:srgbClr val="4950BC"/>
            </a:solidFill>
          </p:spPr>
        </p:sp>
      </p:grpSp>
      <p:sp>
        <p:nvSpPr>
          <p:cNvPr id="43" name="TextBox 43"/>
          <p:cNvSpPr txBox="1"/>
          <p:nvPr/>
        </p:nvSpPr>
        <p:spPr>
          <a:xfrm>
            <a:off x="992238" y="7841304"/>
            <a:ext cx="2658066" cy="351234"/>
          </a:xfrm>
          <a:prstGeom prst="rect">
            <a:avLst/>
          </a:prstGeom>
        </p:spPr>
        <p:txBody>
          <a:bodyPr lIns="0" tIns="0" rIns="0" bIns="0" rtlCol="0" anchor="t">
            <a:spAutoFit/>
          </a:bodyPr>
          <a:lstStyle/>
          <a:p>
            <a:pPr algn="l">
              <a:lnSpc>
                <a:spcPts val="2562"/>
              </a:lnSpc>
            </a:pPr>
            <a:r>
              <a:rPr lang="en-US" sz="2062" b="1">
                <a:solidFill>
                  <a:srgbClr val="272525"/>
                </a:solidFill>
                <a:latin typeface="Inter Bold"/>
                <a:ea typeface="Inter Bold"/>
                <a:cs typeface="Inter Bold"/>
                <a:sym typeface="Inter Bold"/>
              </a:rPr>
              <a:t>Output Layer</a:t>
            </a:r>
          </a:p>
        </p:txBody>
      </p:sp>
      <p:sp>
        <p:nvSpPr>
          <p:cNvPr id="44" name="TextBox 44"/>
          <p:cNvSpPr txBox="1"/>
          <p:nvPr/>
        </p:nvSpPr>
        <p:spPr>
          <a:xfrm>
            <a:off x="992238" y="8240468"/>
            <a:ext cx="9445523" cy="294953"/>
          </a:xfrm>
          <a:prstGeom prst="rect">
            <a:avLst/>
          </a:prstGeom>
        </p:spPr>
        <p:txBody>
          <a:bodyPr lIns="0" tIns="0" rIns="0" bIns="0" rtlCol="0" anchor="t">
            <a:spAutoFit/>
          </a:bodyPr>
          <a:lstStyle/>
          <a:p>
            <a:pPr algn="l">
              <a:lnSpc>
                <a:spcPts val="2312"/>
              </a:lnSpc>
            </a:pPr>
            <a:r>
              <a:rPr lang="en-US" sz="2000" dirty="0">
                <a:solidFill>
                  <a:srgbClr val="272525"/>
                </a:solidFill>
                <a:latin typeface="Inter"/>
                <a:ea typeface="Inter"/>
                <a:cs typeface="Inter"/>
                <a:sym typeface="Inter"/>
              </a:rPr>
              <a:t>(</a:t>
            </a:r>
            <a:r>
              <a:rPr lang="en-US" sz="2000" dirty="0" err="1">
                <a:solidFill>
                  <a:srgbClr val="272525"/>
                </a:solidFill>
                <a:latin typeface="Inter"/>
                <a:ea typeface="Inter"/>
                <a:cs typeface="Inter"/>
                <a:sym typeface="Inter"/>
              </a:rPr>
              <a:t>Softmax</a:t>
            </a:r>
            <a:r>
              <a:rPr lang="en-US" sz="2000" dirty="0">
                <a:solidFill>
                  <a:srgbClr val="272525"/>
                </a:solidFill>
                <a:latin typeface="Inter"/>
                <a:ea typeface="Inter"/>
                <a:cs typeface="Inter"/>
                <a:sym typeface="Inter"/>
              </a:rPr>
              <a:t>, number of gesture classes)</a:t>
            </a:r>
          </a:p>
        </p:txBody>
      </p:sp>
      <p:sp>
        <p:nvSpPr>
          <p:cNvPr id="45" name="TextBox 45"/>
          <p:cNvSpPr txBox="1"/>
          <p:nvPr/>
        </p:nvSpPr>
        <p:spPr>
          <a:xfrm>
            <a:off x="992238" y="8876852"/>
            <a:ext cx="9445523" cy="589905"/>
          </a:xfrm>
          <a:prstGeom prst="rect">
            <a:avLst/>
          </a:prstGeom>
        </p:spPr>
        <p:txBody>
          <a:bodyPr lIns="0" tIns="0" rIns="0" bIns="0" rtlCol="0" anchor="t">
            <a:spAutoFit/>
          </a:bodyPr>
          <a:lstStyle/>
          <a:p>
            <a:pPr algn="l">
              <a:lnSpc>
                <a:spcPts val="2312"/>
              </a:lnSpc>
            </a:pPr>
            <a:r>
              <a:rPr lang="en-US" sz="2000" dirty="0">
                <a:solidFill>
                  <a:srgbClr val="272525"/>
                </a:solidFill>
                <a:latin typeface="Inter"/>
                <a:ea typeface="Inter"/>
                <a:cs typeface="Inter"/>
                <a:sym typeface="Inter"/>
              </a:rPr>
              <a:t>Total trainable parameters: 237,383. Optimizer: Adam with categorical cross-entropy loss.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10732"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792661" y="1200445"/>
            <a:ext cx="8375894" cy="736397"/>
          </a:xfrm>
          <a:prstGeom prst="rect">
            <a:avLst/>
          </a:prstGeom>
        </p:spPr>
        <p:txBody>
          <a:bodyPr lIns="0" tIns="0" rIns="0" bIns="0" rtlCol="0" anchor="t">
            <a:spAutoFit/>
          </a:bodyPr>
          <a:lstStyle/>
          <a:p>
            <a:pPr algn="l">
              <a:lnSpc>
                <a:spcPts val="5562"/>
              </a:lnSpc>
            </a:pPr>
            <a:r>
              <a:rPr lang="en-US" sz="4437" b="1">
                <a:solidFill>
                  <a:srgbClr val="000000"/>
                </a:solidFill>
                <a:latin typeface="Inter Bold"/>
                <a:ea typeface="Inter Bold"/>
                <a:cs typeface="Inter Bold"/>
                <a:sym typeface="Inter Bold"/>
              </a:rPr>
              <a:t>Model Training &amp; Performance</a:t>
            </a:r>
          </a:p>
        </p:txBody>
      </p:sp>
      <p:sp>
        <p:nvSpPr>
          <p:cNvPr id="7" name="TextBox 7"/>
          <p:cNvSpPr txBox="1"/>
          <p:nvPr/>
        </p:nvSpPr>
        <p:spPr>
          <a:xfrm>
            <a:off x="792661" y="2369934"/>
            <a:ext cx="3734248" cy="443655"/>
          </a:xfrm>
          <a:prstGeom prst="rect">
            <a:avLst/>
          </a:prstGeom>
        </p:spPr>
        <p:txBody>
          <a:bodyPr lIns="0" tIns="0" rIns="0" bIns="0" rtlCol="0" anchor="t">
            <a:spAutoFit/>
          </a:bodyPr>
          <a:lstStyle/>
          <a:p>
            <a:pPr algn="l">
              <a:lnSpc>
                <a:spcPts val="3312"/>
              </a:lnSpc>
            </a:pPr>
            <a:r>
              <a:rPr lang="en-US" sz="2625" b="1">
                <a:solidFill>
                  <a:srgbClr val="000000"/>
                </a:solidFill>
                <a:latin typeface="Inter Bold"/>
                <a:ea typeface="Inter Bold"/>
                <a:cs typeface="Inter Bold"/>
                <a:sym typeface="Inter Bold"/>
              </a:rPr>
              <a:t>Training Configuration</a:t>
            </a:r>
          </a:p>
        </p:txBody>
      </p:sp>
      <p:sp>
        <p:nvSpPr>
          <p:cNvPr id="8" name="TextBox 8"/>
          <p:cNvSpPr txBox="1"/>
          <p:nvPr/>
        </p:nvSpPr>
        <p:spPr>
          <a:xfrm>
            <a:off x="792661" y="2946797"/>
            <a:ext cx="8075114" cy="1330942"/>
          </a:xfrm>
          <a:prstGeom prst="rect">
            <a:avLst/>
          </a:prstGeom>
        </p:spPr>
        <p:txBody>
          <a:bodyPr lIns="0" tIns="0" rIns="0" bIns="0" rtlCol="0" anchor="t">
            <a:spAutoFit/>
          </a:bodyPr>
          <a:lstStyle/>
          <a:p>
            <a:pPr marL="263922" lvl="1" indent="-131961" algn="l">
              <a:lnSpc>
                <a:spcPct val="150000"/>
              </a:lnSpc>
              <a:buFont typeface="Arial"/>
              <a:buChar char="•"/>
            </a:pPr>
            <a:r>
              <a:rPr lang="en-US" sz="2000" dirty="0">
                <a:solidFill>
                  <a:srgbClr val="272525"/>
                </a:solidFill>
                <a:latin typeface="Inter"/>
                <a:ea typeface="Inter"/>
                <a:cs typeface="Inter"/>
                <a:sym typeface="Inter"/>
              </a:rPr>
              <a:t>80/20 train-validation split.</a:t>
            </a:r>
          </a:p>
          <a:p>
            <a:pPr marL="263922" lvl="1" indent="-131961" algn="l">
              <a:lnSpc>
                <a:spcPct val="150000"/>
              </a:lnSpc>
              <a:buFont typeface="Arial"/>
              <a:buChar char="•"/>
            </a:pPr>
            <a:r>
              <a:rPr lang="en-US" sz="2000" dirty="0" err="1">
                <a:solidFill>
                  <a:srgbClr val="272525"/>
                </a:solidFill>
                <a:latin typeface="Inter"/>
                <a:ea typeface="Inter"/>
                <a:cs typeface="Inter"/>
                <a:sym typeface="Inter"/>
              </a:rPr>
              <a:t>EarlyStopping</a:t>
            </a:r>
            <a:r>
              <a:rPr lang="en-US" sz="2000" dirty="0">
                <a:solidFill>
                  <a:srgbClr val="272525"/>
                </a:solidFill>
                <a:latin typeface="Inter"/>
                <a:ea typeface="Inter"/>
                <a:cs typeface="Inter"/>
                <a:sym typeface="Inter"/>
              </a:rPr>
              <a:t> with patience of 30 epochs to prevent overfitting.</a:t>
            </a:r>
          </a:p>
          <a:p>
            <a:pPr marL="263922" lvl="1" indent="-131961" algn="l">
              <a:lnSpc>
                <a:spcPct val="150000"/>
              </a:lnSpc>
              <a:buFont typeface="Arial"/>
              <a:buChar char="•"/>
            </a:pPr>
            <a:r>
              <a:rPr lang="en-US" sz="2000" dirty="0">
                <a:solidFill>
                  <a:srgbClr val="272525"/>
                </a:solidFill>
                <a:latin typeface="Inter"/>
                <a:ea typeface="Inter"/>
                <a:cs typeface="Inter"/>
                <a:sym typeface="Inter"/>
              </a:rPr>
              <a:t>Maximum training duration: 200 epochs.</a:t>
            </a:r>
          </a:p>
        </p:txBody>
      </p:sp>
      <p:sp>
        <p:nvSpPr>
          <p:cNvPr id="9" name="TextBox 9"/>
          <p:cNvSpPr txBox="1"/>
          <p:nvPr/>
        </p:nvSpPr>
        <p:spPr>
          <a:xfrm>
            <a:off x="9429750" y="2237216"/>
            <a:ext cx="3397301" cy="443655"/>
          </a:xfrm>
          <a:prstGeom prst="rect">
            <a:avLst/>
          </a:prstGeom>
        </p:spPr>
        <p:txBody>
          <a:bodyPr lIns="0" tIns="0" rIns="0" bIns="0" rtlCol="0" anchor="t">
            <a:spAutoFit/>
          </a:bodyPr>
          <a:lstStyle/>
          <a:p>
            <a:pPr algn="l">
              <a:lnSpc>
                <a:spcPts val="3312"/>
              </a:lnSpc>
            </a:pPr>
            <a:r>
              <a:rPr lang="en-US" sz="2625" b="1" dirty="0">
                <a:solidFill>
                  <a:srgbClr val="000000"/>
                </a:solidFill>
                <a:latin typeface="Inter Bold"/>
                <a:ea typeface="Inter Bold"/>
                <a:cs typeface="Inter Bold"/>
                <a:sym typeface="Inter Bold"/>
              </a:rPr>
              <a:t>Results</a:t>
            </a:r>
          </a:p>
        </p:txBody>
      </p:sp>
      <p:sp>
        <p:nvSpPr>
          <p:cNvPr id="10" name="TextBox 10"/>
          <p:cNvSpPr txBox="1"/>
          <p:nvPr/>
        </p:nvSpPr>
        <p:spPr>
          <a:xfrm>
            <a:off x="12129243" y="4068530"/>
            <a:ext cx="2785767" cy="489947"/>
          </a:xfrm>
          <a:prstGeom prst="rect">
            <a:avLst/>
          </a:prstGeom>
        </p:spPr>
        <p:txBody>
          <a:bodyPr lIns="0" tIns="0" rIns="0" bIns="0" rtlCol="0" anchor="t">
            <a:spAutoFit/>
          </a:bodyPr>
          <a:lstStyle/>
          <a:p>
            <a:pPr algn="ctr">
              <a:lnSpc>
                <a:spcPts val="4437"/>
              </a:lnSpc>
            </a:pPr>
            <a:r>
              <a:rPr lang="en-US" sz="4437" b="1" dirty="0">
                <a:solidFill>
                  <a:srgbClr val="272525"/>
                </a:solidFill>
                <a:latin typeface="Inter Bold"/>
                <a:ea typeface="Inter Bold"/>
                <a:cs typeface="Inter Bold"/>
                <a:sym typeface="Inter Bold"/>
              </a:rPr>
              <a:t>98.81%</a:t>
            </a:r>
          </a:p>
        </p:txBody>
      </p:sp>
      <p:grpSp>
        <p:nvGrpSpPr>
          <p:cNvPr id="11" name="Group 11"/>
          <p:cNvGrpSpPr/>
          <p:nvPr/>
        </p:nvGrpSpPr>
        <p:grpSpPr>
          <a:xfrm>
            <a:off x="11768666" y="2614863"/>
            <a:ext cx="3397282" cy="3397282"/>
            <a:chOff x="13" y="-2487092"/>
            <a:chExt cx="4529709" cy="4529709"/>
          </a:xfrm>
        </p:grpSpPr>
        <p:sp>
          <p:nvSpPr>
            <p:cNvPr id="12" name="Freeform 12" descr="preencoded.png"/>
            <p:cNvSpPr/>
            <p:nvPr/>
          </p:nvSpPr>
          <p:spPr>
            <a:xfrm>
              <a:off x="13" y="-2487092"/>
              <a:ext cx="4529709" cy="4529709"/>
            </a:xfrm>
            <a:custGeom>
              <a:avLst/>
              <a:gdLst/>
              <a:ahLst/>
              <a:cxnLst/>
              <a:rect l="l" t="t" r="r" b="b"/>
              <a:pathLst>
                <a:path w="4529709" h="4529709">
                  <a:moveTo>
                    <a:pt x="0" y="0"/>
                  </a:moveTo>
                  <a:lnTo>
                    <a:pt x="4529709" y="0"/>
                  </a:lnTo>
                  <a:lnTo>
                    <a:pt x="4529709" y="4529709"/>
                  </a:lnTo>
                  <a:lnTo>
                    <a:pt x="0" y="4529709"/>
                  </a:lnTo>
                  <a:lnTo>
                    <a:pt x="0" y="0"/>
                  </a:lnTo>
                  <a:close/>
                </a:path>
              </a:pathLst>
            </a:custGeom>
            <a:blipFill>
              <a:blip r:embed="rId3"/>
              <a:stretch>
                <a:fillRect/>
              </a:stretch>
            </a:blipFill>
          </p:spPr>
          <p:txBody>
            <a:bodyPr/>
            <a:lstStyle/>
            <a:p>
              <a:endParaRPr lang="en-IN" dirty="0"/>
            </a:p>
          </p:txBody>
        </p:sp>
      </p:grpSp>
      <p:sp>
        <p:nvSpPr>
          <p:cNvPr id="13" name="TextBox 13"/>
          <p:cNvSpPr txBox="1"/>
          <p:nvPr/>
        </p:nvSpPr>
        <p:spPr>
          <a:xfrm>
            <a:off x="12113144" y="6208145"/>
            <a:ext cx="2831011" cy="363293"/>
          </a:xfrm>
          <a:prstGeom prst="rect">
            <a:avLst/>
          </a:prstGeom>
        </p:spPr>
        <p:txBody>
          <a:bodyPr lIns="0" tIns="0" rIns="0" bIns="0" rtlCol="0" anchor="t">
            <a:spAutoFit/>
          </a:bodyPr>
          <a:lstStyle/>
          <a:p>
            <a:pPr algn="ctr">
              <a:lnSpc>
                <a:spcPts val="2750"/>
              </a:lnSpc>
            </a:pPr>
            <a:r>
              <a:rPr lang="en-US" sz="2187" b="1" dirty="0">
                <a:solidFill>
                  <a:srgbClr val="272525"/>
                </a:solidFill>
                <a:latin typeface="Inter Bold"/>
                <a:ea typeface="Inter Bold"/>
                <a:cs typeface="Inter Bold"/>
                <a:sym typeface="Inter Bold"/>
              </a:rPr>
              <a:t>Validation Accuracy</a:t>
            </a:r>
          </a:p>
        </p:txBody>
      </p:sp>
      <p:sp>
        <p:nvSpPr>
          <p:cNvPr id="14" name="TextBox 14"/>
          <p:cNvSpPr txBox="1"/>
          <p:nvPr/>
        </p:nvSpPr>
        <p:spPr>
          <a:xfrm>
            <a:off x="9454435" y="6767438"/>
            <a:ext cx="8075114" cy="2715936"/>
          </a:xfrm>
          <a:prstGeom prst="rect">
            <a:avLst/>
          </a:prstGeom>
        </p:spPr>
        <p:txBody>
          <a:bodyPr lIns="0" tIns="0" rIns="0" bIns="0" rtlCol="0" anchor="t">
            <a:spAutoFit/>
          </a:bodyPr>
          <a:lstStyle/>
          <a:p>
            <a:pPr algn="l">
              <a:lnSpc>
                <a:spcPct val="150000"/>
              </a:lnSpc>
            </a:pPr>
            <a:r>
              <a:rPr lang="en-US" sz="2000" dirty="0">
                <a:solidFill>
                  <a:srgbClr val="272525"/>
                </a:solidFill>
                <a:latin typeface="Inter"/>
                <a:ea typeface="Inter"/>
                <a:cs typeface="Inter"/>
                <a:sym typeface="Inter"/>
              </a:rPr>
              <a:t>Training dynamics show consistent reduction in both training and validation loss across epochs. Close alignment between training and validation curves indicates minimal overfitting. The dimensionality reduction strategy (258 features vs. 1662 full </a:t>
            </a:r>
            <a:r>
              <a:rPr lang="en-US" sz="2000" dirty="0" err="1">
                <a:solidFill>
                  <a:srgbClr val="272525"/>
                </a:solidFill>
                <a:latin typeface="Inter"/>
                <a:ea typeface="Inter"/>
                <a:cs typeface="Inter"/>
                <a:sym typeface="Inter"/>
              </a:rPr>
              <a:t>MediaPipe</a:t>
            </a:r>
            <a:r>
              <a:rPr lang="en-US" sz="2000" dirty="0">
                <a:solidFill>
                  <a:srgbClr val="272525"/>
                </a:solidFill>
                <a:latin typeface="Inter"/>
                <a:ea typeface="Inter"/>
                <a:cs typeface="Inter"/>
                <a:sym typeface="Inter"/>
              </a:rPr>
              <a:t>) did not compromise model capacity to learn discriminative temporal patterns.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870499" y="1021261"/>
            <a:ext cx="7586815" cy="796376"/>
          </a:xfrm>
          <a:prstGeom prst="rect">
            <a:avLst/>
          </a:prstGeom>
        </p:spPr>
        <p:txBody>
          <a:bodyPr lIns="0" tIns="0" rIns="0" bIns="0" rtlCol="0" anchor="t">
            <a:spAutoFit/>
          </a:bodyPr>
          <a:lstStyle/>
          <a:p>
            <a:pPr algn="l">
              <a:lnSpc>
                <a:spcPts val="6062"/>
              </a:lnSpc>
            </a:pPr>
            <a:r>
              <a:rPr lang="en-US" sz="4875" b="1">
                <a:solidFill>
                  <a:srgbClr val="000000"/>
                </a:solidFill>
                <a:latin typeface="Inter Bold"/>
                <a:ea typeface="Inter Bold"/>
                <a:cs typeface="Inter Bold"/>
                <a:sym typeface="Inter Bold"/>
              </a:rPr>
              <a:t>Live Gesture Recognition</a:t>
            </a:r>
          </a:p>
        </p:txBody>
      </p:sp>
      <p:sp>
        <p:nvSpPr>
          <p:cNvPr id="7" name="TextBox 7"/>
          <p:cNvSpPr txBox="1"/>
          <p:nvPr/>
        </p:nvSpPr>
        <p:spPr>
          <a:xfrm>
            <a:off x="870499" y="2353570"/>
            <a:ext cx="5119688" cy="475802"/>
          </a:xfrm>
          <a:prstGeom prst="rect">
            <a:avLst/>
          </a:prstGeom>
        </p:spPr>
        <p:txBody>
          <a:bodyPr lIns="0" tIns="0" rIns="0" bIns="0" rtlCol="0" anchor="t">
            <a:spAutoFit/>
          </a:bodyPr>
          <a:lstStyle/>
          <a:p>
            <a:pPr algn="l">
              <a:lnSpc>
                <a:spcPts val="3625"/>
              </a:lnSpc>
            </a:pPr>
            <a:r>
              <a:rPr lang="en-US" sz="2937" b="1">
                <a:solidFill>
                  <a:srgbClr val="000000"/>
                </a:solidFill>
                <a:latin typeface="Inter Bold"/>
                <a:ea typeface="Inter Bold"/>
                <a:cs typeface="Inter Bold"/>
                <a:sym typeface="Inter Bold"/>
              </a:rPr>
              <a:t>Real-time inference pipeline</a:t>
            </a:r>
          </a:p>
        </p:txBody>
      </p:sp>
      <p:grpSp>
        <p:nvGrpSpPr>
          <p:cNvPr id="8" name="Group 8"/>
          <p:cNvGrpSpPr/>
          <p:nvPr/>
        </p:nvGrpSpPr>
        <p:grpSpPr>
          <a:xfrm>
            <a:off x="870499" y="3074784"/>
            <a:ext cx="1243755" cy="2224383"/>
            <a:chOff x="0" y="0"/>
            <a:chExt cx="1658341" cy="2965844"/>
          </a:xfrm>
        </p:grpSpPr>
        <p:sp>
          <p:nvSpPr>
            <p:cNvPr id="9" name="Freeform 9" descr="preencoded.png"/>
            <p:cNvSpPr/>
            <p:nvPr/>
          </p:nvSpPr>
          <p:spPr>
            <a:xfrm>
              <a:off x="0" y="0"/>
              <a:ext cx="1658366" cy="2965831"/>
            </a:xfrm>
            <a:custGeom>
              <a:avLst/>
              <a:gdLst/>
              <a:ahLst/>
              <a:cxnLst/>
              <a:rect l="l" t="t" r="r" b="b"/>
              <a:pathLst>
                <a:path w="1658366" h="2965831">
                  <a:moveTo>
                    <a:pt x="0" y="0"/>
                  </a:moveTo>
                  <a:lnTo>
                    <a:pt x="1658366" y="0"/>
                  </a:lnTo>
                  <a:lnTo>
                    <a:pt x="1658366" y="2965831"/>
                  </a:lnTo>
                  <a:lnTo>
                    <a:pt x="0" y="2965831"/>
                  </a:lnTo>
                  <a:lnTo>
                    <a:pt x="0" y="0"/>
                  </a:lnTo>
                  <a:close/>
                </a:path>
              </a:pathLst>
            </a:custGeom>
            <a:blipFill>
              <a:blip r:embed="rId3"/>
              <a:stretch>
                <a:fillRect l="-61" r="-59"/>
              </a:stretch>
            </a:blipFill>
          </p:spPr>
        </p:sp>
      </p:grpSp>
      <p:sp>
        <p:nvSpPr>
          <p:cNvPr id="10" name="TextBox 10"/>
          <p:cNvSpPr txBox="1"/>
          <p:nvPr/>
        </p:nvSpPr>
        <p:spPr>
          <a:xfrm>
            <a:off x="2332434" y="3313957"/>
            <a:ext cx="3427209" cy="398116"/>
          </a:xfrm>
          <a:prstGeom prst="rect">
            <a:avLst/>
          </a:prstGeom>
        </p:spPr>
        <p:txBody>
          <a:bodyPr lIns="0" tIns="0" rIns="0" bIns="0" rtlCol="0" anchor="t">
            <a:spAutoFit/>
          </a:bodyPr>
          <a:lstStyle/>
          <a:p>
            <a:pPr algn="l">
              <a:lnSpc>
                <a:spcPts val="2999"/>
              </a:lnSpc>
            </a:pPr>
            <a:r>
              <a:rPr lang="en-US" sz="2437" b="1">
                <a:solidFill>
                  <a:srgbClr val="272525"/>
                </a:solidFill>
                <a:latin typeface="Inter Bold"/>
                <a:ea typeface="Inter Bold"/>
                <a:cs typeface="Inter Bold"/>
                <a:sym typeface="Inter Bold"/>
              </a:rPr>
              <a:t>Rolling keypoint buffer</a:t>
            </a:r>
          </a:p>
        </p:txBody>
      </p:sp>
      <p:sp>
        <p:nvSpPr>
          <p:cNvPr id="11" name="TextBox 11"/>
          <p:cNvSpPr txBox="1"/>
          <p:nvPr/>
        </p:nvSpPr>
        <p:spPr>
          <a:xfrm>
            <a:off x="2332434" y="3863578"/>
            <a:ext cx="6508109" cy="1186901"/>
          </a:xfrm>
          <a:prstGeom prst="rect">
            <a:avLst/>
          </a:prstGeom>
        </p:spPr>
        <p:txBody>
          <a:bodyPr lIns="0" tIns="0" rIns="0" bIns="0" rtlCol="0" anchor="t">
            <a:spAutoFit/>
          </a:bodyPr>
          <a:lstStyle/>
          <a:p>
            <a:pPr algn="l">
              <a:lnSpc>
                <a:spcPts val="2937"/>
              </a:lnSpc>
            </a:pPr>
            <a:r>
              <a:rPr lang="en-US" sz="1937">
                <a:solidFill>
                  <a:srgbClr val="272525"/>
                </a:solidFill>
                <a:latin typeface="Inter"/>
                <a:ea typeface="Inter"/>
                <a:cs typeface="Inter"/>
                <a:sym typeface="Inter"/>
              </a:rPr>
              <a:t>accumulates 40 consecutive frames. Once buffer reaches capacity, sequence is passed to LSTM model for prediction.</a:t>
            </a:r>
          </a:p>
        </p:txBody>
      </p:sp>
      <p:grpSp>
        <p:nvGrpSpPr>
          <p:cNvPr id="12" name="Group 12"/>
          <p:cNvGrpSpPr/>
          <p:nvPr/>
        </p:nvGrpSpPr>
        <p:grpSpPr>
          <a:xfrm>
            <a:off x="870499" y="5299177"/>
            <a:ext cx="1243755" cy="1850974"/>
            <a:chOff x="0" y="0"/>
            <a:chExt cx="1658341" cy="2467966"/>
          </a:xfrm>
        </p:grpSpPr>
        <p:sp>
          <p:nvSpPr>
            <p:cNvPr id="13" name="Freeform 13" descr="preencoded.png"/>
            <p:cNvSpPr/>
            <p:nvPr/>
          </p:nvSpPr>
          <p:spPr>
            <a:xfrm>
              <a:off x="0" y="0"/>
              <a:ext cx="1658366" cy="2467991"/>
            </a:xfrm>
            <a:custGeom>
              <a:avLst/>
              <a:gdLst/>
              <a:ahLst/>
              <a:cxnLst/>
              <a:rect l="l" t="t" r="r" b="b"/>
              <a:pathLst>
                <a:path w="1658366" h="2467991">
                  <a:moveTo>
                    <a:pt x="0" y="0"/>
                  </a:moveTo>
                  <a:lnTo>
                    <a:pt x="1658366" y="0"/>
                  </a:lnTo>
                  <a:lnTo>
                    <a:pt x="1658366" y="2467991"/>
                  </a:lnTo>
                  <a:lnTo>
                    <a:pt x="0" y="2467991"/>
                  </a:lnTo>
                  <a:lnTo>
                    <a:pt x="0" y="0"/>
                  </a:lnTo>
                  <a:close/>
                </a:path>
              </a:pathLst>
            </a:custGeom>
            <a:blipFill>
              <a:blip r:embed="rId4"/>
              <a:stretch>
                <a:fillRect l="-246" r="-245" b="1"/>
              </a:stretch>
            </a:blipFill>
          </p:spPr>
        </p:sp>
      </p:grpSp>
      <p:sp>
        <p:nvSpPr>
          <p:cNvPr id="14" name="TextBox 14"/>
          <p:cNvSpPr txBox="1"/>
          <p:nvPr/>
        </p:nvSpPr>
        <p:spPr>
          <a:xfrm>
            <a:off x="2332434" y="5538340"/>
            <a:ext cx="3290735" cy="398116"/>
          </a:xfrm>
          <a:prstGeom prst="rect">
            <a:avLst/>
          </a:prstGeom>
        </p:spPr>
        <p:txBody>
          <a:bodyPr lIns="0" tIns="0" rIns="0" bIns="0" rtlCol="0" anchor="t">
            <a:spAutoFit/>
          </a:bodyPr>
          <a:lstStyle/>
          <a:p>
            <a:pPr algn="l">
              <a:lnSpc>
                <a:spcPts val="2999"/>
              </a:lnSpc>
            </a:pPr>
            <a:r>
              <a:rPr lang="en-US" sz="2437" b="1">
                <a:solidFill>
                  <a:srgbClr val="272525"/>
                </a:solidFill>
                <a:latin typeface="Inter Bold"/>
                <a:ea typeface="Inter Bold"/>
                <a:cs typeface="Inter Bold"/>
                <a:sym typeface="Inter Bold"/>
              </a:rPr>
              <a:t>Confidence threshold</a:t>
            </a:r>
          </a:p>
        </p:txBody>
      </p:sp>
      <p:sp>
        <p:nvSpPr>
          <p:cNvPr id="15" name="TextBox 15"/>
          <p:cNvSpPr txBox="1"/>
          <p:nvPr/>
        </p:nvSpPr>
        <p:spPr>
          <a:xfrm>
            <a:off x="2332434" y="6087961"/>
            <a:ext cx="6508109" cy="813492"/>
          </a:xfrm>
          <a:prstGeom prst="rect">
            <a:avLst/>
          </a:prstGeom>
        </p:spPr>
        <p:txBody>
          <a:bodyPr lIns="0" tIns="0" rIns="0" bIns="0" rtlCol="0" anchor="t">
            <a:spAutoFit/>
          </a:bodyPr>
          <a:lstStyle/>
          <a:p>
            <a:pPr algn="l">
              <a:lnSpc>
                <a:spcPts val="2937"/>
              </a:lnSpc>
            </a:pPr>
            <a:r>
              <a:rPr lang="en-US" sz="1937">
                <a:solidFill>
                  <a:srgbClr val="272525"/>
                </a:solidFill>
                <a:latin typeface="Inter"/>
                <a:ea typeface="Inter"/>
                <a:cs typeface="Inter"/>
                <a:sym typeface="Inter"/>
              </a:rPr>
              <a:t>0.70 (reduced from 0.85 to accommodate expanded vocabulary).</a:t>
            </a:r>
          </a:p>
        </p:txBody>
      </p:sp>
      <p:grpSp>
        <p:nvGrpSpPr>
          <p:cNvPr id="16" name="Group 16"/>
          <p:cNvGrpSpPr/>
          <p:nvPr/>
        </p:nvGrpSpPr>
        <p:grpSpPr>
          <a:xfrm>
            <a:off x="870499" y="7150151"/>
            <a:ext cx="1243755" cy="1850974"/>
            <a:chOff x="0" y="0"/>
            <a:chExt cx="1658341" cy="2467966"/>
          </a:xfrm>
        </p:grpSpPr>
        <p:sp>
          <p:nvSpPr>
            <p:cNvPr id="17" name="Freeform 17" descr="preencoded.png"/>
            <p:cNvSpPr/>
            <p:nvPr/>
          </p:nvSpPr>
          <p:spPr>
            <a:xfrm>
              <a:off x="0" y="0"/>
              <a:ext cx="1658366" cy="2467991"/>
            </a:xfrm>
            <a:custGeom>
              <a:avLst/>
              <a:gdLst/>
              <a:ahLst/>
              <a:cxnLst/>
              <a:rect l="l" t="t" r="r" b="b"/>
              <a:pathLst>
                <a:path w="1658366" h="2467991">
                  <a:moveTo>
                    <a:pt x="0" y="0"/>
                  </a:moveTo>
                  <a:lnTo>
                    <a:pt x="1658366" y="0"/>
                  </a:lnTo>
                  <a:lnTo>
                    <a:pt x="1658366" y="2467991"/>
                  </a:lnTo>
                  <a:lnTo>
                    <a:pt x="0" y="2467991"/>
                  </a:lnTo>
                  <a:lnTo>
                    <a:pt x="0" y="0"/>
                  </a:lnTo>
                  <a:close/>
                </a:path>
              </a:pathLst>
            </a:custGeom>
            <a:blipFill>
              <a:blip r:embed="rId5"/>
              <a:stretch>
                <a:fillRect l="-246" r="-245" b="1"/>
              </a:stretch>
            </a:blipFill>
          </p:spPr>
        </p:sp>
      </p:grpSp>
      <p:sp>
        <p:nvSpPr>
          <p:cNvPr id="18" name="TextBox 18"/>
          <p:cNvSpPr txBox="1"/>
          <p:nvPr/>
        </p:nvSpPr>
        <p:spPr>
          <a:xfrm>
            <a:off x="2332434" y="7389314"/>
            <a:ext cx="4146947" cy="398116"/>
          </a:xfrm>
          <a:prstGeom prst="rect">
            <a:avLst/>
          </a:prstGeom>
        </p:spPr>
        <p:txBody>
          <a:bodyPr lIns="0" tIns="0" rIns="0" bIns="0" rtlCol="0" anchor="t">
            <a:spAutoFit/>
          </a:bodyPr>
          <a:lstStyle/>
          <a:p>
            <a:pPr algn="l">
              <a:lnSpc>
                <a:spcPts val="2999"/>
              </a:lnSpc>
            </a:pPr>
            <a:r>
              <a:rPr lang="en-US" sz="2437" b="1">
                <a:solidFill>
                  <a:srgbClr val="272525"/>
                </a:solidFill>
                <a:latin typeface="Inter Bold"/>
                <a:ea typeface="Inter Bold"/>
                <a:cs typeface="Inter Bold"/>
                <a:sym typeface="Inter Bold"/>
              </a:rPr>
              <a:t>Temporal consistency filter</a:t>
            </a:r>
          </a:p>
        </p:txBody>
      </p:sp>
      <p:sp>
        <p:nvSpPr>
          <p:cNvPr id="19" name="TextBox 19"/>
          <p:cNvSpPr txBox="1"/>
          <p:nvPr/>
        </p:nvSpPr>
        <p:spPr>
          <a:xfrm>
            <a:off x="2332434" y="7938935"/>
            <a:ext cx="6508109" cy="813492"/>
          </a:xfrm>
          <a:prstGeom prst="rect">
            <a:avLst/>
          </a:prstGeom>
        </p:spPr>
        <p:txBody>
          <a:bodyPr lIns="0" tIns="0" rIns="0" bIns="0" rtlCol="0" anchor="t">
            <a:spAutoFit/>
          </a:bodyPr>
          <a:lstStyle/>
          <a:p>
            <a:pPr algn="l">
              <a:lnSpc>
                <a:spcPts val="2937"/>
              </a:lnSpc>
            </a:pPr>
            <a:r>
              <a:rPr lang="en-US" sz="1937">
                <a:solidFill>
                  <a:srgbClr val="272525"/>
                </a:solidFill>
                <a:latin typeface="Inter"/>
                <a:ea typeface="Inter"/>
                <a:cs typeface="Inter"/>
                <a:sym typeface="Inter"/>
              </a:rPr>
              <a:t>requires agreement across 10 consecutive frames to suppress noise.</a:t>
            </a:r>
          </a:p>
        </p:txBody>
      </p:sp>
      <p:sp>
        <p:nvSpPr>
          <p:cNvPr id="20" name="TextBox 20"/>
          <p:cNvSpPr txBox="1"/>
          <p:nvPr/>
        </p:nvSpPr>
        <p:spPr>
          <a:xfrm>
            <a:off x="9456982" y="2353570"/>
            <a:ext cx="3844823" cy="475802"/>
          </a:xfrm>
          <a:prstGeom prst="rect">
            <a:avLst/>
          </a:prstGeom>
        </p:spPr>
        <p:txBody>
          <a:bodyPr lIns="0" tIns="0" rIns="0" bIns="0" rtlCol="0" anchor="t">
            <a:spAutoFit/>
          </a:bodyPr>
          <a:lstStyle/>
          <a:p>
            <a:pPr algn="l">
              <a:lnSpc>
                <a:spcPts val="3625"/>
              </a:lnSpc>
            </a:pPr>
            <a:r>
              <a:rPr lang="en-US" sz="2937" b="1">
                <a:solidFill>
                  <a:srgbClr val="000000"/>
                </a:solidFill>
                <a:latin typeface="Inter Bold"/>
                <a:ea typeface="Inter Bold"/>
                <a:cs typeface="Inter Bold"/>
                <a:sym typeface="Inter Bold"/>
              </a:rPr>
              <a:t>Performance metrics</a:t>
            </a:r>
          </a:p>
        </p:txBody>
      </p:sp>
      <p:grpSp>
        <p:nvGrpSpPr>
          <p:cNvPr id="21" name="Group 21"/>
          <p:cNvGrpSpPr/>
          <p:nvPr/>
        </p:nvGrpSpPr>
        <p:grpSpPr>
          <a:xfrm>
            <a:off x="9442694" y="3060497"/>
            <a:ext cx="7998619" cy="1563291"/>
            <a:chOff x="0" y="0"/>
            <a:chExt cx="10664825" cy="2084388"/>
          </a:xfrm>
        </p:grpSpPr>
        <p:sp>
          <p:nvSpPr>
            <p:cNvPr id="22" name="Freeform 22"/>
            <p:cNvSpPr/>
            <p:nvPr/>
          </p:nvSpPr>
          <p:spPr>
            <a:xfrm>
              <a:off x="19050" y="19050"/>
              <a:ext cx="10626725" cy="2046351"/>
            </a:xfrm>
            <a:custGeom>
              <a:avLst/>
              <a:gdLst/>
              <a:ahLst/>
              <a:cxnLst/>
              <a:rect l="l" t="t" r="r" b="b"/>
              <a:pathLst>
                <a:path w="10626725" h="2046351">
                  <a:moveTo>
                    <a:pt x="0" y="139319"/>
                  </a:moveTo>
                  <a:cubicBezTo>
                    <a:pt x="0" y="62357"/>
                    <a:pt x="63246" y="0"/>
                    <a:pt x="141351" y="0"/>
                  </a:cubicBezTo>
                  <a:lnTo>
                    <a:pt x="10485374" y="0"/>
                  </a:lnTo>
                  <a:cubicBezTo>
                    <a:pt x="10563479" y="0"/>
                    <a:pt x="10626725" y="62357"/>
                    <a:pt x="10626725" y="139319"/>
                  </a:cubicBezTo>
                  <a:lnTo>
                    <a:pt x="10626725" y="1907032"/>
                  </a:lnTo>
                  <a:cubicBezTo>
                    <a:pt x="10626725" y="1983994"/>
                    <a:pt x="10563479" y="2046351"/>
                    <a:pt x="10485374" y="2046351"/>
                  </a:cubicBezTo>
                  <a:lnTo>
                    <a:pt x="141351" y="2046351"/>
                  </a:lnTo>
                  <a:cubicBezTo>
                    <a:pt x="63246" y="2046351"/>
                    <a:pt x="0" y="1983994"/>
                    <a:pt x="0" y="1907032"/>
                  </a:cubicBezTo>
                  <a:close/>
                </a:path>
              </a:pathLst>
            </a:custGeom>
            <a:solidFill>
              <a:srgbClr val="FFFFFF"/>
            </a:solidFill>
          </p:spPr>
        </p:sp>
        <p:sp>
          <p:nvSpPr>
            <p:cNvPr id="23" name="Freeform 23"/>
            <p:cNvSpPr/>
            <p:nvPr/>
          </p:nvSpPr>
          <p:spPr>
            <a:xfrm>
              <a:off x="0" y="0"/>
              <a:ext cx="10664825" cy="2084451"/>
            </a:xfrm>
            <a:custGeom>
              <a:avLst/>
              <a:gdLst/>
              <a:ahLst/>
              <a:cxnLst/>
              <a:rect l="l" t="t" r="r" b="b"/>
              <a:pathLst>
                <a:path w="10664825" h="2084451">
                  <a:moveTo>
                    <a:pt x="0" y="158369"/>
                  </a:moveTo>
                  <a:cubicBezTo>
                    <a:pt x="0" y="70612"/>
                    <a:pt x="72136" y="0"/>
                    <a:pt x="160401" y="0"/>
                  </a:cubicBezTo>
                  <a:lnTo>
                    <a:pt x="10504424" y="0"/>
                  </a:lnTo>
                  <a:lnTo>
                    <a:pt x="10504424" y="19050"/>
                  </a:lnTo>
                  <a:lnTo>
                    <a:pt x="10504424" y="0"/>
                  </a:lnTo>
                  <a:cubicBezTo>
                    <a:pt x="10592816" y="0"/>
                    <a:pt x="10664825" y="70612"/>
                    <a:pt x="10664825" y="158369"/>
                  </a:cubicBezTo>
                  <a:lnTo>
                    <a:pt x="10645775" y="158369"/>
                  </a:lnTo>
                  <a:lnTo>
                    <a:pt x="10664825" y="158369"/>
                  </a:lnTo>
                  <a:lnTo>
                    <a:pt x="10664825" y="1926082"/>
                  </a:lnTo>
                  <a:lnTo>
                    <a:pt x="10645775" y="1926082"/>
                  </a:lnTo>
                  <a:lnTo>
                    <a:pt x="10664825" y="1926082"/>
                  </a:lnTo>
                  <a:cubicBezTo>
                    <a:pt x="10664825" y="2013839"/>
                    <a:pt x="10592689" y="2084451"/>
                    <a:pt x="10504424" y="2084451"/>
                  </a:cubicBezTo>
                  <a:lnTo>
                    <a:pt x="10504424" y="2065401"/>
                  </a:lnTo>
                  <a:lnTo>
                    <a:pt x="10504424" y="2084451"/>
                  </a:lnTo>
                  <a:lnTo>
                    <a:pt x="160401" y="2084451"/>
                  </a:lnTo>
                  <a:lnTo>
                    <a:pt x="160401" y="2065401"/>
                  </a:lnTo>
                  <a:lnTo>
                    <a:pt x="160401" y="2084451"/>
                  </a:lnTo>
                  <a:cubicBezTo>
                    <a:pt x="72136" y="2084451"/>
                    <a:pt x="0" y="2013712"/>
                    <a:pt x="0" y="1926082"/>
                  </a:cubicBezTo>
                  <a:lnTo>
                    <a:pt x="0" y="158369"/>
                  </a:lnTo>
                  <a:lnTo>
                    <a:pt x="19050" y="158369"/>
                  </a:lnTo>
                  <a:lnTo>
                    <a:pt x="0" y="158369"/>
                  </a:lnTo>
                  <a:moveTo>
                    <a:pt x="38100" y="158369"/>
                  </a:moveTo>
                  <a:lnTo>
                    <a:pt x="38100" y="1926082"/>
                  </a:lnTo>
                  <a:lnTo>
                    <a:pt x="19050" y="1926082"/>
                  </a:lnTo>
                  <a:lnTo>
                    <a:pt x="38100" y="1926082"/>
                  </a:lnTo>
                  <a:cubicBezTo>
                    <a:pt x="38100" y="1992249"/>
                    <a:pt x="92583" y="2046351"/>
                    <a:pt x="160401" y="2046351"/>
                  </a:cubicBezTo>
                  <a:lnTo>
                    <a:pt x="10504424" y="2046351"/>
                  </a:lnTo>
                  <a:cubicBezTo>
                    <a:pt x="10572242" y="2046351"/>
                    <a:pt x="10626725" y="1992249"/>
                    <a:pt x="10626725" y="1926082"/>
                  </a:cubicBezTo>
                  <a:lnTo>
                    <a:pt x="10626725" y="158369"/>
                  </a:lnTo>
                  <a:cubicBezTo>
                    <a:pt x="10626725" y="92202"/>
                    <a:pt x="10572242" y="38100"/>
                    <a:pt x="10504424" y="38100"/>
                  </a:cubicBezTo>
                  <a:lnTo>
                    <a:pt x="160401" y="38100"/>
                  </a:lnTo>
                  <a:lnTo>
                    <a:pt x="160401" y="19050"/>
                  </a:lnTo>
                  <a:lnTo>
                    <a:pt x="160401" y="38100"/>
                  </a:lnTo>
                  <a:cubicBezTo>
                    <a:pt x="92583" y="38100"/>
                    <a:pt x="38100" y="92202"/>
                    <a:pt x="38100" y="158369"/>
                  </a:cubicBezTo>
                  <a:close/>
                </a:path>
              </a:pathLst>
            </a:custGeom>
            <a:solidFill>
              <a:srgbClr val="C0C1D7"/>
            </a:solidFill>
          </p:spPr>
        </p:sp>
      </p:grpSp>
      <p:sp>
        <p:nvSpPr>
          <p:cNvPr id="24" name="TextBox 24"/>
          <p:cNvSpPr txBox="1"/>
          <p:nvPr/>
        </p:nvSpPr>
        <p:spPr>
          <a:xfrm>
            <a:off x="9734255" y="3342532"/>
            <a:ext cx="3389109" cy="398116"/>
          </a:xfrm>
          <a:prstGeom prst="rect">
            <a:avLst/>
          </a:prstGeom>
        </p:spPr>
        <p:txBody>
          <a:bodyPr lIns="0" tIns="0" rIns="0" bIns="0" rtlCol="0" anchor="t">
            <a:spAutoFit/>
          </a:bodyPr>
          <a:lstStyle/>
          <a:p>
            <a:pPr algn="l">
              <a:lnSpc>
                <a:spcPts val="2999"/>
              </a:lnSpc>
            </a:pPr>
            <a:r>
              <a:rPr lang="en-US" sz="2437" b="1">
                <a:solidFill>
                  <a:srgbClr val="272525"/>
                </a:solidFill>
                <a:latin typeface="Inter Bold"/>
                <a:ea typeface="Inter Bold"/>
                <a:cs typeface="Inter Bold"/>
                <a:sym typeface="Inter Bold"/>
              </a:rPr>
              <a:t>Frame processing rate</a:t>
            </a:r>
          </a:p>
        </p:txBody>
      </p:sp>
      <p:sp>
        <p:nvSpPr>
          <p:cNvPr id="25" name="TextBox 25"/>
          <p:cNvSpPr txBox="1"/>
          <p:nvPr/>
        </p:nvSpPr>
        <p:spPr>
          <a:xfrm>
            <a:off x="9734255" y="3892153"/>
            <a:ext cx="7415508" cy="440084"/>
          </a:xfrm>
          <a:prstGeom prst="rect">
            <a:avLst/>
          </a:prstGeom>
        </p:spPr>
        <p:txBody>
          <a:bodyPr lIns="0" tIns="0" rIns="0" bIns="0" rtlCol="0" anchor="t">
            <a:spAutoFit/>
          </a:bodyPr>
          <a:lstStyle/>
          <a:p>
            <a:pPr algn="l">
              <a:lnSpc>
                <a:spcPts val="2937"/>
              </a:lnSpc>
            </a:pPr>
            <a:r>
              <a:rPr lang="en-US" sz="1937">
                <a:solidFill>
                  <a:srgbClr val="272525"/>
                </a:solidFill>
                <a:latin typeface="Inter"/>
                <a:ea typeface="Inter"/>
                <a:cs typeface="Inter"/>
                <a:sym typeface="Inter"/>
              </a:rPr>
              <a:t>24-30 FPS on standard laptop CPU.</a:t>
            </a:r>
          </a:p>
        </p:txBody>
      </p:sp>
      <p:grpSp>
        <p:nvGrpSpPr>
          <p:cNvPr id="26" name="Group 26"/>
          <p:cNvGrpSpPr/>
          <p:nvPr/>
        </p:nvGrpSpPr>
        <p:grpSpPr>
          <a:xfrm>
            <a:off x="9442694" y="4813402"/>
            <a:ext cx="7998619" cy="1936699"/>
            <a:chOff x="0" y="0"/>
            <a:chExt cx="10664825" cy="2582266"/>
          </a:xfrm>
        </p:grpSpPr>
        <p:sp>
          <p:nvSpPr>
            <p:cNvPr id="27" name="Freeform 27"/>
            <p:cNvSpPr/>
            <p:nvPr/>
          </p:nvSpPr>
          <p:spPr>
            <a:xfrm>
              <a:off x="19050" y="19050"/>
              <a:ext cx="10626725" cy="2544191"/>
            </a:xfrm>
            <a:custGeom>
              <a:avLst/>
              <a:gdLst/>
              <a:ahLst/>
              <a:cxnLst/>
              <a:rect l="l" t="t" r="r" b="b"/>
              <a:pathLst>
                <a:path w="10626725" h="2544191">
                  <a:moveTo>
                    <a:pt x="0" y="139319"/>
                  </a:moveTo>
                  <a:cubicBezTo>
                    <a:pt x="0" y="62357"/>
                    <a:pt x="63119" y="0"/>
                    <a:pt x="140843" y="0"/>
                  </a:cubicBezTo>
                  <a:lnTo>
                    <a:pt x="10485882" y="0"/>
                  </a:lnTo>
                  <a:cubicBezTo>
                    <a:pt x="10563733" y="0"/>
                    <a:pt x="10626725" y="62357"/>
                    <a:pt x="10626725" y="139319"/>
                  </a:cubicBezTo>
                  <a:lnTo>
                    <a:pt x="10626725" y="2404872"/>
                  </a:lnTo>
                  <a:cubicBezTo>
                    <a:pt x="10626725" y="2481834"/>
                    <a:pt x="10563606" y="2544191"/>
                    <a:pt x="10485882" y="2544191"/>
                  </a:cubicBezTo>
                  <a:lnTo>
                    <a:pt x="140843" y="2544191"/>
                  </a:lnTo>
                  <a:cubicBezTo>
                    <a:pt x="62992" y="2544191"/>
                    <a:pt x="0" y="2481834"/>
                    <a:pt x="0" y="2404872"/>
                  </a:cubicBezTo>
                  <a:close/>
                </a:path>
              </a:pathLst>
            </a:custGeom>
            <a:solidFill>
              <a:srgbClr val="FFFFFF"/>
            </a:solidFill>
          </p:spPr>
        </p:sp>
        <p:sp>
          <p:nvSpPr>
            <p:cNvPr id="28" name="Freeform 28"/>
            <p:cNvSpPr/>
            <p:nvPr/>
          </p:nvSpPr>
          <p:spPr>
            <a:xfrm>
              <a:off x="0" y="0"/>
              <a:ext cx="10664825" cy="2582291"/>
            </a:xfrm>
            <a:custGeom>
              <a:avLst/>
              <a:gdLst/>
              <a:ahLst/>
              <a:cxnLst/>
              <a:rect l="l" t="t" r="r" b="b"/>
              <a:pathLst>
                <a:path w="10664825" h="2582291">
                  <a:moveTo>
                    <a:pt x="0" y="158369"/>
                  </a:moveTo>
                  <a:cubicBezTo>
                    <a:pt x="0" y="70739"/>
                    <a:pt x="71755" y="0"/>
                    <a:pt x="159893" y="0"/>
                  </a:cubicBezTo>
                  <a:lnTo>
                    <a:pt x="10504932" y="0"/>
                  </a:lnTo>
                  <a:lnTo>
                    <a:pt x="10504932" y="19050"/>
                  </a:lnTo>
                  <a:lnTo>
                    <a:pt x="10504932" y="0"/>
                  </a:lnTo>
                  <a:cubicBezTo>
                    <a:pt x="10593070" y="0"/>
                    <a:pt x="10664825" y="70739"/>
                    <a:pt x="10664825" y="158369"/>
                  </a:cubicBezTo>
                  <a:lnTo>
                    <a:pt x="10645775" y="158369"/>
                  </a:lnTo>
                  <a:lnTo>
                    <a:pt x="10664825" y="158369"/>
                  </a:lnTo>
                  <a:lnTo>
                    <a:pt x="10664825" y="2423922"/>
                  </a:lnTo>
                  <a:lnTo>
                    <a:pt x="10645775" y="2423922"/>
                  </a:lnTo>
                  <a:lnTo>
                    <a:pt x="10664825" y="2423922"/>
                  </a:lnTo>
                  <a:cubicBezTo>
                    <a:pt x="10664825" y="2511552"/>
                    <a:pt x="10593070" y="2582291"/>
                    <a:pt x="10504932" y="2582291"/>
                  </a:cubicBezTo>
                  <a:lnTo>
                    <a:pt x="10504932" y="2563241"/>
                  </a:lnTo>
                  <a:lnTo>
                    <a:pt x="10504932" y="2582291"/>
                  </a:lnTo>
                  <a:lnTo>
                    <a:pt x="159893" y="2582291"/>
                  </a:lnTo>
                  <a:lnTo>
                    <a:pt x="159893" y="2563241"/>
                  </a:lnTo>
                  <a:lnTo>
                    <a:pt x="159893" y="2582291"/>
                  </a:lnTo>
                  <a:cubicBezTo>
                    <a:pt x="71755" y="2582291"/>
                    <a:pt x="0" y="2511552"/>
                    <a:pt x="0" y="2423922"/>
                  </a:cubicBezTo>
                  <a:lnTo>
                    <a:pt x="0" y="158369"/>
                  </a:lnTo>
                  <a:lnTo>
                    <a:pt x="19050" y="158369"/>
                  </a:lnTo>
                  <a:lnTo>
                    <a:pt x="0" y="158369"/>
                  </a:lnTo>
                  <a:moveTo>
                    <a:pt x="38100" y="158369"/>
                  </a:moveTo>
                  <a:lnTo>
                    <a:pt x="38100" y="2423922"/>
                  </a:lnTo>
                  <a:lnTo>
                    <a:pt x="19050" y="2423922"/>
                  </a:lnTo>
                  <a:lnTo>
                    <a:pt x="38100" y="2423922"/>
                  </a:lnTo>
                  <a:cubicBezTo>
                    <a:pt x="38100" y="2490089"/>
                    <a:pt x="92456" y="2544191"/>
                    <a:pt x="159893" y="2544191"/>
                  </a:cubicBezTo>
                  <a:lnTo>
                    <a:pt x="10504932" y="2544191"/>
                  </a:lnTo>
                  <a:cubicBezTo>
                    <a:pt x="10572369" y="2544191"/>
                    <a:pt x="10626725" y="2490216"/>
                    <a:pt x="10626725" y="2423922"/>
                  </a:cubicBezTo>
                  <a:lnTo>
                    <a:pt x="10626725" y="158369"/>
                  </a:lnTo>
                  <a:cubicBezTo>
                    <a:pt x="10626725" y="92202"/>
                    <a:pt x="10572369" y="38100"/>
                    <a:pt x="10504932" y="38100"/>
                  </a:cubicBezTo>
                  <a:lnTo>
                    <a:pt x="159893" y="38100"/>
                  </a:lnTo>
                  <a:lnTo>
                    <a:pt x="159893" y="19050"/>
                  </a:lnTo>
                  <a:lnTo>
                    <a:pt x="159893" y="38100"/>
                  </a:lnTo>
                  <a:cubicBezTo>
                    <a:pt x="92456" y="38100"/>
                    <a:pt x="38100" y="92075"/>
                    <a:pt x="38100" y="158369"/>
                  </a:cubicBezTo>
                  <a:close/>
                </a:path>
              </a:pathLst>
            </a:custGeom>
            <a:solidFill>
              <a:srgbClr val="C0C1D7"/>
            </a:solidFill>
          </p:spPr>
        </p:sp>
      </p:grpSp>
      <p:sp>
        <p:nvSpPr>
          <p:cNvPr id="29" name="TextBox 29"/>
          <p:cNvSpPr txBox="1"/>
          <p:nvPr/>
        </p:nvSpPr>
        <p:spPr>
          <a:xfrm>
            <a:off x="9734255" y="5095427"/>
            <a:ext cx="3109322" cy="398116"/>
          </a:xfrm>
          <a:prstGeom prst="rect">
            <a:avLst/>
          </a:prstGeom>
        </p:spPr>
        <p:txBody>
          <a:bodyPr lIns="0" tIns="0" rIns="0" bIns="0" rtlCol="0" anchor="t">
            <a:spAutoFit/>
          </a:bodyPr>
          <a:lstStyle/>
          <a:p>
            <a:pPr algn="l">
              <a:lnSpc>
                <a:spcPts val="2999"/>
              </a:lnSpc>
            </a:pPr>
            <a:r>
              <a:rPr lang="en-US" sz="2437" b="1">
                <a:solidFill>
                  <a:srgbClr val="272525"/>
                </a:solidFill>
                <a:latin typeface="Inter Bold"/>
                <a:ea typeface="Inter Bold"/>
                <a:cs typeface="Inter Bold"/>
                <a:sym typeface="Inter Bold"/>
              </a:rPr>
              <a:t>No-hands detection</a:t>
            </a:r>
          </a:p>
        </p:txBody>
      </p:sp>
      <p:sp>
        <p:nvSpPr>
          <p:cNvPr id="30" name="TextBox 30"/>
          <p:cNvSpPr txBox="1"/>
          <p:nvPr/>
        </p:nvSpPr>
        <p:spPr>
          <a:xfrm>
            <a:off x="9734255" y="5548536"/>
            <a:ext cx="7415508" cy="813492"/>
          </a:xfrm>
          <a:prstGeom prst="rect">
            <a:avLst/>
          </a:prstGeom>
        </p:spPr>
        <p:txBody>
          <a:bodyPr lIns="0" tIns="0" rIns="0" bIns="0" rtlCol="0" anchor="t">
            <a:spAutoFit/>
          </a:bodyPr>
          <a:lstStyle/>
          <a:p>
            <a:pPr algn="l">
              <a:lnSpc>
                <a:spcPts val="2937"/>
              </a:lnSpc>
            </a:pPr>
            <a:r>
              <a:rPr lang="en-US" sz="1937" dirty="0">
                <a:solidFill>
                  <a:srgbClr val="272525"/>
                </a:solidFill>
                <a:latin typeface="Inter"/>
                <a:ea typeface="Inter"/>
                <a:cs typeface="Inter"/>
                <a:sym typeface="Inter"/>
              </a:rPr>
              <a:t>When no hand landmarks are detected, prediction buffer resets automatically to prevent stale predictions from influencing output.</a:t>
            </a:r>
          </a:p>
        </p:txBody>
      </p:sp>
      <p:grpSp>
        <p:nvGrpSpPr>
          <p:cNvPr id="31" name="Group 31"/>
          <p:cNvGrpSpPr/>
          <p:nvPr/>
        </p:nvGrpSpPr>
        <p:grpSpPr>
          <a:xfrm>
            <a:off x="9442694" y="6939705"/>
            <a:ext cx="7998619" cy="1936699"/>
            <a:chOff x="0" y="0"/>
            <a:chExt cx="10664825" cy="2582266"/>
          </a:xfrm>
        </p:grpSpPr>
        <p:sp>
          <p:nvSpPr>
            <p:cNvPr id="32" name="Freeform 32"/>
            <p:cNvSpPr/>
            <p:nvPr/>
          </p:nvSpPr>
          <p:spPr>
            <a:xfrm>
              <a:off x="19050" y="19050"/>
              <a:ext cx="10626725" cy="2544191"/>
            </a:xfrm>
            <a:custGeom>
              <a:avLst/>
              <a:gdLst/>
              <a:ahLst/>
              <a:cxnLst/>
              <a:rect l="l" t="t" r="r" b="b"/>
              <a:pathLst>
                <a:path w="10626725" h="2544191">
                  <a:moveTo>
                    <a:pt x="0" y="139319"/>
                  </a:moveTo>
                  <a:cubicBezTo>
                    <a:pt x="0" y="62357"/>
                    <a:pt x="63119" y="0"/>
                    <a:pt x="140843" y="0"/>
                  </a:cubicBezTo>
                  <a:lnTo>
                    <a:pt x="10485882" y="0"/>
                  </a:lnTo>
                  <a:cubicBezTo>
                    <a:pt x="10563733" y="0"/>
                    <a:pt x="10626725" y="62357"/>
                    <a:pt x="10626725" y="139319"/>
                  </a:cubicBezTo>
                  <a:lnTo>
                    <a:pt x="10626725" y="2404872"/>
                  </a:lnTo>
                  <a:cubicBezTo>
                    <a:pt x="10626725" y="2481834"/>
                    <a:pt x="10563606" y="2544191"/>
                    <a:pt x="10485882" y="2544191"/>
                  </a:cubicBezTo>
                  <a:lnTo>
                    <a:pt x="140843" y="2544191"/>
                  </a:lnTo>
                  <a:cubicBezTo>
                    <a:pt x="62992" y="2544191"/>
                    <a:pt x="0" y="2481834"/>
                    <a:pt x="0" y="2404872"/>
                  </a:cubicBezTo>
                  <a:close/>
                </a:path>
              </a:pathLst>
            </a:custGeom>
            <a:solidFill>
              <a:srgbClr val="FFFFFF"/>
            </a:solidFill>
          </p:spPr>
        </p:sp>
        <p:sp>
          <p:nvSpPr>
            <p:cNvPr id="33" name="Freeform 33"/>
            <p:cNvSpPr/>
            <p:nvPr/>
          </p:nvSpPr>
          <p:spPr>
            <a:xfrm>
              <a:off x="0" y="0"/>
              <a:ext cx="10664825" cy="2582291"/>
            </a:xfrm>
            <a:custGeom>
              <a:avLst/>
              <a:gdLst/>
              <a:ahLst/>
              <a:cxnLst/>
              <a:rect l="l" t="t" r="r" b="b"/>
              <a:pathLst>
                <a:path w="10664825" h="2582291">
                  <a:moveTo>
                    <a:pt x="0" y="158369"/>
                  </a:moveTo>
                  <a:cubicBezTo>
                    <a:pt x="0" y="70739"/>
                    <a:pt x="71755" y="0"/>
                    <a:pt x="159893" y="0"/>
                  </a:cubicBezTo>
                  <a:lnTo>
                    <a:pt x="10504932" y="0"/>
                  </a:lnTo>
                  <a:lnTo>
                    <a:pt x="10504932" y="19050"/>
                  </a:lnTo>
                  <a:lnTo>
                    <a:pt x="10504932" y="0"/>
                  </a:lnTo>
                  <a:cubicBezTo>
                    <a:pt x="10593070" y="0"/>
                    <a:pt x="10664825" y="70739"/>
                    <a:pt x="10664825" y="158369"/>
                  </a:cubicBezTo>
                  <a:lnTo>
                    <a:pt x="10645775" y="158369"/>
                  </a:lnTo>
                  <a:lnTo>
                    <a:pt x="10664825" y="158369"/>
                  </a:lnTo>
                  <a:lnTo>
                    <a:pt x="10664825" y="2423922"/>
                  </a:lnTo>
                  <a:lnTo>
                    <a:pt x="10645775" y="2423922"/>
                  </a:lnTo>
                  <a:lnTo>
                    <a:pt x="10664825" y="2423922"/>
                  </a:lnTo>
                  <a:cubicBezTo>
                    <a:pt x="10664825" y="2511552"/>
                    <a:pt x="10593070" y="2582291"/>
                    <a:pt x="10504932" y="2582291"/>
                  </a:cubicBezTo>
                  <a:lnTo>
                    <a:pt x="10504932" y="2563241"/>
                  </a:lnTo>
                  <a:lnTo>
                    <a:pt x="10504932" y="2582291"/>
                  </a:lnTo>
                  <a:lnTo>
                    <a:pt x="159893" y="2582291"/>
                  </a:lnTo>
                  <a:lnTo>
                    <a:pt x="159893" y="2563241"/>
                  </a:lnTo>
                  <a:lnTo>
                    <a:pt x="159893" y="2582291"/>
                  </a:lnTo>
                  <a:cubicBezTo>
                    <a:pt x="71755" y="2582291"/>
                    <a:pt x="0" y="2511552"/>
                    <a:pt x="0" y="2423922"/>
                  </a:cubicBezTo>
                  <a:lnTo>
                    <a:pt x="0" y="158369"/>
                  </a:lnTo>
                  <a:lnTo>
                    <a:pt x="19050" y="158369"/>
                  </a:lnTo>
                  <a:lnTo>
                    <a:pt x="0" y="158369"/>
                  </a:lnTo>
                  <a:moveTo>
                    <a:pt x="38100" y="158369"/>
                  </a:moveTo>
                  <a:lnTo>
                    <a:pt x="38100" y="2423922"/>
                  </a:lnTo>
                  <a:lnTo>
                    <a:pt x="19050" y="2423922"/>
                  </a:lnTo>
                  <a:lnTo>
                    <a:pt x="38100" y="2423922"/>
                  </a:lnTo>
                  <a:cubicBezTo>
                    <a:pt x="38100" y="2490089"/>
                    <a:pt x="92456" y="2544191"/>
                    <a:pt x="159893" y="2544191"/>
                  </a:cubicBezTo>
                  <a:lnTo>
                    <a:pt x="10504932" y="2544191"/>
                  </a:lnTo>
                  <a:cubicBezTo>
                    <a:pt x="10572369" y="2544191"/>
                    <a:pt x="10626725" y="2490216"/>
                    <a:pt x="10626725" y="2423922"/>
                  </a:cubicBezTo>
                  <a:lnTo>
                    <a:pt x="10626725" y="158369"/>
                  </a:lnTo>
                  <a:cubicBezTo>
                    <a:pt x="10626725" y="92202"/>
                    <a:pt x="10572369" y="38100"/>
                    <a:pt x="10504932" y="38100"/>
                  </a:cubicBezTo>
                  <a:lnTo>
                    <a:pt x="159893" y="38100"/>
                  </a:lnTo>
                  <a:lnTo>
                    <a:pt x="159893" y="19050"/>
                  </a:lnTo>
                  <a:lnTo>
                    <a:pt x="159893" y="38100"/>
                  </a:lnTo>
                  <a:cubicBezTo>
                    <a:pt x="92456" y="38100"/>
                    <a:pt x="38100" y="92075"/>
                    <a:pt x="38100" y="158369"/>
                  </a:cubicBezTo>
                  <a:close/>
                </a:path>
              </a:pathLst>
            </a:custGeom>
            <a:solidFill>
              <a:srgbClr val="C0C1D7"/>
            </a:solidFill>
          </p:spPr>
        </p:sp>
      </p:grpSp>
      <p:sp>
        <p:nvSpPr>
          <p:cNvPr id="34" name="TextBox 34"/>
          <p:cNvSpPr txBox="1"/>
          <p:nvPr/>
        </p:nvSpPr>
        <p:spPr>
          <a:xfrm>
            <a:off x="9734255" y="7221741"/>
            <a:ext cx="3109322" cy="398116"/>
          </a:xfrm>
          <a:prstGeom prst="rect">
            <a:avLst/>
          </a:prstGeom>
        </p:spPr>
        <p:txBody>
          <a:bodyPr lIns="0" tIns="0" rIns="0" bIns="0" rtlCol="0" anchor="t">
            <a:spAutoFit/>
          </a:bodyPr>
          <a:lstStyle/>
          <a:p>
            <a:pPr algn="l">
              <a:lnSpc>
                <a:spcPts val="2999"/>
              </a:lnSpc>
            </a:pPr>
            <a:r>
              <a:rPr lang="en-US" sz="2437" b="1">
                <a:solidFill>
                  <a:srgbClr val="272525"/>
                </a:solidFill>
                <a:latin typeface="Inter Bold"/>
                <a:ea typeface="Inter Bold"/>
                <a:cs typeface="Inter Bold"/>
                <a:sym typeface="Inter Bold"/>
              </a:rPr>
              <a:t>Visual overlays</a:t>
            </a:r>
          </a:p>
        </p:txBody>
      </p:sp>
      <p:sp>
        <p:nvSpPr>
          <p:cNvPr id="35" name="TextBox 35"/>
          <p:cNvSpPr txBox="1"/>
          <p:nvPr/>
        </p:nvSpPr>
        <p:spPr>
          <a:xfrm>
            <a:off x="9734255" y="7771362"/>
            <a:ext cx="7415508" cy="813492"/>
          </a:xfrm>
          <a:prstGeom prst="rect">
            <a:avLst/>
          </a:prstGeom>
        </p:spPr>
        <p:txBody>
          <a:bodyPr lIns="0" tIns="0" rIns="0" bIns="0" rtlCol="0" anchor="t">
            <a:spAutoFit/>
          </a:bodyPr>
          <a:lstStyle/>
          <a:p>
            <a:pPr algn="l">
              <a:lnSpc>
                <a:spcPts val="2937"/>
              </a:lnSpc>
            </a:pPr>
            <a:r>
              <a:rPr lang="en-US" sz="1937">
                <a:solidFill>
                  <a:srgbClr val="272525"/>
                </a:solidFill>
                <a:latin typeface="Inter"/>
                <a:ea typeface="Inter"/>
                <a:cs typeface="Inter"/>
                <a:sym typeface="Inter"/>
              </a:rPr>
              <a:t>display predicted gesture label and confidence score in real-time.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751580" y="1398384"/>
            <a:ext cx="6728670" cy="689972"/>
          </a:xfrm>
          <a:prstGeom prst="rect">
            <a:avLst/>
          </a:prstGeom>
        </p:spPr>
        <p:txBody>
          <a:bodyPr lIns="0" tIns="0" rIns="0" bIns="0" rtlCol="0" anchor="t">
            <a:spAutoFit/>
          </a:bodyPr>
          <a:lstStyle/>
          <a:p>
            <a:pPr algn="l">
              <a:lnSpc>
                <a:spcPts val="5250"/>
              </a:lnSpc>
            </a:pPr>
            <a:r>
              <a:rPr lang="en-US" sz="4187" b="1">
                <a:solidFill>
                  <a:srgbClr val="000000"/>
                </a:solidFill>
                <a:latin typeface="Inter Bold"/>
                <a:ea typeface="Inter Bold"/>
                <a:cs typeface="Inter Bold"/>
                <a:sym typeface="Inter Bold"/>
              </a:rPr>
              <a:t>Limitations &amp; Future Work</a:t>
            </a:r>
          </a:p>
        </p:txBody>
      </p:sp>
      <p:sp>
        <p:nvSpPr>
          <p:cNvPr id="7" name="TextBox 7"/>
          <p:cNvSpPr txBox="1"/>
          <p:nvPr/>
        </p:nvSpPr>
        <p:spPr>
          <a:xfrm>
            <a:off x="751580" y="2143868"/>
            <a:ext cx="3220936" cy="412109"/>
          </a:xfrm>
          <a:prstGeom prst="rect">
            <a:avLst/>
          </a:prstGeom>
        </p:spPr>
        <p:txBody>
          <a:bodyPr lIns="0" tIns="0" rIns="0" bIns="0" rtlCol="0" anchor="t">
            <a:spAutoFit/>
          </a:bodyPr>
          <a:lstStyle/>
          <a:p>
            <a:pPr algn="l">
              <a:lnSpc>
                <a:spcPts val="3124"/>
              </a:lnSpc>
            </a:pPr>
            <a:r>
              <a:rPr lang="en-US" sz="2499" b="1">
                <a:solidFill>
                  <a:srgbClr val="000000"/>
                </a:solidFill>
                <a:latin typeface="Inter Bold"/>
                <a:ea typeface="Inter Bold"/>
                <a:cs typeface="Inter Bold"/>
                <a:sym typeface="Inter Bold"/>
              </a:rPr>
              <a:t>Current Limitations</a:t>
            </a:r>
          </a:p>
        </p:txBody>
      </p:sp>
      <p:grpSp>
        <p:nvGrpSpPr>
          <p:cNvPr id="8" name="Group 8"/>
          <p:cNvGrpSpPr/>
          <p:nvPr/>
        </p:nvGrpSpPr>
        <p:grpSpPr>
          <a:xfrm>
            <a:off x="737292" y="2785615"/>
            <a:ext cx="5515127" cy="2189112"/>
            <a:chOff x="0" y="0"/>
            <a:chExt cx="7353503" cy="2918816"/>
          </a:xfrm>
        </p:grpSpPr>
        <p:sp>
          <p:nvSpPr>
            <p:cNvPr id="9" name="Freeform 9"/>
            <p:cNvSpPr/>
            <p:nvPr/>
          </p:nvSpPr>
          <p:spPr>
            <a:xfrm>
              <a:off x="19050" y="19050"/>
              <a:ext cx="7315326" cy="2880741"/>
            </a:xfrm>
            <a:custGeom>
              <a:avLst/>
              <a:gdLst/>
              <a:ahLst/>
              <a:cxnLst/>
              <a:rect l="l" t="t" r="r" b="b"/>
              <a:pathLst>
                <a:path w="7315326" h="2880741">
                  <a:moveTo>
                    <a:pt x="0" y="120269"/>
                  </a:moveTo>
                  <a:cubicBezTo>
                    <a:pt x="0" y="53848"/>
                    <a:pt x="54229" y="0"/>
                    <a:pt x="121158" y="0"/>
                  </a:cubicBezTo>
                  <a:lnTo>
                    <a:pt x="7194169" y="0"/>
                  </a:lnTo>
                  <a:cubicBezTo>
                    <a:pt x="7261098" y="0"/>
                    <a:pt x="7315326" y="53848"/>
                    <a:pt x="7315326" y="120269"/>
                  </a:cubicBezTo>
                  <a:lnTo>
                    <a:pt x="7315326" y="2760472"/>
                  </a:lnTo>
                  <a:cubicBezTo>
                    <a:pt x="7315326" y="2826893"/>
                    <a:pt x="7261098" y="2880741"/>
                    <a:pt x="7194169" y="2880741"/>
                  </a:cubicBezTo>
                  <a:lnTo>
                    <a:pt x="121158" y="2880741"/>
                  </a:lnTo>
                  <a:cubicBezTo>
                    <a:pt x="54229" y="2880741"/>
                    <a:pt x="0" y="2826893"/>
                    <a:pt x="0" y="2760472"/>
                  </a:cubicBezTo>
                  <a:close/>
                </a:path>
              </a:pathLst>
            </a:custGeom>
            <a:solidFill>
              <a:srgbClr val="FFFFFF"/>
            </a:solidFill>
          </p:spPr>
        </p:sp>
        <p:sp>
          <p:nvSpPr>
            <p:cNvPr id="10" name="Freeform 10"/>
            <p:cNvSpPr/>
            <p:nvPr/>
          </p:nvSpPr>
          <p:spPr>
            <a:xfrm>
              <a:off x="0" y="0"/>
              <a:ext cx="7353426" cy="2918841"/>
            </a:xfrm>
            <a:custGeom>
              <a:avLst/>
              <a:gdLst/>
              <a:ahLst/>
              <a:cxnLst/>
              <a:rect l="l" t="t" r="r" b="b"/>
              <a:pathLst>
                <a:path w="7353426" h="2918841">
                  <a:moveTo>
                    <a:pt x="0" y="139319"/>
                  </a:moveTo>
                  <a:cubicBezTo>
                    <a:pt x="0" y="62230"/>
                    <a:pt x="62992" y="0"/>
                    <a:pt x="140208" y="0"/>
                  </a:cubicBezTo>
                  <a:lnTo>
                    <a:pt x="7213219" y="0"/>
                  </a:lnTo>
                  <a:lnTo>
                    <a:pt x="7213219" y="19050"/>
                  </a:lnTo>
                  <a:lnTo>
                    <a:pt x="7213219" y="0"/>
                  </a:lnTo>
                  <a:cubicBezTo>
                    <a:pt x="7290562" y="0"/>
                    <a:pt x="7353426" y="62230"/>
                    <a:pt x="7353426" y="139319"/>
                  </a:cubicBezTo>
                  <a:lnTo>
                    <a:pt x="7334376" y="139319"/>
                  </a:lnTo>
                  <a:lnTo>
                    <a:pt x="7353426" y="139319"/>
                  </a:lnTo>
                  <a:lnTo>
                    <a:pt x="7353426" y="2779522"/>
                  </a:lnTo>
                  <a:lnTo>
                    <a:pt x="7334376" y="2779522"/>
                  </a:lnTo>
                  <a:lnTo>
                    <a:pt x="7353426" y="2779522"/>
                  </a:lnTo>
                  <a:cubicBezTo>
                    <a:pt x="7353426" y="2856611"/>
                    <a:pt x="7290435" y="2918841"/>
                    <a:pt x="7213219" y="2918841"/>
                  </a:cubicBezTo>
                  <a:lnTo>
                    <a:pt x="7213219" y="2899791"/>
                  </a:lnTo>
                  <a:lnTo>
                    <a:pt x="7213219" y="2918841"/>
                  </a:lnTo>
                  <a:lnTo>
                    <a:pt x="140208" y="2918841"/>
                  </a:lnTo>
                  <a:lnTo>
                    <a:pt x="140208" y="2899791"/>
                  </a:lnTo>
                  <a:lnTo>
                    <a:pt x="140208" y="2918841"/>
                  </a:lnTo>
                  <a:cubicBezTo>
                    <a:pt x="62992" y="2918841"/>
                    <a:pt x="0" y="2856611"/>
                    <a:pt x="0" y="2779522"/>
                  </a:cubicBezTo>
                  <a:lnTo>
                    <a:pt x="0" y="139319"/>
                  </a:lnTo>
                  <a:lnTo>
                    <a:pt x="19050" y="139319"/>
                  </a:lnTo>
                  <a:lnTo>
                    <a:pt x="0" y="139319"/>
                  </a:lnTo>
                  <a:moveTo>
                    <a:pt x="38100" y="139319"/>
                  </a:moveTo>
                  <a:lnTo>
                    <a:pt x="38100" y="2779522"/>
                  </a:lnTo>
                  <a:lnTo>
                    <a:pt x="19050" y="2779522"/>
                  </a:lnTo>
                  <a:lnTo>
                    <a:pt x="38100" y="2779522"/>
                  </a:lnTo>
                  <a:cubicBezTo>
                    <a:pt x="38100" y="2835275"/>
                    <a:pt x="83693" y="2880741"/>
                    <a:pt x="140208" y="2880741"/>
                  </a:cubicBezTo>
                  <a:lnTo>
                    <a:pt x="7213219" y="2880741"/>
                  </a:lnTo>
                  <a:cubicBezTo>
                    <a:pt x="7269734" y="2880741"/>
                    <a:pt x="7315326" y="2835275"/>
                    <a:pt x="7315326" y="2779522"/>
                  </a:cubicBezTo>
                  <a:lnTo>
                    <a:pt x="7315326" y="139319"/>
                  </a:lnTo>
                  <a:cubicBezTo>
                    <a:pt x="7315326" y="83566"/>
                    <a:pt x="7269734" y="38100"/>
                    <a:pt x="7213219" y="38100"/>
                  </a:cubicBezTo>
                  <a:lnTo>
                    <a:pt x="140208" y="38100"/>
                  </a:lnTo>
                  <a:lnTo>
                    <a:pt x="140208" y="19050"/>
                  </a:lnTo>
                  <a:lnTo>
                    <a:pt x="140208" y="38100"/>
                  </a:lnTo>
                  <a:cubicBezTo>
                    <a:pt x="83693" y="38100"/>
                    <a:pt x="38100" y="83566"/>
                    <a:pt x="38100" y="139319"/>
                  </a:cubicBezTo>
                  <a:close/>
                </a:path>
              </a:pathLst>
            </a:custGeom>
            <a:solidFill>
              <a:srgbClr val="C0C1D7"/>
            </a:solidFill>
          </p:spPr>
        </p:sp>
      </p:grpSp>
      <p:sp>
        <p:nvSpPr>
          <p:cNvPr id="11" name="TextBox 11"/>
          <p:cNvSpPr txBox="1"/>
          <p:nvPr/>
        </p:nvSpPr>
        <p:spPr>
          <a:xfrm>
            <a:off x="994772" y="3014510"/>
            <a:ext cx="4277173" cy="364179"/>
          </a:xfrm>
          <a:prstGeom prst="rect">
            <a:avLst/>
          </a:prstGeom>
        </p:spPr>
        <p:txBody>
          <a:bodyPr lIns="0" tIns="0" rIns="0" bIns="0" rtlCol="0" anchor="t">
            <a:spAutoFit/>
          </a:bodyPr>
          <a:lstStyle/>
          <a:p>
            <a:pPr algn="l">
              <a:lnSpc>
                <a:spcPts val="2625"/>
              </a:lnSpc>
            </a:pPr>
            <a:r>
              <a:rPr lang="en-US" sz="2062" b="1">
                <a:solidFill>
                  <a:srgbClr val="272525"/>
                </a:solidFill>
                <a:latin typeface="Inter Bold"/>
                <a:ea typeface="Inter Bold"/>
                <a:cs typeface="Inter Bold"/>
                <a:sym typeface="Inter Bold"/>
              </a:rPr>
              <a:t>Recognition accuracy decreases</a:t>
            </a:r>
          </a:p>
        </p:txBody>
      </p:sp>
      <p:sp>
        <p:nvSpPr>
          <p:cNvPr id="12" name="TextBox 12"/>
          <p:cNvSpPr txBox="1"/>
          <p:nvPr/>
        </p:nvSpPr>
        <p:spPr>
          <a:xfrm>
            <a:off x="994772" y="3447602"/>
            <a:ext cx="5000177" cy="632222"/>
          </a:xfrm>
          <a:prstGeom prst="rect">
            <a:avLst/>
          </a:prstGeom>
        </p:spPr>
        <p:txBody>
          <a:bodyPr lIns="0" tIns="0" rIns="0" bIns="0" rtlCol="0" anchor="t">
            <a:spAutoFit/>
          </a:bodyPr>
          <a:lstStyle/>
          <a:p>
            <a:pPr algn="l">
              <a:lnSpc>
                <a:spcPts val="2375"/>
              </a:lnSpc>
            </a:pPr>
            <a:r>
              <a:rPr lang="en-US" sz="1687">
                <a:solidFill>
                  <a:srgbClr val="272525"/>
                </a:solidFill>
                <a:latin typeface="Inter"/>
                <a:ea typeface="Inter"/>
                <a:cs typeface="Inter"/>
                <a:sym typeface="Inter"/>
              </a:rPr>
              <a:t>under poor lighting conditions due to reduced landmark detection reliability.</a:t>
            </a:r>
          </a:p>
        </p:txBody>
      </p:sp>
      <p:grpSp>
        <p:nvGrpSpPr>
          <p:cNvPr id="13" name="Group 13"/>
          <p:cNvGrpSpPr/>
          <p:nvPr/>
        </p:nvGrpSpPr>
        <p:grpSpPr>
          <a:xfrm>
            <a:off x="6386360" y="2785615"/>
            <a:ext cx="5515127" cy="2189112"/>
            <a:chOff x="0" y="0"/>
            <a:chExt cx="7353503" cy="2918816"/>
          </a:xfrm>
        </p:grpSpPr>
        <p:sp>
          <p:nvSpPr>
            <p:cNvPr id="14" name="Freeform 14"/>
            <p:cNvSpPr/>
            <p:nvPr/>
          </p:nvSpPr>
          <p:spPr>
            <a:xfrm>
              <a:off x="19050" y="19050"/>
              <a:ext cx="7315326" cy="2880741"/>
            </a:xfrm>
            <a:custGeom>
              <a:avLst/>
              <a:gdLst/>
              <a:ahLst/>
              <a:cxnLst/>
              <a:rect l="l" t="t" r="r" b="b"/>
              <a:pathLst>
                <a:path w="7315326" h="2880741">
                  <a:moveTo>
                    <a:pt x="0" y="120269"/>
                  </a:moveTo>
                  <a:cubicBezTo>
                    <a:pt x="0" y="53848"/>
                    <a:pt x="54229" y="0"/>
                    <a:pt x="121158" y="0"/>
                  </a:cubicBezTo>
                  <a:lnTo>
                    <a:pt x="7194169" y="0"/>
                  </a:lnTo>
                  <a:cubicBezTo>
                    <a:pt x="7261098" y="0"/>
                    <a:pt x="7315326" y="53848"/>
                    <a:pt x="7315326" y="120269"/>
                  </a:cubicBezTo>
                  <a:lnTo>
                    <a:pt x="7315326" y="2760472"/>
                  </a:lnTo>
                  <a:cubicBezTo>
                    <a:pt x="7315326" y="2826893"/>
                    <a:pt x="7261098" y="2880741"/>
                    <a:pt x="7194169" y="2880741"/>
                  </a:cubicBezTo>
                  <a:lnTo>
                    <a:pt x="121158" y="2880741"/>
                  </a:lnTo>
                  <a:cubicBezTo>
                    <a:pt x="54229" y="2880741"/>
                    <a:pt x="0" y="2826893"/>
                    <a:pt x="0" y="2760472"/>
                  </a:cubicBezTo>
                  <a:close/>
                </a:path>
              </a:pathLst>
            </a:custGeom>
            <a:solidFill>
              <a:srgbClr val="FFFFFF"/>
            </a:solidFill>
          </p:spPr>
        </p:sp>
        <p:sp>
          <p:nvSpPr>
            <p:cNvPr id="15" name="Freeform 15"/>
            <p:cNvSpPr/>
            <p:nvPr/>
          </p:nvSpPr>
          <p:spPr>
            <a:xfrm>
              <a:off x="0" y="0"/>
              <a:ext cx="7353426" cy="2918841"/>
            </a:xfrm>
            <a:custGeom>
              <a:avLst/>
              <a:gdLst/>
              <a:ahLst/>
              <a:cxnLst/>
              <a:rect l="l" t="t" r="r" b="b"/>
              <a:pathLst>
                <a:path w="7353426" h="2918841">
                  <a:moveTo>
                    <a:pt x="0" y="139319"/>
                  </a:moveTo>
                  <a:cubicBezTo>
                    <a:pt x="0" y="62230"/>
                    <a:pt x="62992" y="0"/>
                    <a:pt x="140208" y="0"/>
                  </a:cubicBezTo>
                  <a:lnTo>
                    <a:pt x="7213219" y="0"/>
                  </a:lnTo>
                  <a:lnTo>
                    <a:pt x="7213219" y="19050"/>
                  </a:lnTo>
                  <a:lnTo>
                    <a:pt x="7213219" y="0"/>
                  </a:lnTo>
                  <a:cubicBezTo>
                    <a:pt x="7290562" y="0"/>
                    <a:pt x="7353426" y="62230"/>
                    <a:pt x="7353426" y="139319"/>
                  </a:cubicBezTo>
                  <a:lnTo>
                    <a:pt x="7334376" y="139319"/>
                  </a:lnTo>
                  <a:lnTo>
                    <a:pt x="7353426" y="139319"/>
                  </a:lnTo>
                  <a:lnTo>
                    <a:pt x="7353426" y="2779522"/>
                  </a:lnTo>
                  <a:lnTo>
                    <a:pt x="7334376" y="2779522"/>
                  </a:lnTo>
                  <a:lnTo>
                    <a:pt x="7353426" y="2779522"/>
                  </a:lnTo>
                  <a:cubicBezTo>
                    <a:pt x="7353426" y="2856611"/>
                    <a:pt x="7290435" y="2918841"/>
                    <a:pt x="7213219" y="2918841"/>
                  </a:cubicBezTo>
                  <a:lnTo>
                    <a:pt x="7213219" y="2899791"/>
                  </a:lnTo>
                  <a:lnTo>
                    <a:pt x="7213219" y="2918841"/>
                  </a:lnTo>
                  <a:lnTo>
                    <a:pt x="140208" y="2918841"/>
                  </a:lnTo>
                  <a:lnTo>
                    <a:pt x="140208" y="2899791"/>
                  </a:lnTo>
                  <a:lnTo>
                    <a:pt x="140208" y="2918841"/>
                  </a:lnTo>
                  <a:cubicBezTo>
                    <a:pt x="62992" y="2918841"/>
                    <a:pt x="0" y="2856611"/>
                    <a:pt x="0" y="2779522"/>
                  </a:cubicBezTo>
                  <a:lnTo>
                    <a:pt x="0" y="139319"/>
                  </a:lnTo>
                  <a:lnTo>
                    <a:pt x="19050" y="139319"/>
                  </a:lnTo>
                  <a:lnTo>
                    <a:pt x="0" y="139319"/>
                  </a:lnTo>
                  <a:moveTo>
                    <a:pt x="38100" y="139319"/>
                  </a:moveTo>
                  <a:lnTo>
                    <a:pt x="38100" y="2779522"/>
                  </a:lnTo>
                  <a:lnTo>
                    <a:pt x="19050" y="2779522"/>
                  </a:lnTo>
                  <a:lnTo>
                    <a:pt x="38100" y="2779522"/>
                  </a:lnTo>
                  <a:cubicBezTo>
                    <a:pt x="38100" y="2835275"/>
                    <a:pt x="83693" y="2880741"/>
                    <a:pt x="140208" y="2880741"/>
                  </a:cubicBezTo>
                  <a:lnTo>
                    <a:pt x="7213219" y="2880741"/>
                  </a:lnTo>
                  <a:cubicBezTo>
                    <a:pt x="7269734" y="2880741"/>
                    <a:pt x="7315326" y="2835275"/>
                    <a:pt x="7315326" y="2779522"/>
                  </a:cubicBezTo>
                  <a:lnTo>
                    <a:pt x="7315326" y="139319"/>
                  </a:lnTo>
                  <a:cubicBezTo>
                    <a:pt x="7315326" y="83566"/>
                    <a:pt x="7269734" y="38100"/>
                    <a:pt x="7213219" y="38100"/>
                  </a:cubicBezTo>
                  <a:lnTo>
                    <a:pt x="140208" y="38100"/>
                  </a:lnTo>
                  <a:lnTo>
                    <a:pt x="140208" y="19050"/>
                  </a:lnTo>
                  <a:lnTo>
                    <a:pt x="140208" y="38100"/>
                  </a:lnTo>
                  <a:cubicBezTo>
                    <a:pt x="83693" y="38100"/>
                    <a:pt x="38100" y="83566"/>
                    <a:pt x="38100" y="139319"/>
                  </a:cubicBezTo>
                  <a:close/>
                </a:path>
              </a:pathLst>
            </a:custGeom>
            <a:solidFill>
              <a:srgbClr val="C0C1D7"/>
            </a:solidFill>
          </p:spPr>
        </p:sp>
      </p:grpSp>
      <p:sp>
        <p:nvSpPr>
          <p:cNvPr id="16" name="TextBox 16"/>
          <p:cNvSpPr txBox="1"/>
          <p:nvPr/>
        </p:nvSpPr>
        <p:spPr>
          <a:xfrm>
            <a:off x="6643840" y="3014510"/>
            <a:ext cx="4111076" cy="364179"/>
          </a:xfrm>
          <a:prstGeom prst="rect">
            <a:avLst/>
          </a:prstGeom>
        </p:spPr>
        <p:txBody>
          <a:bodyPr lIns="0" tIns="0" rIns="0" bIns="0" rtlCol="0" anchor="t">
            <a:spAutoFit/>
          </a:bodyPr>
          <a:lstStyle/>
          <a:p>
            <a:pPr algn="l">
              <a:lnSpc>
                <a:spcPts val="2625"/>
              </a:lnSpc>
            </a:pPr>
            <a:r>
              <a:rPr lang="en-US" sz="2062" b="1">
                <a:solidFill>
                  <a:srgbClr val="272525"/>
                </a:solidFill>
                <a:latin typeface="Inter Bold"/>
                <a:ea typeface="Inter Bold"/>
                <a:cs typeface="Inter Bold"/>
                <a:sym typeface="Inter Bold"/>
              </a:rPr>
              <a:t>Gestures not in training dataset</a:t>
            </a:r>
          </a:p>
        </p:txBody>
      </p:sp>
      <p:sp>
        <p:nvSpPr>
          <p:cNvPr id="17" name="TextBox 17"/>
          <p:cNvSpPr txBox="1"/>
          <p:nvPr/>
        </p:nvSpPr>
        <p:spPr>
          <a:xfrm>
            <a:off x="6643840" y="3447602"/>
            <a:ext cx="5000177" cy="632222"/>
          </a:xfrm>
          <a:prstGeom prst="rect">
            <a:avLst/>
          </a:prstGeom>
        </p:spPr>
        <p:txBody>
          <a:bodyPr lIns="0" tIns="0" rIns="0" bIns="0" rtlCol="0" anchor="t">
            <a:spAutoFit/>
          </a:bodyPr>
          <a:lstStyle/>
          <a:p>
            <a:pPr algn="l">
              <a:lnSpc>
                <a:spcPts val="2375"/>
              </a:lnSpc>
            </a:pPr>
            <a:r>
              <a:rPr lang="en-US" sz="1687">
                <a:solidFill>
                  <a:srgbClr val="272525"/>
                </a:solidFill>
                <a:latin typeface="Inter"/>
                <a:ea typeface="Inter"/>
                <a:cs typeface="Inter"/>
                <a:sym typeface="Inter"/>
              </a:rPr>
              <a:t>are mapped to closest learned class - no unknown gesture detection mechanism.</a:t>
            </a:r>
          </a:p>
        </p:txBody>
      </p:sp>
      <p:grpSp>
        <p:nvGrpSpPr>
          <p:cNvPr id="18" name="Group 18"/>
          <p:cNvGrpSpPr/>
          <p:nvPr/>
        </p:nvGrpSpPr>
        <p:grpSpPr>
          <a:xfrm>
            <a:off x="12035428" y="2785615"/>
            <a:ext cx="5515127" cy="2189112"/>
            <a:chOff x="0" y="0"/>
            <a:chExt cx="7353503" cy="2918816"/>
          </a:xfrm>
        </p:grpSpPr>
        <p:sp>
          <p:nvSpPr>
            <p:cNvPr id="19" name="Freeform 19"/>
            <p:cNvSpPr/>
            <p:nvPr/>
          </p:nvSpPr>
          <p:spPr>
            <a:xfrm>
              <a:off x="19050" y="19050"/>
              <a:ext cx="7315326" cy="2880741"/>
            </a:xfrm>
            <a:custGeom>
              <a:avLst/>
              <a:gdLst/>
              <a:ahLst/>
              <a:cxnLst/>
              <a:rect l="l" t="t" r="r" b="b"/>
              <a:pathLst>
                <a:path w="7315326" h="2880741">
                  <a:moveTo>
                    <a:pt x="0" y="120269"/>
                  </a:moveTo>
                  <a:cubicBezTo>
                    <a:pt x="0" y="53848"/>
                    <a:pt x="54229" y="0"/>
                    <a:pt x="121158" y="0"/>
                  </a:cubicBezTo>
                  <a:lnTo>
                    <a:pt x="7194169" y="0"/>
                  </a:lnTo>
                  <a:cubicBezTo>
                    <a:pt x="7261098" y="0"/>
                    <a:pt x="7315326" y="53848"/>
                    <a:pt x="7315326" y="120269"/>
                  </a:cubicBezTo>
                  <a:lnTo>
                    <a:pt x="7315326" y="2760472"/>
                  </a:lnTo>
                  <a:cubicBezTo>
                    <a:pt x="7315326" y="2826893"/>
                    <a:pt x="7261098" y="2880741"/>
                    <a:pt x="7194169" y="2880741"/>
                  </a:cubicBezTo>
                  <a:lnTo>
                    <a:pt x="121158" y="2880741"/>
                  </a:lnTo>
                  <a:cubicBezTo>
                    <a:pt x="54229" y="2880741"/>
                    <a:pt x="0" y="2826893"/>
                    <a:pt x="0" y="2760472"/>
                  </a:cubicBezTo>
                  <a:close/>
                </a:path>
              </a:pathLst>
            </a:custGeom>
            <a:solidFill>
              <a:srgbClr val="FFFFFF"/>
            </a:solidFill>
          </p:spPr>
        </p:sp>
        <p:sp>
          <p:nvSpPr>
            <p:cNvPr id="20" name="Freeform 20"/>
            <p:cNvSpPr/>
            <p:nvPr/>
          </p:nvSpPr>
          <p:spPr>
            <a:xfrm>
              <a:off x="0" y="0"/>
              <a:ext cx="7353426" cy="2918841"/>
            </a:xfrm>
            <a:custGeom>
              <a:avLst/>
              <a:gdLst/>
              <a:ahLst/>
              <a:cxnLst/>
              <a:rect l="l" t="t" r="r" b="b"/>
              <a:pathLst>
                <a:path w="7353426" h="2918841">
                  <a:moveTo>
                    <a:pt x="0" y="139319"/>
                  </a:moveTo>
                  <a:cubicBezTo>
                    <a:pt x="0" y="62230"/>
                    <a:pt x="62992" y="0"/>
                    <a:pt x="140208" y="0"/>
                  </a:cubicBezTo>
                  <a:lnTo>
                    <a:pt x="7213219" y="0"/>
                  </a:lnTo>
                  <a:lnTo>
                    <a:pt x="7213219" y="19050"/>
                  </a:lnTo>
                  <a:lnTo>
                    <a:pt x="7213219" y="0"/>
                  </a:lnTo>
                  <a:cubicBezTo>
                    <a:pt x="7290562" y="0"/>
                    <a:pt x="7353426" y="62230"/>
                    <a:pt x="7353426" y="139319"/>
                  </a:cubicBezTo>
                  <a:lnTo>
                    <a:pt x="7334376" y="139319"/>
                  </a:lnTo>
                  <a:lnTo>
                    <a:pt x="7353426" y="139319"/>
                  </a:lnTo>
                  <a:lnTo>
                    <a:pt x="7353426" y="2779522"/>
                  </a:lnTo>
                  <a:lnTo>
                    <a:pt x="7334376" y="2779522"/>
                  </a:lnTo>
                  <a:lnTo>
                    <a:pt x="7353426" y="2779522"/>
                  </a:lnTo>
                  <a:cubicBezTo>
                    <a:pt x="7353426" y="2856611"/>
                    <a:pt x="7290435" y="2918841"/>
                    <a:pt x="7213219" y="2918841"/>
                  </a:cubicBezTo>
                  <a:lnTo>
                    <a:pt x="7213219" y="2899791"/>
                  </a:lnTo>
                  <a:lnTo>
                    <a:pt x="7213219" y="2918841"/>
                  </a:lnTo>
                  <a:lnTo>
                    <a:pt x="140208" y="2918841"/>
                  </a:lnTo>
                  <a:lnTo>
                    <a:pt x="140208" y="2899791"/>
                  </a:lnTo>
                  <a:lnTo>
                    <a:pt x="140208" y="2918841"/>
                  </a:lnTo>
                  <a:cubicBezTo>
                    <a:pt x="62992" y="2918841"/>
                    <a:pt x="0" y="2856611"/>
                    <a:pt x="0" y="2779522"/>
                  </a:cubicBezTo>
                  <a:lnTo>
                    <a:pt x="0" y="139319"/>
                  </a:lnTo>
                  <a:lnTo>
                    <a:pt x="19050" y="139319"/>
                  </a:lnTo>
                  <a:lnTo>
                    <a:pt x="0" y="139319"/>
                  </a:lnTo>
                  <a:moveTo>
                    <a:pt x="38100" y="139319"/>
                  </a:moveTo>
                  <a:lnTo>
                    <a:pt x="38100" y="2779522"/>
                  </a:lnTo>
                  <a:lnTo>
                    <a:pt x="19050" y="2779522"/>
                  </a:lnTo>
                  <a:lnTo>
                    <a:pt x="38100" y="2779522"/>
                  </a:lnTo>
                  <a:cubicBezTo>
                    <a:pt x="38100" y="2835275"/>
                    <a:pt x="83693" y="2880741"/>
                    <a:pt x="140208" y="2880741"/>
                  </a:cubicBezTo>
                  <a:lnTo>
                    <a:pt x="7213219" y="2880741"/>
                  </a:lnTo>
                  <a:cubicBezTo>
                    <a:pt x="7269734" y="2880741"/>
                    <a:pt x="7315326" y="2835275"/>
                    <a:pt x="7315326" y="2779522"/>
                  </a:cubicBezTo>
                  <a:lnTo>
                    <a:pt x="7315326" y="139319"/>
                  </a:lnTo>
                  <a:cubicBezTo>
                    <a:pt x="7315326" y="83566"/>
                    <a:pt x="7269734" y="38100"/>
                    <a:pt x="7213219" y="38100"/>
                  </a:cubicBezTo>
                  <a:lnTo>
                    <a:pt x="140208" y="38100"/>
                  </a:lnTo>
                  <a:lnTo>
                    <a:pt x="140208" y="19050"/>
                  </a:lnTo>
                  <a:lnTo>
                    <a:pt x="140208" y="38100"/>
                  </a:lnTo>
                  <a:cubicBezTo>
                    <a:pt x="83693" y="38100"/>
                    <a:pt x="38100" y="83566"/>
                    <a:pt x="38100" y="139319"/>
                  </a:cubicBezTo>
                  <a:close/>
                </a:path>
              </a:pathLst>
            </a:custGeom>
            <a:solidFill>
              <a:srgbClr val="C0C1D7"/>
            </a:solidFill>
          </p:spPr>
        </p:sp>
      </p:grpSp>
      <p:sp>
        <p:nvSpPr>
          <p:cNvPr id="21" name="TextBox 21"/>
          <p:cNvSpPr txBox="1"/>
          <p:nvPr/>
        </p:nvSpPr>
        <p:spPr>
          <a:xfrm>
            <a:off x="12292908" y="3014510"/>
            <a:ext cx="5000177" cy="699792"/>
          </a:xfrm>
          <a:prstGeom prst="rect">
            <a:avLst/>
          </a:prstGeom>
        </p:spPr>
        <p:txBody>
          <a:bodyPr lIns="0" tIns="0" rIns="0" bIns="0" rtlCol="0" anchor="t">
            <a:spAutoFit/>
          </a:bodyPr>
          <a:lstStyle/>
          <a:p>
            <a:pPr algn="l">
              <a:lnSpc>
                <a:spcPts val="2625"/>
              </a:lnSpc>
            </a:pPr>
            <a:r>
              <a:rPr lang="en-US" sz="2062" b="1">
                <a:solidFill>
                  <a:srgbClr val="272525"/>
                </a:solidFill>
                <a:latin typeface="Inter Bold"/>
                <a:ea typeface="Inter Bold"/>
                <a:cs typeface="Inter Bold"/>
                <a:sym typeface="Inter Bold"/>
              </a:rPr>
              <a:t>System does not explicitly address signer independence</a:t>
            </a:r>
          </a:p>
        </p:txBody>
      </p:sp>
      <p:sp>
        <p:nvSpPr>
          <p:cNvPr id="22" name="TextBox 22"/>
          <p:cNvSpPr txBox="1"/>
          <p:nvPr/>
        </p:nvSpPr>
        <p:spPr>
          <a:xfrm>
            <a:off x="12292908" y="3783216"/>
            <a:ext cx="5000177" cy="934041"/>
          </a:xfrm>
          <a:prstGeom prst="rect">
            <a:avLst/>
          </a:prstGeom>
        </p:spPr>
        <p:txBody>
          <a:bodyPr lIns="0" tIns="0" rIns="0" bIns="0" rtlCol="0" anchor="t">
            <a:spAutoFit/>
          </a:bodyPr>
          <a:lstStyle/>
          <a:p>
            <a:pPr algn="l">
              <a:lnSpc>
                <a:spcPts val="2375"/>
              </a:lnSpc>
            </a:pPr>
            <a:r>
              <a:rPr lang="en-US" sz="1687">
                <a:solidFill>
                  <a:srgbClr val="272525"/>
                </a:solidFill>
                <a:latin typeface="Inter"/>
                <a:ea typeface="Inter"/>
                <a:cs typeface="Inter"/>
                <a:sym typeface="Inter"/>
              </a:rPr>
              <a:t>performance may vary across users with different hand shapes, motion styles, or gesture speeds.</a:t>
            </a:r>
          </a:p>
        </p:txBody>
      </p:sp>
      <p:grpSp>
        <p:nvGrpSpPr>
          <p:cNvPr id="23" name="Group 23"/>
          <p:cNvGrpSpPr/>
          <p:nvPr/>
        </p:nvGrpSpPr>
        <p:grpSpPr>
          <a:xfrm>
            <a:off x="737292" y="5108677"/>
            <a:ext cx="8339585" cy="1249861"/>
            <a:chOff x="0" y="0"/>
            <a:chExt cx="11119447" cy="1666481"/>
          </a:xfrm>
        </p:grpSpPr>
        <p:sp>
          <p:nvSpPr>
            <p:cNvPr id="24" name="Freeform 24"/>
            <p:cNvSpPr/>
            <p:nvPr/>
          </p:nvSpPr>
          <p:spPr>
            <a:xfrm>
              <a:off x="19050" y="19050"/>
              <a:ext cx="11081385" cy="1628394"/>
            </a:xfrm>
            <a:custGeom>
              <a:avLst/>
              <a:gdLst/>
              <a:ahLst/>
              <a:cxnLst/>
              <a:rect l="l" t="t" r="r" b="b"/>
              <a:pathLst>
                <a:path w="11081385" h="1628394">
                  <a:moveTo>
                    <a:pt x="0" y="120269"/>
                  </a:moveTo>
                  <a:cubicBezTo>
                    <a:pt x="0" y="53848"/>
                    <a:pt x="54864" y="0"/>
                    <a:pt x="122682" y="0"/>
                  </a:cubicBezTo>
                  <a:lnTo>
                    <a:pt x="10958703" y="0"/>
                  </a:lnTo>
                  <a:cubicBezTo>
                    <a:pt x="11026394" y="0"/>
                    <a:pt x="11081385" y="53848"/>
                    <a:pt x="11081385" y="120269"/>
                  </a:cubicBezTo>
                  <a:lnTo>
                    <a:pt x="11081385" y="1508125"/>
                  </a:lnTo>
                  <a:cubicBezTo>
                    <a:pt x="11081385" y="1574546"/>
                    <a:pt x="11026522" y="1628394"/>
                    <a:pt x="10958703" y="1628394"/>
                  </a:cubicBezTo>
                  <a:lnTo>
                    <a:pt x="122682" y="1628394"/>
                  </a:lnTo>
                  <a:cubicBezTo>
                    <a:pt x="54991" y="1628394"/>
                    <a:pt x="0" y="1574546"/>
                    <a:pt x="0" y="1508125"/>
                  </a:cubicBezTo>
                  <a:close/>
                </a:path>
              </a:pathLst>
            </a:custGeom>
            <a:solidFill>
              <a:srgbClr val="FFFFFF"/>
            </a:solidFill>
          </p:spPr>
        </p:sp>
        <p:sp>
          <p:nvSpPr>
            <p:cNvPr id="25" name="Freeform 25"/>
            <p:cNvSpPr/>
            <p:nvPr/>
          </p:nvSpPr>
          <p:spPr>
            <a:xfrm>
              <a:off x="0" y="0"/>
              <a:ext cx="11119485" cy="1666494"/>
            </a:xfrm>
            <a:custGeom>
              <a:avLst/>
              <a:gdLst/>
              <a:ahLst/>
              <a:cxnLst/>
              <a:rect l="l" t="t" r="r" b="b"/>
              <a:pathLst>
                <a:path w="11119485" h="1666494">
                  <a:moveTo>
                    <a:pt x="0" y="139319"/>
                  </a:moveTo>
                  <a:cubicBezTo>
                    <a:pt x="0" y="61976"/>
                    <a:pt x="63754" y="0"/>
                    <a:pt x="141732" y="0"/>
                  </a:cubicBezTo>
                  <a:lnTo>
                    <a:pt x="10977753" y="0"/>
                  </a:lnTo>
                  <a:lnTo>
                    <a:pt x="10977753" y="19050"/>
                  </a:lnTo>
                  <a:lnTo>
                    <a:pt x="10977753" y="0"/>
                  </a:lnTo>
                  <a:cubicBezTo>
                    <a:pt x="11055604" y="0"/>
                    <a:pt x="11119485" y="61976"/>
                    <a:pt x="11119485" y="139319"/>
                  </a:cubicBezTo>
                  <a:lnTo>
                    <a:pt x="11100435" y="139319"/>
                  </a:lnTo>
                  <a:lnTo>
                    <a:pt x="11119485" y="139319"/>
                  </a:lnTo>
                  <a:lnTo>
                    <a:pt x="11119485" y="1527175"/>
                  </a:lnTo>
                  <a:lnTo>
                    <a:pt x="11100435" y="1527175"/>
                  </a:lnTo>
                  <a:lnTo>
                    <a:pt x="11119485" y="1527175"/>
                  </a:lnTo>
                  <a:cubicBezTo>
                    <a:pt x="11119485" y="1604518"/>
                    <a:pt x="11055731" y="1666494"/>
                    <a:pt x="10977753" y="1666494"/>
                  </a:cubicBezTo>
                  <a:lnTo>
                    <a:pt x="10977753" y="1647444"/>
                  </a:lnTo>
                  <a:lnTo>
                    <a:pt x="10977753" y="1666494"/>
                  </a:lnTo>
                  <a:lnTo>
                    <a:pt x="141732" y="1666494"/>
                  </a:lnTo>
                  <a:lnTo>
                    <a:pt x="141732" y="1647444"/>
                  </a:lnTo>
                  <a:lnTo>
                    <a:pt x="141732" y="1666494"/>
                  </a:lnTo>
                  <a:cubicBezTo>
                    <a:pt x="63754" y="1666494"/>
                    <a:pt x="0" y="1604518"/>
                    <a:pt x="0" y="1527175"/>
                  </a:cubicBezTo>
                  <a:lnTo>
                    <a:pt x="0" y="139319"/>
                  </a:lnTo>
                  <a:lnTo>
                    <a:pt x="19050" y="139319"/>
                  </a:lnTo>
                  <a:lnTo>
                    <a:pt x="0" y="139319"/>
                  </a:lnTo>
                  <a:moveTo>
                    <a:pt x="38100" y="139319"/>
                  </a:moveTo>
                  <a:lnTo>
                    <a:pt x="38100" y="1527175"/>
                  </a:lnTo>
                  <a:lnTo>
                    <a:pt x="19050" y="1527175"/>
                  </a:lnTo>
                  <a:lnTo>
                    <a:pt x="38100" y="1527175"/>
                  </a:lnTo>
                  <a:cubicBezTo>
                    <a:pt x="38100" y="1582674"/>
                    <a:pt x="84074" y="1628394"/>
                    <a:pt x="141732" y="1628394"/>
                  </a:cubicBezTo>
                  <a:lnTo>
                    <a:pt x="10977753" y="1628394"/>
                  </a:lnTo>
                  <a:cubicBezTo>
                    <a:pt x="11035285" y="1628394"/>
                    <a:pt x="11081385" y="1582674"/>
                    <a:pt x="11081385" y="1527175"/>
                  </a:cubicBezTo>
                  <a:lnTo>
                    <a:pt x="11081385" y="139319"/>
                  </a:lnTo>
                  <a:cubicBezTo>
                    <a:pt x="11081385" y="83820"/>
                    <a:pt x="11035411" y="38100"/>
                    <a:pt x="10977753" y="38100"/>
                  </a:cubicBezTo>
                  <a:lnTo>
                    <a:pt x="141732" y="38100"/>
                  </a:lnTo>
                  <a:lnTo>
                    <a:pt x="141732" y="19050"/>
                  </a:lnTo>
                  <a:lnTo>
                    <a:pt x="141732" y="38100"/>
                  </a:lnTo>
                  <a:cubicBezTo>
                    <a:pt x="84074" y="38100"/>
                    <a:pt x="38100" y="83820"/>
                    <a:pt x="38100" y="139319"/>
                  </a:cubicBezTo>
                  <a:close/>
                </a:path>
              </a:pathLst>
            </a:custGeom>
            <a:solidFill>
              <a:srgbClr val="C0C1D7"/>
            </a:solidFill>
          </p:spPr>
        </p:sp>
      </p:grpSp>
      <p:sp>
        <p:nvSpPr>
          <p:cNvPr id="26" name="TextBox 26"/>
          <p:cNvSpPr txBox="1"/>
          <p:nvPr/>
        </p:nvSpPr>
        <p:spPr>
          <a:xfrm>
            <a:off x="994772" y="5337572"/>
            <a:ext cx="6456016" cy="364179"/>
          </a:xfrm>
          <a:prstGeom prst="rect">
            <a:avLst/>
          </a:prstGeom>
        </p:spPr>
        <p:txBody>
          <a:bodyPr lIns="0" tIns="0" rIns="0" bIns="0" rtlCol="0" anchor="t">
            <a:spAutoFit/>
          </a:bodyPr>
          <a:lstStyle/>
          <a:p>
            <a:pPr algn="l">
              <a:lnSpc>
                <a:spcPts val="2625"/>
              </a:lnSpc>
            </a:pPr>
            <a:r>
              <a:rPr lang="en-US" sz="2062" b="1">
                <a:solidFill>
                  <a:srgbClr val="272525"/>
                </a:solidFill>
                <a:latin typeface="Inter Bold"/>
                <a:ea typeface="Inter Bold"/>
                <a:cs typeface="Inter Bold"/>
                <a:sym typeface="Inter Bold"/>
              </a:rPr>
              <a:t>Dataset size of 60 sequences per class is modest</a:t>
            </a:r>
          </a:p>
        </p:txBody>
      </p:sp>
      <p:sp>
        <p:nvSpPr>
          <p:cNvPr id="27" name="TextBox 27"/>
          <p:cNvSpPr txBox="1"/>
          <p:nvPr/>
        </p:nvSpPr>
        <p:spPr>
          <a:xfrm>
            <a:off x="994772" y="5770664"/>
            <a:ext cx="7824635" cy="330403"/>
          </a:xfrm>
          <a:prstGeom prst="rect">
            <a:avLst/>
          </a:prstGeom>
        </p:spPr>
        <p:txBody>
          <a:bodyPr lIns="0" tIns="0" rIns="0" bIns="0" rtlCol="0" anchor="t">
            <a:spAutoFit/>
          </a:bodyPr>
          <a:lstStyle/>
          <a:p>
            <a:pPr algn="l">
              <a:lnSpc>
                <a:spcPts val="2375"/>
              </a:lnSpc>
            </a:pPr>
            <a:r>
              <a:rPr lang="en-US" sz="1687">
                <a:solidFill>
                  <a:srgbClr val="272525"/>
                </a:solidFill>
                <a:latin typeface="Inter"/>
                <a:ea typeface="Inter"/>
                <a:cs typeface="Inter"/>
                <a:sym typeface="Inter"/>
              </a:rPr>
              <a:t>and may limit generalization in diverse real-world scenarios.</a:t>
            </a:r>
          </a:p>
        </p:txBody>
      </p:sp>
      <p:grpSp>
        <p:nvGrpSpPr>
          <p:cNvPr id="28" name="Group 28"/>
          <p:cNvGrpSpPr/>
          <p:nvPr/>
        </p:nvGrpSpPr>
        <p:grpSpPr>
          <a:xfrm>
            <a:off x="9210827" y="5108677"/>
            <a:ext cx="8339728" cy="1249861"/>
            <a:chOff x="0" y="0"/>
            <a:chExt cx="11119637" cy="1666481"/>
          </a:xfrm>
        </p:grpSpPr>
        <p:sp>
          <p:nvSpPr>
            <p:cNvPr id="29" name="Freeform 29"/>
            <p:cNvSpPr/>
            <p:nvPr/>
          </p:nvSpPr>
          <p:spPr>
            <a:xfrm>
              <a:off x="19050" y="19050"/>
              <a:ext cx="11081638" cy="1628394"/>
            </a:xfrm>
            <a:custGeom>
              <a:avLst/>
              <a:gdLst/>
              <a:ahLst/>
              <a:cxnLst/>
              <a:rect l="l" t="t" r="r" b="b"/>
              <a:pathLst>
                <a:path w="11081638" h="1628394">
                  <a:moveTo>
                    <a:pt x="0" y="120269"/>
                  </a:moveTo>
                  <a:cubicBezTo>
                    <a:pt x="0" y="53848"/>
                    <a:pt x="54864" y="0"/>
                    <a:pt x="122682" y="0"/>
                  </a:cubicBezTo>
                  <a:lnTo>
                    <a:pt x="10958957" y="0"/>
                  </a:lnTo>
                  <a:cubicBezTo>
                    <a:pt x="11026648" y="0"/>
                    <a:pt x="11081638" y="53848"/>
                    <a:pt x="11081638" y="120269"/>
                  </a:cubicBezTo>
                  <a:lnTo>
                    <a:pt x="11081638" y="1508125"/>
                  </a:lnTo>
                  <a:cubicBezTo>
                    <a:pt x="11081638" y="1574546"/>
                    <a:pt x="11026775" y="1628394"/>
                    <a:pt x="10958957" y="1628394"/>
                  </a:cubicBezTo>
                  <a:lnTo>
                    <a:pt x="122682" y="1628394"/>
                  </a:lnTo>
                  <a:cubicBezTo>
                    <a:pt x="54991" y="1628394"/>
                    <a:pt x="0" y="1574546"/>
                    <a:pt x="0" y="1508125"/>
                  </a:cubicBezTo>
                  <a:close/>
                </a:path>
              </a:pathLst>
            </a:custGeom>
            <a:solidFill>
              <a:srgbClr val="FFFFFF"/>
            </a:solidFill>
          </p:spPr>
        </p:sp>
        <p:sp>
          <p:nvSpPr>
            <p:cNvPr id="30" name="Freeform 30"/>
            <p:cNvSpPr/>
            <p:nvPr/>
          </p:nvSpPr>
          <p:spPr>
            <a:xfrm>
              <a:off x="0" y="0"/>
              <a:ext cx="11119738" cy="1666494"/>
            </a:xfrm>
            <a:custGeom>
              <a:avLst/>
              <a:gdLst/>
              <a:ahLst/>
              <a:cxnLst/>
              <a:rect l="l" t="t" r="r" b="b"/>
              <a:pathLst>
                <a:path w="11119738" h="1666494">
                  <a:moveTo>
                    <a:pt x="0" y="139319"/>
                  </a:moveTo>
                  <a:cubicBezTo>
                    <a:pt x="0" y="61976"/>
                    <a:pt x="63754" y="0"/>
                    <a:pt x="141732" y="0"/>
                  </a:cubicBezTo>
                  <a:lnTo>
                    <a:pt x="10978007" y="0"/>
                  </a:lnTo>
                  <a:lnTo>
                    <a:pt x="10978007" y="19050"/>
                  </a:lnTo>
                  <a:lnTo>
                    <a:pt x="10978007" y="0"/>
                  </a:lnTo>
                  <a:cubicBezTo>
                    <a:pt x="11055858" y="0"/>
                    <a:pt x="11119738" y="61976"/>
                    <a:pt x="11119738" y="139319"/>
                  </a:cubicBezTo>
                  <a:lnTo>
                    <a:pt x="11100688" y="139319"/>
                  </a:lnTo>
                  <a:lnTo>
                    <a:pt x="11119738" y="139319"/>
                  </a:lnTo>
                  <a:lnTo>
                    <a:pt x="11119738" y="1527175"/>
                  </a:lnTo>
                  <a:lnTo>
                    <a:pt x="11100688" y="1527175"/>
                  </a:lnTo>
                  <a:lnTo>
                    <a:pt x="11119738" y="1527175"/>
                  </a:lnTo>
                  <a:cubicBezTo>
                    <a:pt x="11119738" y="1604518"/>
                    <a:pt x="11055985" y="1666494"/>
                    <a:pt x="10978007" y="1666494"/>
                  </a:cubicBezTo>
                  <a:lnTo>
                    <a:pt x="10978007" y="1647444"/>
                  </a:lnTo>
                  <a:lnTo>
                    <a:pt x="10978007" y="1666494"/>
                  </a:lnTo>
                  <a:lnTo>
                    <a:pt x="141732" y="1666494"/>
                  </a:lnTo>
                  <a:lnTo>
                    <a:pt x="141732" y="1647444"/>
                  </a:lnTo>
                  <a:lnTo>
                    <a:pt x="141732" y="1666494"/>
                  </a:lnTo>
                  <a:cubicBezTo>
                    <a:pt x="63754" y="1666494"/>
                    <a:pt x="0" y="1604518"/>
                    <a:pt x="0" y="1527175"/>
                  </a:cubicBezTo>
                  <a:lnTo>
                    <a:pt x="0" y="139319"/>
                  </a:lnTo>
                  <a:lnTo>
                    <a:pt x="19050" y="139319"/>
                  </a:lnTo>
                  <a:lnTo>
                    <a:pt x="0" y="139319"/>
                  </a:lnTo>
                  <a:moveTo>
                    <a:pt x="38100" y="139319"/>
                  </a:moveTo>
                  <a:lnTo>
                    <a:pt x="38100" y="1527175"/>
                  </a:lnTo>
                  <a:lnTo>
                    <a:pt x="19050" y="1527175"/>
                  </a:lnTo>
                  <a:lnTo>
                    <a:pt x="38100" y="1527175"/>
                  </a:lnTo>
                  <a:cubicBezTo>
                    <a:pt x="38100" y="1582674"/>
                    <a:pt x="84074" y="1628394"/>
                    <a:pt x="141732" y="1628394"/>
                  </a:cubicBezTo>
                  <a:lnTo>
                    <a:pt x="10978007" y="1628394"/>
                  </a:lnTo>
                  <a:cubicBezTo>
                    <a:pt x="11035538" y="1628394"/>
                    <a:pt x="11081638" y="1582674"/>
                    <a:pt x="11081638" y="1527175"/>
                  </a:cubicBezTo>
                  <a:lnTo>
                    <a:pt x="11081638" y="139319"/>
                  </a:lnTo>
                  <a:cubicBezTo>
                    <a:pt x="11081638" y="83820"/>
                    <a:pt x="11035664" y="38100"/>
                    <a:pt x="10978007" y="38100"/>
                  </a:cubicBezTo>
                  <a:lnTo>
                    <a:pt x="141732" y="38100"/>
                  </a:lnTo>
                  <a:lnTo>
                    <a:pt x="141732" y="19050"/>
                  </a:lnTo>
                  <a:lnTo>
                    <a:pt x="141732" y="38100"/>
                  </a:lnTo>
                  <a:cubicBezTo>
                    <a:pt x="84074" y="38100"/>
                    <a:pt x="38100" y="83820"/>
                    <a:pt x="38100" y="139319"/>
                  </a:cubicBezTo>
                  <a:close/>
                </a:path>
              </a:pathLst>
            </a:custGeom>
            <a:solidFill>
              <a:srgbClr val="C0C1D7"/>
            </a:solidFill>
          </p:spPr>
        </p:sp>
      </p:grpSp>
      <p:sp>
        <p:nvSpPr>
          <p:cNvPr id="31" name="TextBox 31"/>
          <p:cNvSpPr txBox="1"/>
          <p:nvPr/>
        </p:nvSpPr>
        <p:spPr>
          <a:xfrm>
            <a:off x="9468298" y="5337572"/>
            <a:ext cx="4097388" cy="364179"/>
          </a:xfrm>
          <a:prstGeom prst="rect">
            <a:avLst/>
          </a:prstGeom>
        </p:spPr>
        <p:txBody>
          <a:bodyPr lIns="0" tIns="0" rIns="0" bIns="0" rtlCol="0" anchor="t">
            <a:spAutoFit/>
          </a:bodyPr>
          <a:lstStyle/>
          <a:p>
            <a:pPr algn="l">
              <a:lnSpc>
                <a:spcPts val="2625"/>
              </a:lnSpc>
            </a:pPr>
            <a:r>
              <a:rPr lang="en-US" sz="2062" b="1">
                <a:solidFill>
                  <a:srgbClr val="272525"/>
                </a:solidFill>
                <a:latin typeface="Inter Bold"/>
                <a:ea typeface="Inter Bold"/>
                <a:cs typeface="Inter Bold"/>
                <a:sym typeface="Inter Bold"/>
              </a:rPr>
              <a:t>Inter-class confusion observed</a:t>
            </a:r>
          </a:p>
        </p:txBody>
      </p:sp>
      <p:sp>
        <p:nvSpPr>
          <p:cNvPr id="32" name="TextBox 32"/>
          <p:cNvSpPr txBox="1"/>
          <p:nvPr/>
        </p:nvSpPr>
        <p:spPr>
          <a:xfrm>
            <a:off x="9468298" y="5770664"/>
            <a:ext cx="7824788" cy="330403"/>
          </a:xfrm>
          <a:prstGeom prst="rect">
            <a:avLst/>
          </a:prstGeom>
        </p:spPr>
        <p:txBody>
          <a:bodyPr lIns="0" tIns="0" rIns="0" bIns="0" rtlCol="0" anchor="t">
            <a:spAutoFit/>
          </a:bodyPr>
          <a:lstStyle/>
          <a:p>
            <a:pPr algn="l">
              <a:lnSpc>
                <a:spcPts val="2375"/>
              </a:lnSpc>
            </a:pPr>
            <a:r>
              <a:rPr lang="en-US" sz="1687">
                <a:solidFill>
                  <a:srgbClr val="272525"/>
                </a:solidFill>
                <a:latin typeface="Inter"/>
                <a:ea typeface="Inter"/>
                <a:cs typeface="Inter"/>
                <a:sym typeface="Inter"/>
              </a:rPr>
              <a:t>among gesturally similar signs.</a:t>
            </a:r>
          </a:p>
        </p:txBody>
      </p:sp>
      <p:sp>
        <p:nvSpPr>
          <p:cNvPr id="33" name="TextBox 33"/>
          <p:cNvSpPr txBox="1"/>
          <p:nvPr/>
        </p:nvSpPr>
        <p:spPr>
          <a:xfrm>
            <a:off x="751580" y="6578651"/>
            <a:ext cx="3350714" cy="412109"/>
          </a:xfrm>
          <a:prstGeom prst="rect">
            <a:avLst/>
          </a:prstGeom>
        </p:spPr>
        <p:txBody>
          <a:bodyPr lIns="0" tIns="0" rIns="0" bIns="0" rtlCol="0" anchor="t">
            <a:spAutoFit/>
          </a:bodyPr>
          <a:lstStyle/>
          <a:p>
            <a:pPr algn="l">
              <a:lnSpc>
                <a:spcPts val="3124"/>
              </a:lnSpc>
            </a:pPr>
            <a:r>
              <a:rPr lang="en-US" sz="2499" b="1">
                <a:solidFill>
                  <a:srgbClr val="000000"/>
                </a:solidFill>
                <a:latin typeface="Inter Bold"/>
                <a:ea typeface="Inter Bold"/>
                <a:cs typeface="Inter Bold"/>
                <a:sym typeface="Inter Bold"/>
              </a:rPr>
              <a:t>Future Improvements</a:t>
            </a:r>
          </a:p>
        </p:txBody>
      </p:sp>
      <p:sp>
        <p:nvSpPr>
          <p:cNvPr id="34" name="Freeform 34" descr="preencoded.png"/>
          <p:cNvSpPr/>
          <p:nvPr/>
        </p:nvSpPr>
        <p:spPr>
          <a:xfrm>
            <a:off x="832094" y="7245248"/>
            <a:ext cx="322059" cy="322059"/>
          </a:xfrm>
          <a:custGeom>
            <a:avLst/>
            <a:gdLst/>
            <a:ahLst/>
            <a:cxnLst/>
            <a:rect l="l" t="t" r="r" b="b"/>
            <a:pathLst>
              <a:path w="322059" h="322059">
                <a:moveTo>
                  <a:pt x="0" y="0"/>
                </a:moveTo>
                <a:lnTo>
                  <a:pt x="322060" y="0"/>
                </a:lnTo>
                <a:lnTo>
                  <a:pt x="322060" y="322060"/>
                </a:lnTo>
                <a:lnTo>
                  <a:pt x="0" y="322060"/>
                </a:lnTo>
                <a:lnTo>
                  <a:pt x="0" y="0"/>
                </a:lnTo>
                <a:close/>
              </a:path>
            </a:pathLst>
          </a:custGeom>
          <a:blipFill>
            <a:blip r:embed="rId3">
              <a:extLst>
                <a:ext uri="{96DAC541-7B7A-43D3-8B79-37D633B846F1}">
                  <asvg:svgBlip xmlns:asvg="http://schemas.microsoft.com/office/drawing/2016/SVG/main" r:embed="rId4"/>
                </a:ext>
              </a:extLst>
            </a:blip>
            <a:stretch>
              <a:fillRect l="-8822" r="-8825"/>
            </a:stretch>
          </a:blipFill>
        </p:spPr>
      </p:sp>
      <p:sp>
        <p:nvSpPr>
          <p:cNvPr id="35" name="TextBox 35"/>
          <p:cNvSpPr txBox="1"/>
          <p:nvPr/>
        </p:nvSpPr>
        <p:spPr>
          <a:xfrm>
            <a:off x="1449286" y="7206110"/>
            <a:ext cx="7593063" cy="330403"/>
          </a:xfrm>
          <a:prstGeom prst="rect">
            <a:avLst/>
          </a:prstGeom>
        </p:spPr>
        <p:txBody>
          <a:bodyPr lIns="0" tIns="0" rIns="0" bIns="0" rtlCol="0" anchor="t">
            <a:spAutoFit/>
          </a:bodyPr>
          <a:lstStyle/>
          <a:p>
            <a:pPr algn="l">
              <a:lnSpc>
                <a:spcPts val="2375"/>
              </a:lnSpc>
            </a:pPr>
            <a:r>
              <a:rPr lang="en-US" sz="1687" dirty="0">
                <a:solidFill>
                  <a:srgbClr val="272525"/>
                </a:solidFill>
                <a:latin typeface="Inter"/>
                <a:ea typeface="Inter"/>
                <a:cs typeface="Inter"/>
                <a:sym typeface="Inter"/>
              </a:rPr>
              <a:t>Larger datasets</a:t>
            </a:r>
          </a:p>
        </p:txBody>
      </p:sp>
      <p:sp>
        <p:nvSpPr>
          <p:cNvPr id="36" name="Freeform 36" descr="preencoded.png"/>
          <p:cNvSpPr/>
          <p:nvPr/>
        </p:nvSpPr>
        <p:spPr>
          <a:xfrm>
            <a:off x="9326013" y="7245248"/>
            <a:ext cx="322059" cy="322059"/>
          </a:xfrm>
          <a:custGeom>
            <a:avLst/>
            <a:gdLst/>
            <a:ahLst/>
            <a:cxnLst/>
            <a:rect l="l" t="t" r="r" b="b"/>
            <a:pathLst>
              <a:path w="322059" h="322059">
                <a:moveTo>
                  <a:pt x="0" y="0"/>
                </a:moveTo>
                <a:lnTo>
                  <a:pt x="322060" y="0"/>
                </a:lnTo>
                <a:lnTo>
                  <a:pt x="322060" y="322060"/>
                </a:lnTo>
                <a:lnTo>
                  <a:pt x="0" y="322060"/>
                </a:lnTo>
                <a:lnTo>
                  <a:pt x="0" y="0"/>
                </a:lnTo>
                <a:close/>
              </a:path>
            </a:pathLst>
          </a:custGeom>
          <a:blipFill>
            <a:blip r:embed="rId3">
              <a:extLst>
                <a:ext uri="{96DAC541-7B7A-43D3-8B79-37D633B846F1}">
                  <asvg:svgBlip xmlns:asvg="http://schemas.microsoft.com/office/drawing/2016/SVG/main" r:embed="rId4"/>
                </a:ext>
              </a:extLst>
            </a:blip>
            <a:stretch>
              <a:fillRect l="-8822" r="-8825"/>
            </a:stretch>
          </a:blipFill>
        </p:spPr>
      </p:sp>
      <p:sp>
        <p:nvSpPr>
          <p:cNvPr id="37" name="TextBox 37"/>
          <p:cNvSpPr txBox="1"/>
          <p:nvPr/>
        </p:nvSpPr>
        <p:spPr>
          <a:xfrm>
            <a:off x="9943205" y="7206110"/>
            <a:ext cx="7593216" cy="330403"/>
          </a:xfrm>
          <a:prstGeom prst="rect">
            <a:avLst/>
          </a:prstGeom>
        </p:spPr>
        <p:txBody>
          <a:bodyPr lIns="0" tIns="0" rIns="0" bIns="0" rtlCol="0" anchor="t">
            <a:spAutoFit/>
          </a:bodyPr>
          <a:lstStyle/>
          <a:p>
            <a:pPr algn="l">
              <a:lnSpc>
                <a:spcPts val="2375"/>
              </a:lnSpc>
            </a:pPr>
            <a:r>
              <a:rPr lang="en-US" sz="1687" dirty="0">
                <a:solidFill>
                  <a:srgbClr val="272525"/>
                </a:solidFill>
                <a:latin typeface="Inter"/>
                <a:ea typeface="Inter"/>
                <a:cs typeface="Inter"/>
                <a:sym typeface="Inter"/>
              </a:rPr>
              <a:t>Domain adaptation techniques</a:t>
            </a:r>
          </a:p>
        </p:txBody>
      </p:sp>
      <p:sp>
        <p:nvSpPr>
          <p:cNvPr id="38" name="Freeform 38" descr="preencoded.png"/>
          <p:cNvSpPr/>
          <p:nvPr/>
        </p:nvSpPr>
        <p:spPr>
          <a:xfrm>
            <a:off x="832094" y="8225285"/>
            <a:ext cx="322059" cy="322059"/>
          </a:xfrm>
          <a:custGeom>
            <a:avLst/>
            <a:gdLst/>
            <a:ahLst/>
            <a:cxnLst/>
            <a:rect l="l" t="t" r="r" b="b"/>
            <a:pathLst>
              <a:path w="322059" h="322059">
                <a:moveTo>
                  <a:pt x="0" y="0"/>
                </a:moveTo>
                <a:lnTo>
                  <a:pt x="322060" y="0"/>
                </a:lnTo>
                <a:lnTo>
                  <a:pt x="322060" y="322059"/>
                </a:lnTo>
                <a:lnTo>
                  <a:pt x="0" y="322059"/>
                </a:lnTo>
                <a:lnTo>
                  <a:pt x="0" y="0"/>
                </a:lnTo>
                <a:close/>
              </a:path>
            </a:pathLst>
          </a:custGeom>
          <a:blipFill>
            <a:blip r:embed="rId3">
              <a:extLst>
                <a:ext uri="{96DAC541-7B7A-43D3-8B79-37D633B846F1}">
                  <asvg:svgBlip xmlns:asvg="http://schemas.microsoft.com/office/drawing/2016/SVG/main" r:embed="rId4"/>
                </a:ext>
              </a:extLst>
            </a:blip>
            <a:stretch>
              <a:fillRect l="-8822" r="-8825"/>
            </a:stretch>
          </a:blipFill>
        </p:spPr>
      </p:sp>
      <p:sp>
        <p:nvSpPr>
          <p:cNvPr id="39" name="TextBox 39"/>
          <p:cNvSpPr txBox="1"/>
          <p:nvPr/>
        </p:nvSpPr>
        <p:spPr>
          <a:xfrm>
            <a:off x="1449286" y="8186147"/>
            <a:ext cx="7593063" cy="330403"/>
          </a:xfrm>
          <a:prstGeom prst="rect">
            <a:avLst/>
          </a:prstGeom>
        </p:spPr>
        <p:txBody>
          <a:bodyPr lIns="0" tIns="0" rIns="0" bIns="0" rtlCol="0" anchor="t">
            <a:spAutoFit/>
          </a:bodyPr>
          <a:lstStyle/>
          <a:p>
            <a:pPr algn="l">
              <a:lnSpc>
                <a:spcPts val="2375"/>
              </a:lnSpc>
            </a:pPr>
            <a:r>
              <a:rPr lang="en-US" sz="1687" dirty="0">
                <a:solidFill>
                  <a:srgbClr val="272525"/>
                </a:solidFill>
                <a:latin typeface="Inter"/>
                <a:ea typeface="Inter"/>
                <a:cs typeface="Inter"/>
                <a:sym typeface="Inter"/>
              </a:rPr>
              <a:t>Transformer-based sequence models</a:t>
            </a:r>
          </a:p>
        </p:txBody>
      </p:sp>
      <p:sp>
        <p:nvSpPr>
          <p:cNvPr id="40" name="Freeform 40" descr="preencoded.png"/>
          <p:cNvSpPr/>
          <p:nvPr/>
        </p:nvSpPr>
        <p:spPr>
          <a:xfrm>
            <a:off x="9326013" y="8225285"/>
            <a:ext cx="322059" cy="322059"/>
          </a:xfrm>
          <a:custGeom>
            <a:avLst/>
            <a:gdLst/>
            <a:ahLst/>
            <a:cxnLst/>
            <a:rect l="l" t="t" r="r" b="b"/>
            <a:pathLst>
              <a:path w="322059" h="322059">
                <a:moveTo>
                  <a:pt x="0" y="0"/>
                </a:moveTo>
                <a:lnTo>
                  <a:pt x="322060" y="0"/>
                </a:lnTo>
                <a:lnTo>
                  <a:pt x="322060" y="322059"/>
                </a:lnTo>
                <a:lnTo>
                  <a:pt x="0" y="322059"/>
                </a:lnTo>
                <a:lnTo>
                  <a:pt x="0" y="0"/>
                </a:lnTo>
                <a:close/>
              </a:path>
            </a:pathLst>
          </a:custGeom>
          <a:blipFill>
            <a:blip r:embed="rId3">
              <a:extLst>
                <a:ext uri="{96DAC541-7B7A-43D3-8B79-37D633B846F1}">
                  <asvg:svgBlip xmlns:asvg="http://schemas.microsoft.com/office/drawing/2016/SVG/main" r:embed="rId4"/>
                </a:ext>
              </a:extLst>
            </a:blip>
            <a:stretch>
              <a:fillRect l="-8822" r="-8825"/>
            </a:stretch>
          </a:blipFill>
        </p:spPr>
      </p:sp>
      <p:sp>
        <p:nvSpPr>
          <p:cNvPr id="41" name="TextBox 41"/>
          <p:cNvSpPr txBox="1"/>
          <p:nvPr/>
        </p:nvSpPr>
        <p:spPr>
          <a:xfrm>
            <a:off x="9943205" y="8186147"/>
            <a:ext cx="7593216" cy="330403"/>
          </a:xfrm>
          <a:prstGeom prst="rect">
            <a:avLst/>
          </a:prstGeom>
        </p:spPr>
        <p:txBody>
          <a:bodyPr lIns="0" tIns="0" rIns="0" bIns="0" rtlCol="0" anchor="t">
            <a:spAutoFit/>
          </a:bodyPr>
          <a:lstStyle/>
          <a:p>
            <a:pPr algn="l">
              <a:lnSpc>
                <a:spcPts val="2375"/>
              </a:lnSpc>
            </a:pPr>
            <a:r>
              <a:rPr lang="en-US" sz="1687" dirty="0">
                <a:solidFill>
                  <a:srgbClr val="272525"/>
                </a:solidFill>
                <a:latin typeface="Inter"/>
                <a:ea typeface="Inter"/>
                <a:cs typeface="Inter"/>
                <a:sym typeface="Inter"/>
              </a:rPr>
              <a:t>Data augmentation strategies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667645" y="1299867"/>
            <a:ext cx="4965202" cy="605733"/>
          </a:xfrm>
          <a:prstGeom prst="rect">
            <a:avLst/>
          </a:prstGeom>
        </p:spPr>
        <p:txBody>
          <a:bodyPr lIns="0" tIns="0" rIns="0" bIns="0" rtlCol="0" anchor="t">
            <a:spAutoFit/>
          </a:bodyPr>
          <a:lstStyle/>
          <a:p>
            <a:pPr algn="l">
              <a:lnSpc>
                <a:spcPts val="4687"/>
              </a:lnSpc>
            </a:pPr>
            <a:r>
              <a:rPr lang="en-US" sz="3749" b="1">
                <a:solidFill>
                  <a:srgbClr val="000000"/>
                </a:solidFill>
                <a:latin typeface="Inter Bold"/>
                <a:ea typeface="Inter Bold"/>
                <a:cs typeface="Inter Bold"/>
                <a:sym typeface="Inter Bold"/>
              </a:rPr>
              <a:t>Project Contributions</a:t>
            </a:r>
          </a:p>
        </p:txBody>
      </p:sp>
      <p:sp>
        <p:nvSpPr>
          <p:cNvPr id="7" name="TextBox 7"/>
          <p:cNvSpPr txBox="1"/>
          <p:nvPr/>
        </p:nvSpPr>
        <p:spPr>
          <a:xfrm>
            <a:off x="667645" y="2133752"/>
            <a:ext cx="16952709" cy="283816"/>
          </a:xfrm>
          <a:prstGeom prst="rect">
            <a:avLst/>
          </a:prstGeom>
        </p:spPr>
        <p:txBody>
          <a:bodyPr lIns="0" tIns="0" rIns="0" bIns="0" rtlCol="0" anchor="t">
            <a:spAutoFit/>
          </a:bodyPr>
          <a:lstStyle/>
          <a:p>
            <a:pPr algn="l">
              <a:lnSpc>
                <a:spcPts val="2000"/>
              </a:lnSpc>
            </a:pPr>
            <a:r>
              <a:rPr lang="en-US" sz="1500">
                <a:solidFill>
                  <a:srgbClr val="272525"/>
                </a:solidFill>
                <a:latin typeface="Inter"/>
                <a:ea typeface="Inter"/>
                <a:cs typeface="Inter"/>
                <a:sym typeface="Inter"/>
              </a:rPr>
              <a:t>This project makes several important contributions to sign language recognition research:</a:t>
            </a:r>
          </a:p>
        </p:txBody>
      </p:sp>
      <p:grpSp>
        <p:nvGrpSpPr>
          <p:cNvPr id="8" name="Group 8"/>
          <p:cNvGrpSpPr/>
          <p:nvPr/>
        </p:nvGrpSpPr>
        <p:grpSpPr>
          <a:xfrm>
            <a:off x="653358" y="2547642"/>
            <a:ext cx="16981284" cy="1352398"/>
            <a:chOff x="0" y="0"/>
            <a:chExt cx="22641712" cy="1803197"/>
          </a:xfrm>
        </p:grpSpPr>
        <p:sp>
          <p:nvSpPr>
            <p:cNvPr id="9" name="Freeform 9"/>
            <p:cNvSpPr/>
            <p:nvPr/>
          </p:nvSpPr>
          <p:spPr>
            <a:xfrm>
              <a:off x="19050" y="19050"/>
              <a:ext cx="22603586" cy="1765046"/>
            </a:xfrm>
            <a:custGeom>
              <a:avLst/>
              <a:gdLst/>
              <a:ahLst/>
              <a:cxnLst/>
              <a:rect l="l" t="t" r="r" b="b"/>
              <a:pathLst>
                <a:path w="22603586" h="1765046">
                  <a:moveTo>
                    <a:pt x="0" y="106807"/>
                  </a:moveTo>
                  <a:cubicBezTo>
                    <a:pt x="0" y="47752"/>
                    <a:pt x="48768" y="0"/>
                    <a:pt x="108966" y="0"/>
                  </a:cubicBezTo>
                  <a:lnTo>
                    <a:pt x="22494621" y="0"/>
                  </a:lnTo>
                  <a:cubicBezTo>
                    <a:pt x="22554819" y="0"/>
                    <a:pt x="22603586" y="47879"/>
                    <a:pt x="22603586" y="106807"/>
                  </a:cubicBezTo>
                  <a:lnTo>
                    <a:pt x="22603586" y="1658239"/>
                  </a:lnTo>
                  <a:cubicBezTo>
                    <a:pt x="22603586" y="1717294"/>
                    <a:pt x="22554819" y="1765046"/>
                    <a:pt x="22494621" y="1765046"/>
                  </a:cubicBezTo>
                  <a:lnTo>
                    <a:pt x="108966" y="1765046"/>
                  </a:lnTo>
                  <a:cubicBezTo>
                    <a:pt x="48768" y="1765046"/>
                    <a:pt x="0" y="1717167"/>
                    <a:pt x="0" y="1658239"/>
                  </a:cubicBezTo>
                  <a:close/>
                </a:path>
              </a:pathLst>
            </a:custGeom>
            <a:solidFill>
              <a:srgbClr val="FFFFFF"/>
            </a:solidFill>
          </p:spPr>
        </p:sp>
        <p:sp>
          <p:nvSpPr>
            <p:cNvPr id="10" name="Freeform 10"/>
            <p:cNvSpPr/>
            <p:nvPr/>
          </p:nvSpPr>
          <p:spPr>
            <a:xfrm>
              <a:off x="0" y="0"/>
              <a:ext cx="22641686" cy="1803146"/>
            </a:xfrm>
            <a:custGeom>
              <a:avLst/>
              <a:gdLst/>
              <a:ahLst/>
              <a:cxnLst/>
              <a:rect l="l" t="t" r="r" b="b"/>
              <a:pathLst>
                <a:path w="22641686" h="1803146">
                  <a:moveTo>
                    <a:pt x="0" y="125857"/>
                  </a:moveTo>
                  <a:cubicBezTo>
                    <a:pt x="0" y="56007"/>
                    <a:pt x="57658" y="0"/>
                    <a:pt x="128016" y="0"/>
                  </a:cubicBezTo>
                  <a:lnTo>
                    <a:pt x="22513671" y="0"/>
                  </a:lnTo>
                  <a:lnTo>
                    <a:pt x="22513671" y="19050"/>
                  </a:lnTo>
                  <a:lnTo>
                    <a:pt x="22513671" y="0"/>
                  </a:lnTo>
                  <a:cubicBezTo>
                    <a:pt x="22584029" y="0"/>
                    <a:pt x="22641686" y="56007"/>
                    <a:pt x="22641686" y="125857"/>
                  </a:cubicBezTo>
                  <a:lnTo>
                    <a:pt x="22622636" y="125857"/>
                  </a:lnTo>
                  <a:lnTo>
                    <a:pt x="22641686" y="125857"/>
                  </a:lnTo>
                  <a:lnTo>
                    <a:pt x="22641686" y="1677289"/>
                  </a:lnTo>
                  <a:lnTo>
                    <a:pt x="22622636" y="1677289"/>
                  </a:lnTo>
                  <a:lnTo>
                    <a:pt x="22641686" y="1677289"/>
                  </a:lnTo>
                  <a:cubicBezTo>
                    <a:pt x="22641686" y="1747139"/>
                    <a:pt x="22584029" y="1803146"/>
                    <a:pt x="22513671" y="1803146"/>
                  </a:cubicBezTo>
                  <a:lnTo>
                    <a:pt x="22513671" y="1784096"/>
                  </a:lnTo>
                  <a:lnTo>
                    <a:pt x="22513671" y="1803146"/>
                  </a:lnTo>
                  <a:lnTo>
                    <a:pt x="128016" y="1803146"/>
                  </a:lnTo>
                  <a:lnTo>
                    <a:pt x="128016" y="1784096"/>
                  </a:lnTo>
                  <a:lnTo>
                    <a:pt x="128016" y="1803146"/>
                  </a:lnTo>
                  <a:cubicBezTo>
                    <a:pt x="57658" y="1803146"/>
                    <a:pt x="0" y="1747139"/>
                    <a:pt x="0" y="1677289"/>
                  </a:cubicBezTo>
                  <a:lnTo>
                    <a:pt x="0" y="125857"/>
                  </a:lnTo>
                  <a:lnTo>
                    <a:pt x="19050" y="125857"/>
                  </a:lnTo>
                  <a:lnTo>
                    <a:pt x="0" y="125857"/>
                  </a:lnTo>
                  <a:moveTo>
                    <a:pt x="38100" y="125857"/>
                  </a:moveTo>
                  <a:lnTo>
                    <a:pt x="38100" y="1677289"/>
                  </a:lnTo>
                  <a:lnTo>
                    <a:pt x="19050" y="1677289"/>
                  </a:lnTo>
                  <a:lnTo>
                    <a:pt x="38100" y="1677289"/>
                  </a:lnTo>
                  <a:cubicBezTo>
                    <a:pt x="38100" y="1725422"/>
                    <a:pt x="77978" y="1765046"/>
                    <a:pt x="128016" y="1765046"/>
                  </a:cubicBezTo>
                  <a:lnTo>
                    <a:pt x="22513671" y="1765046"/>
                  </a:lnTo>
                  <a:cubicBezTo>
                    <a:pt x="22563710" y="1765046"/>
                    <a:pt x="22603586" y="1725422"/>
                    <a:pt x="22603586" y="1677289"/>
                  </a:cubicBezTo>
                  <a:lnTo>
                    <a:pt x="22603586" y="125857"/>
                  </a:lnTo>
                  <a:cubicBezTo>
                    <a:pt x="22603586" y="77724"/>
                    <a:pt x="22563710" y="38100"/>
                    <a:pt x="22513671" y="38100"/>
                  </a:cubicBezTo>
                  <a:lnTo>
                    <a:pt x="128016" y="38100"/>
                  </a:lnTo>
                  <a:lnTo>
                    <a:pt x="128016" y="19050"/>
                  </a:lnTo>
                  <a:lnTo>
                    <a:pt x="128016" y="38100"/>
                  </a:lnTo>
                  <a:cubicBezTo>
                    <a:pt x="77978" y="38100"/>
                    <a:pt x="38100" y="77724"/>
                    <a:pt x="38100" y="125857"/>
                  </a:cubicBezTo>
                  <a:close/>
                </a:path>
              </a:pathLst>
            </a:custGeom>
            <a:solidFill>
              <a:srgbClr val="C0C1D7"/>
            </a:solidFill>
          </p:spPr>
        </p:sp>
      </p:grpSp>
      <p:grpSp>
        <p:nvGrpSpPr>
          <p:cNvPr id="11" name="Group 11"/>
          <p:cNvGrpSpPr/>
          <p:nvPr/>
        </p:nvGrpSpPr>
        <p:grpSpPr>
          <a:xfrm>
            <a:off x="696220" y="2590505"/>
            <a:ext cx="763038" cy="1266673"/>
            <a:chOff x="0" y="0"/>
            <a:chExt cx="1017384" cy="1688897"/>
          </a:xfrm>
        </p:grpSpPr>
        <p:sp>
          <p:nvSpPr>
            <p:cNvPr id="12" name="Freeform 12"/>
            <p:cNvSpPr/>
            <p:nvPr/>
          </p:nvSpPr>
          <p:spPr>
            <a:xfrm>
              <a:off x="0" y="0"/>
              <a:ext cx="1017397" cy="1688846"/>
            </a:xfrm>
            <a:custGeom>
              <a:avLst/>
              <a:gdLst/>
              <a:ahLst/>
              <a:cxnLst/>
              <a:rect l="l" t="t" r="r" b="b"/>
              <a:pathLst>
                <a:path w="1017397" h="1688846">
                  <a:moveTo>
                    <a:pt x="0" y="61087"/>
                  </a:moveTo>
                  <a:cubicBezTo>
                    <a:pt x="0" y="27305"/>
                    <a:pt x="27305" y="0"/>
                    <a:pt x="61087" y="0"/>
                  </a:cubicBezTo>
                  <a:lnTo>
                    <a:pt x="956310" y="0"/>
                  </a:lnTo>
                  <a:cubicBezTo>
                    <a:pt x="990092" y="0"/>
                    <a:pt x="1017397" y="27305"/>
                    <a:pt x="1017397" y="61087"/>
                  </a:cubicBezTo>
                  <a:lnTo>
                    <a:pt x="1017397" y="1627759"/>
                  </a:lnTo>
                  <a:cubicBezTo>
                    <a:pt x="1017397" y="1661541"/>
                    <a:pt x="990092" y="1688846"/>
                    <a:pt x="956310" y="1688846"/>
                  </a:cubicBezTo>
                  <a:lnTo>
                    <a:pt x="61087" y="1688846"/>
                  </a:lnTo>
                  <a:cubicBezTo>
                    <a:pt x="27305" y="1688846"/>
                    <a:pt x="0" y="1661541"/>
                    <a:pt x="0" y="1627759"/>
                  </a:cubicBezTo>
                  <a:close/>
                </a:path>
              </a:pathLst>
            </a:custGeom>
            <a:solidFill>
              <a:srgbClr val="DADBF1"/>
            </a:solidFill>
          </p:spPr>
        </p:sp>
      </p:grpSp>
      <p:sp>
        <p:nvSpPr>
          <p:cNvPr id="13" name="TextBox 13"/>
          <p:cNvSpPr txBox="1"/>
          <p:nvPr/>
        </p:nvSpPr>
        <p:spPr>
          <a:xfrm>
            <a:off x="929878" y="3083128"/>
            <a:ext cx="286045" cy="319535"/>
          </a:xfrm>
          <a:prstGeom prst="rect">
            <a:avLst/>
          </a:prstGeom>
        </p:spPr>
        <p:txBody>
          <a:bodyPr lIns="0" tIns="0" rIns="0" bIns="0" rtlCol="0" anchor="t">
            <a:spAutoFit/>
          </a:bodyPr>
          <a:lstStyle/>
          <a:p>
            <a:pPr algn="l">
              <a:lnSpc>
                <a:spcPts val="2249"/>
              </a:lnSpc>
            </a:pPr>
            <a:r>
              <a:rPr lang="en-US" sz="2249" b="1">
                <a:solidFill>
                  <a:srgbClr val="272525"/>
                </a:solidFill>
                <a:latin typeface="Inter Bold"/>
                <a:ea typeface="Inter Bold"/>
                <a:cs typeface="Inter Bold"/>
                <a:sym typeface="Inter Bold"/>
              </a:rPr>
              <a:t>1</a:t>
            </a:r>
          </a:p>
        </p:txBody>
      </p:sp>
      <p:sp>
        <p:nvSpPr>
          <p:cNvPr id="14" name="TextBox 14"/>
          <p:cNvSpPr txBox="1"/>
          <p:nvPr/>
        </p:nvSpPr>
        <p:spPr>
          <a:xfrm>
            <a:off x="1587551" y="2771623"/>
            <a:ext cx="2977305" cy="307477"/>
          </a:xfrm>
          <a:prstGeom prst="rect">
            <a:avLst/>
          </a:prstGeom>
        </p:spPr>
        <p:txBody>
          <a:bodyPr lIns="0" tIns="0" rIns="0" bIns="0" rtlCol="0" anchor="t">
            <a:spAutoFit/>
          </a:bodyPr>
          <a:lstStyle/>
          <a:p>
            <a:pPr algn="l">
              <a:lnSpc>
                <a:spcPts val="2312"/>
              </a:lnSpc>
            </a:pPr>
            <a:r>
              <a:rPr lang="en-US" sz="1874" b="1">
                <a:solidFill>
                  <a:srgbClr val="272525"/>
                </a:solidFill>
                <a:latin typeface="Inter Bold"/>
                <a:ea typeface="Inter Bold"/>
                <a:cs typeface="Inter Bold"/>
                <a:sym typeface="Inter Bold"/>
              </a:rPr>
              <a:t>Dimensionality Reduction</a:t>
            </a:r>
          </a:p>
        </p:txBody>
      </p:sp>
      <p:sp>
        <p:nvSpPr>
          <p:cNvPr id="15" name="TextBox 15"/>
          <p:cNvSpPr txBox="1"/>
          <p:nvPr/>
        </p:nvSpPr>
        <p:spPr>
          <a:xfrm>
            <a:off x="1587551" y="3127477"/>
            <a:ext cx="15813586" cy="539058"/>
          </a:xfrm>
          <a:prstGeom prst="rect">
            <a:avLst/>
          </a:prstGeom>
        </p:spPr>
        <p:txBody>
          <a:bodyPr lIns="0" tIns="0" rIns="0" bIns="0" rtlCol="0" anchor="t">
            <a:spAutoFit/>
          </a:bodyPr>
          <a:lstStyle/>
          <a:p>
            <a:pPr algn="l">
              <a:lnSpc>
                <a:spcPts val="2000"/>
              </a:lnSpc>
            </a:pPr>
            <a:r>
              <a:rPr lang="en-US" sz="1500">
                <a:solidFill>
                  <a:srgbClr val="272525"/>
                </a:solidFill>
                <a:latin typeface="Inter"/>
                <a:ea typeface="Inter"/>
                <a:cs typeface="Inter"/>
                <a:sym typeface="Inter"/>
              </a:rPr>
              <a:t>Demonstrates that 258-dimensional feature vectors (pose + hand landmarks only) achieve comparable performance to 1662-dimensional full MediaPipe representation while reducing computational complexity.</a:t>
            </a:r>
          </a:p>
        </p:txBody>
      </p:sp>
      <p:grpSp>
        <p:nvGrpSpPr>
          <p:cNvPr id="16" name="Group 16"/>
          <p:cNvGrpSpPr/>
          <p:nvPr/>
        </p:nvGrpSpPr>
        <p:grpSpPr>
          <a:xfrm>
            <a:off x="653358" y="3999757"/>
            <a:ext cx="16981284" cy="1173213"/>
            <a:chOff x="0" y="0"/>
            <a:chExt cx="22641712" cy="1564284"/>
          </a:xfrm>
        </p:grpSpPr>
        <p:sp>
          <p:nvSpPr>
            <p:cNvPr id="17" name="Freeform 17"/>
            <p:cNvSpPr/>
            <p:nvPr/>
          </p:nvSpPr>
          <p:spPr>
            <a:xfrm>
              <a:off x="19050" y="19050"/>
              <a:ext cx="22603586" cy="1526159"/>
            </a:xfrm>
            <a:custGeom>
              <a:avLst/>
              <a:gdLst/>
              <a:ahLst/>
              <a:cxnLst/>
              <a:rect l="l" t="t" r="r" b="b"/>
              <a:pathLst>
                <a:path w="22603586" h="1526159">
                  <a:moveTo>
                    <a:pt x="0" y="106807"/>
                  </a:moveTo>
                  <a:cubicBezTo>
                    <a:pt x="0" y="47752"/>
                    <a:pt x="48895" y="0"/>
                    <a:pt x="109347" y="0"/>
                  </a:cubicBezTo>
                  <a:lnTo>
                    <a:pt x="22494239" y="0"/>
                  </a:lnTo>
                  <a:cubicBezTo>
                    <a:pt x="22554564" y="0"/>
                    <a:pt x="22603586" y="47879"/>
                    <a:pt x="22603586" y="106807"/>
                  </a:cubicBezTo>
                  <a:lnTo>
                    <a:pt x="22603586" y="1419352"/>
                  </a:lnTo>
                  <a:cubicBezTo>
                    <a:pt x="22603586" y="1478407"/>
                    <a:pt x="22554692" y="1526159"/>
                    <a:pt x="22494239" y="1526159"/>
                  </a:cubicBezTo>
                  <a:lnTo>
                    <a:pt x="109347" y="1526159"/>
                  </a:lnTo>
                  <a:cubicBezTo>
                    <a:pt x="49022" y="1526159"/>
                    <a:pt x="0" y="1478280"/>
                    <a:pt x="0" y="1419352"/>
                  </a:cubicBezTo>
                  <a:close/>
                </a:path>
              </a:pathLst>
            </a:custGeom>
            <a:solidFill>
              <a:srgbClr val="FFFFFF"/>
            </a:solidFill>
          </p:spPr>
        </p:sp>
        <p:sp>
          <p:nvSpPr>
            <p:cNvPr id="18" name="Freeform 18"/>
            <p:cNvSpPr/>
            <p:nvPr/>
          </p:nvSpPr>
          <p:spPr>
            <a:xfrm>
              <a:off x="0" y="0"/>
              <a:ext cx="22641686" cy="1564259"/>
            </a:xfrm>
            <a:custGeom>
              <a:avLst/>
              <a:gdLst/>
              <a:ahLst/>
              <a:cxnLst/>
              <a:rect l="l" t="t" r="r" b="b"/>
              <a:pathLst>
                <a:path w="22641686" h="1564259">
                  <a:moveTo>
                    <a:pt x="0" y="125857"/>
                  </a:moveTo>
                  <a:cubicBezTo>
                    <a:pt x="0" y="56007"/>
                    <a:pt x="57912" y="0"/>
                    <a:pt x="128397" y="0"/>
                  </a:cubicBezTo>
                  <a:lnTo>
                    <a:pt x="22513289" y="0"/>
                  </a:lnTo>
                  <a:lnTo>
                    <a:pt x="22513289" y="19050"/>
                  </a:lnTo>
                  <a:lnTo>
                    <a:pt x="22513289" y="0"/>
                  </a:lnTo>
                  <a:cubicBezTo>
                    <a:pt x="22583775" y="0"/>
                    <a:pt x="22641686" y="56007"/>
                    <a:pt x="22641686" y="125857"/>
                  </a:cubicBezTo>
                  <a:lnTo>
                    <a:pt x="22622636" y="125857"/>
                  </a:lnTo>
                  <a:lnTo>
                    <a:pt x="22641686" y="125857"/>
                  </a:lnTo>
                  <a:lnTo>
                    <a:pt x="22641686" y="1438402"/>
                  </a:lnTo>
                  <a:lnTo>
                    <a:pt x="22622636" y="1438402"/>
                  </a:lnTo>
                  <a:lnTo>
                    <a:pt x="22641686" y="1438402"/>
                  </a:lnTo>
                  <a:cubicBezTo>
                    <a:pt x="22641686" y="1508379"/>
                    <a:pt x="22583775" y="1564259"/>
                    <a:pt x="22513289" y="1564259"/>
                  </a:cubicBezTo>
                  <a:lnTo>
                    <a:pt x="22513289" y="1545209"/>
                  </a:lnTo>
                  <a:lnTo>
                    <a:pt x="22513289" y="1564259"/>
                  </a:lnTo>
                  <a:lnTo>
                    <a:pt x="128397" y="1564259"/>
                  </a:lnTo>
                  <a:lnTo>
                    <a:pt x="128397" y="1545209"/>
                  </a:lnTo>
                  <a:lnTo>
                    <a:pt x="128397" y="1564259"/>
                  </a:lnTo>
                  <a:cubicBezTo>
                    <a:pt x="57912" y="1564259"/>
                    <a:pt x="0" y="1508379"/>
                    <a:pt x="0" y="1438402"/>
                  </a:cubicBezTo>
                  <a:lnTo>
                    <a:pt x="0" y="125857"/>
                  </a:lnTo>
                  <a:lnTo>
                    <a:pt x="19050" y="125857"/>
                  </a:lnTo>
                  <a:lnTo>
                    <a:pt x="0" y="125857"/>
                  </a:lnTo>
                  <a:moveTo>
                    <a:pt x="38100" y="125857"/>
                  </a:moveTo>
                  <a:lnTo>
                    <a:pt x="38100" y="1438402"/>
                  </a:lnTo>
                  <a:lnTo>
                    <a:pt x="19050" y="1438402"/>
                  </a:lnTo>
                  <a:lnTo>
                    <a:pt x="38100" y="1438402"/>
                  </a:lnTo>
                  <a:cubicBezTo>
                    <a:pt x="38100" y="1486535"/>
                    <a:pt x="78105" y="1526159"/>
                    <a:pt x="128397" y="1526159"/>
                  </a:cubicBezTo>
                  <a:lnTo>
                    <a:pt x="22513289" y="1526159"/>
                  </a:lnTo>
                  <a:cubicBezTo>
                    <a:pt x="22563581" y="1526159"/>
                    <a:pt x="22603586" y="1486408"/>
                    <a:pt x="22603586" y="1438402"/>
                  </a:cubicBezTo>
                  <a:lnTo>
                    <a:pt x="22603586" y="125857"/>
                  </a:lnTo>
                  <a:cubicBezTo>
                    <a:pt x="22603586" y="77724"/>
                    <a:pt x="22563581" y="38100"/>
                    <a:pt x="22513289" y="38100"/>
                  </a:cubicBezTo>
                  <a:lnTo>
                    <a:pt x="128397" y="38100"/>
                  </a:lnTo>
                  <a:lnTo>
                    <a:pt x="128397" y="19050"/>
                  </a:lnTo>
                  <a:lnTo>
                    <a:pt x="128397" y="38100"/>
                  </a:lnTo>
                  <a:cubicBezTo>
                    <a:pt x="78105" y="38100"/>
                    <a:pt x="38100" y="77851"/>
                    <a:pt x="38100" y="125857"/>
                  </a:cubicBezTo>
                  <a:close/>
                </a:path>
              </a:pathLst>
            </a:custGeom>
            <a:solidFill>
              <a:srgbClr val="C0C1D7"/>
            </a:solidFill>
          </p:spPr>
        </p:sp>
      </p:grpSp>
      <p:grpSp>
        <p:nvGrpSpPr>
          <p:cNvPr id="19" name="Group 19"/>
          <p:cNvGrpSpPr/>
          <p:nvPr/>
        </p:nvGrpSpPr>
        <p:grpSpPr>
          <a:xfrm>
            <a:off x="696220" y="4042620"/>
            <a:ext cx="763038" cy="1087488"/>
            <a:chOff x="0" y="0"/>
            <a:chExt cx="1017384" cy="1449984"/>
          </a:xfrm>
        </p:grpSpPr>
        <p:sp>
          <p:nvSpPr>
            <p:cNvPr id="20" name="Freeform 20"/>
            <p:cNvSpPr/>
            <p:nvPr/>
          </p:nvSpPr>
          <p:spPr>
            <a:xfrm>
              <a:off x="0" y="0"/>
              <a:ext cx="1017397" cy="1449959"/>
            </a:xfrm>
            <a:custGeom>
              <a:avLst/>
              <a:gdLst/>
              <a:ahLst/>
              <a:cxnLst/>
              <a:rect l="l" t="t" r="r" b="b"/>
              <a:pathLst>
                <a:path w="1017397" h="1449959">
                  <a:moveTo>
                    <a:pt x="0" y="61087"/>
                  </a:moveTo>
                  <a:cubicBezTo>
                    <a:pt x="0" y="27305"/>
                    <a:pt x="27305" y="0"/>
                    <a:pt x="61087" y="0"/>
                  </a:cubicBezTo>
                  <a:lnTo>
                    <a:pt x="956310" y="0"/>
                  </a:lnTo>
                  <a:cubicBezTo>
                    <a:pt x="990092" y="0"/>
                    <a:pt x="1017397" y="27305"/>
                    <a:pt x="1017397" y="61087"/>
                  </a:cubicBezTo>
                  <a:lnTo>
                    <a:pt x="1017397" y="1388872"/>
                  </a:lnTo>
                  <a:cubicBezTo>
                    <a:pt x="1017397" y="1422654"/>
                    <a:pt x="990092" y="1449959"/>
                    <a:pt x="956310" y="1449959"/>
                  </a:cubicBezTo>
                  <a:lnTo>
                    <a:pt x="61087" y="1449959"/>
                  </a:lnTo>
                  <a:cubicBezTo>
                    <a:pt x="27305" y="1449959"/>
                    <a:pt x="0" y="1422654"/>
                    <a:pt x="0" y="1388872"/>
                  </a:cubicBezTo>
                  <a:close/>
                </a:path>
              </a:pathLst>
            </a:custGeom>
            <a:solidFill>
              <a:srgbClr val="DADBF1"/>
            </a:solidFill>
          </p:spPr>
        </p:sp>
      </p:grpSp>
      <p:sp>
        <p:nvSpPr>
          <p:cNvPr id="21" name="TextBox 21"/>
          <p:cNvSpPr txBox="1"/>
          <p:nvPr/>
        </p:nvSpPr>
        <p:spPr>
          <a:xfrm>
            <a:off x="929878" y="4445641"/>
            <a:ext cx="286045" cy="319535"/>
          </a:xfrm>
          <a:prstGeom prst="rect">
            <a:avLst/>
          </a:prstGeom>
        </p:spPr>
        <p:txBody>
          <a:bodyPr lIns="0" tIns="0" rIns="0" bIns="0" rtlCol="0" anchor="t">
            <a:spAutoFit/>
          </a:bodyPr>
          <a:lstStyle/>
          <a:p>
            <a:pPr algn="l">
              <a:lnSpc>
                <a:spcPts val="2249"/>
              </a:lnSpc>
            </a:pPr>
            <a:r>
              <a:rPr lang="en-US" sz="2249" b="1">
                <a:solidFill>
                  <a:srgbClr val="272525"/>
                </a:solidFill>
                <a:latin typeface="Inter Bold"/>
                <a:ea typeface="Inter Bold"/>
                <a:cs typeface="Inter Bold"/>
                <a:sym typeface="Inter Bold"/>
              </a:rPr>
              <a:t>2</a:t>
            </a:r>
          </a:p>
        </p:txBody>
      </p:sp>
      <p:sp>
        <p:nvSpPr>
          <p:cNvPr id="22" name="TextBox 22"/>
          <p:cNvSpPr txBox="1"/>
          <p:nvPr/>
        </p:nvSpPr>
        <p:spPr>
          <a:xfrm>
            <a:off x="1587551" y="4223747"/>
            <a:ext cx="3211268" cy="307477"/>
          </a:xfrm>
          <a:prstGeom prst="rect">
            <a:avLst/>
          </a:prstGeom>
        </p:spPr>
        <p:txBody>
          <a:bodyPr lIns="0" tIns="0" rIns="0" bIns="0" rtlCol="0" anchor="t">
            <a:spAutoFit/>
          </a:bodyPr>
          <a:lstStyle/>
          <a:p>
            <a:pPr algn="l">
              <a:lnSpc>
                <a:spcPts val="2312"/>
              </a:lnSpc>
            </a:pPr>
            <a:r>
              <a:rPr lang="en-US" sz="1874" b="1">
                <a:solidFill>
                  <a:srgbClr val="272525"/>
                </a:solidFill>
                <a:latin typeface="Inter Bold"/>
                <a:ea typeface="Inter Bold"/>
                <a:cs typeface="Inter Bold"/>
                <a:sym typeface="Inter Bold"/>
              </a:rPr>
              <a:t>Incremental Dataset Design</a:t>
            </a:r>
          </a:p>
        </p:txBody>
      </p:sp>
      <p:sp>
        <p:nvSpPr>
          <p:cNvPr id="23" name="TextBox 23"/>
          <p:cNvSpPr txBox="1"/>
          <p:nvPr/>
        </p:nvSpPr>
        <p:spPr>
          <a:xfrm>
            <a:off x="1587551" y="4579591"/>
            <a:ext cx="15813586" cy="283816"/>
          </a:xfrm>
          <a:prstGeom prst="rect">
            <a:avLst/>
          </a:prstGeom>
        </p:spPr>
        <p:txBody>
          <a:bodyPr lIns="0" tIns="0" rIns="0" bIns="0" rtlCol="0" anchor="t">
            <a:spAutoFit/>
          </a:bodyPr>
          <a:lstStyle/>
          <a:p>
            <a:pPr algn="l">
              <a:lnSpc>
                <a:spcPts val="2000"/>
              </a:lnSpc>
            </a:pPr>
            <a:r>
              <a:rPr lang="en-US" sz="1500">
                <a:solidFill>
                  <a:srgbClr val="272525"/>
                </a:solidFill>
                <a:latin typeface="Inter"/>
                <a:ea typeface="Inter"/>
                <a:cs typeface="Inter"/>
                <a:sym typeface="Inter"/>
              </a:rPr>
              <a:t>Modular data collection pipeline enables new gesture classes to be added without reprocessing existing data, supporting continuous system evolution.</a:t>
            </a:r>
          </a:p>
        </p:txBody>
      </p:sp>
      <p:grpSp>
        <p:nvGrpSpPr>
          <p:cNvPr id="24" name="Group 24"/>
          <p:cNvGrpSpPr/>
          <p:nvPr/>
        </p:nvGrpSpPr>
        <p:grpSpPr>
          <a:xfrm>
            <a:off x="653358" y="5272678"/>
            <a:ext cx="16981284" cy="1173213"/>
            <a:chOff x="0" y="0"/>
            <a:chExt cx="22641712" cy="1564284"/>
          </a:xfrm>
        </p:grpSpPr>
        <p:sp>
          <p:nvSpPr>
            <p:cNvPr id="25" name="Freeform 25"/>
            <p:cNvSpPr/>
            <p:nvPr/>
          </p:nvSpPr>
          <p:spPr>
            <a:xfrm>
              <a:off x="19050" y="19050"/>
              <a:ext cx="22603586" cy="1526159"/>
            </a:xfrm>
            <a:custGeom>
              <a:avLst/>
              <a:gdLst/>
              <a:ahLst/>
              <a:cxnLst/>
              <a:rect l="l" t="t" r="r" b="b"/>
              <a:pathLst>
                <a:path w="22603586" h="1526159">
                  <a:moveTo>
                    <a:pt x="0" y="106807"/>
                  </a:moveTo>
                  <a:cubicBezTo>
                    <a:pt x="0" y="47752"/>
                    <a:pt x="48895" y="0"/>
                    <a:pt x="109347" y="0"/>
                  </a:cubicBezTo>
                  <a:lnTo>
                    <a:pt x="22494239" y="0"/>
                  </a:lnTo>
                  <a:cubicBezTo>
                    <a:pt x="22554564" y="0"/>
                    <a:pt x="22603586" y="47879"/>
                    <a:pt x="22603586" y="106807"/>
                  </a:cubicBezTo>
                  <a:lnTo>
                    <a:pt x="22603586" y="1419352"/>
                  </a:lnTo>
                  <a:cubicBezTo>
                    <a:pt x="22603586" y="1478407"/>
                    <a:pt x="22554692" y="1526159"/>
                    <a:pt x="22494239" y="1526159"/>
                  </a:cubicBezTo>
                  <a:lnTo>
                    <a:pt x="109347" y="1526159"/>
                  </a:lnTo>
                  <a:cubicBezTo>
                    <a:pt x="49022" y="1526159"/>
                    <a:pt x="0" y="1478280"/>
                    <a:pt x="0" y="1419352"/>
                  </a:cubicBezTo>
                  <a:close/>
                </a:path>
              </a:pathLst>
            </a:custGeom>
            <a:solidFill>
              <a:srgbClr val="FFFFFF"/>
            </a:solidFill>
          </p:spPr>
        </p:sp>
        <p:sp>
          <p:nvSpPr>
            <p:cNvPr id="26" name="Freeform 26"/>
            <p:cNvSpPr/>
            <p:nvPr/>
          </p:nvSpPr>
          <p:spPr>
            <a:xfrm>
              <a:off x="0" y="0"/>
              <a:ext cx="22641686" cy="1564259"/>
            </a:xfrm>
            <a:custGeom>
              <a:avLst/>
              <a:gdLst/>
              <a:ahLst/>
              <a:cxnLst/>
              <a:rect l="l" t="t" r="r" b="b"/>
              <a:pathLst>
                <a:path w="22641686" h="1564259">
                  <a:moveTo>
                    <a:pt x="0" y="125857"/>
                  </a:moveTo>
                  <a:cubicBezTo>
                    <a:pt x="0" y="56007"/>
                    <a:pt x="57912" y="0"/>
                    <a:pt x="128397" y="0"/>
                  </a:cubicBezTo>
                  <a:lnTo>
                    <a:pt x="22513289" y="0"/>
                  </a:lnTo>
                  <a:lnTo>
                    <a:pt x="22513289" y="19050"/>
                  </a:lnTo>
                  <a:lnTo>
                    <a:pt x="22513289" y="0"/>
                  </a:lnTo>
                  <a:cubicBezTo>
                    <a:pt x="22583775" y="0"/>
                    <a:pt x="22641686" y="56007"/>
                    <a:pt x="22641686" y="125857"/>
                  </a:cubicBezTo>
                  <a:lnTo>
                    <a:pt x="22622636" y="125857"/>
                  </a:lnTo>
                  <a:lnTo>
                    <a:pt x="22641686" y="125857"/>
                  </a:lnTo>
                  <a:lnTo>
                    <a:pt x="22641686" y="1438402"/>
                  </a:lnTo>
                  <a:lnTo>
                    <a:pt x="22622636" y="1438402"/>
                  </a:lnTo>
                  <a:lnTo>
                    <a:pt x="22641686" y="1438402"/>
                  </a:lnTo>
                  <a:cubicBezTo>
                    <a:pt x="22641686" y="1508379"/>
                    <a:pt x="22583775" y="1564259"/>
                    <a:pt x="22513289" y="1564259"/>
                  </a:cubicBezTo>
                  <a:lnTo>
                    <a:pt x="22513289" y="1545209"/>
                  </a:lnTo>
                  <a:lnTo>
                    <a:pt x="22513289" y="1564259"/>
                  </a:lnTo>
                  <a:lnTo>
                    <a:pt x="128397" y="1564259"/>
                  </a:lnTo>
                  <a:lnTo>
                    <a:pt x="128397" y="1545209"/>
                  </a:lnTo>
                  <a:lnTo>
                    <a:pt x="128397" y="1564259"/>
                  </a:lnTo>
                  <a:cubicBezTo>
                    <a:pt x="57912" y="1564259"/>
                    <a:pt x="0" y="1508379"/>
                    <a:pt x="0" y="1438402"/>
                  </a:cubicBezTo>
                  <a:lnTo>
                    <a:pt x="0" y="125857"/>
                  </a:lnTo>
                  <a:lnTo>
                    <a:pt x="19050" y="125857"/>
                  </a:lnTo>
                  <a:lnTo>
                    <a:pt x="0" y="125857"/>
                  </a:lnTo>
                  <a:moveTo>
                    <a:pt x="38100" y="125857"/>
                  </a:moveTo>
                  <a:lnTo>
                    <a:pt x="38100" y="1438402"/>
                  </a:lnTo>
                  <a:lnTo>
                    <a:pt x="19050" y="1438402"/>
                  </a:lnTo>
                  <a:lnTo>
                    <a:pt x="38100" y="1438402"/>
                  </a:lnTo>
                  <a:cubicBezTo>
                    <a:pt x="38100" y="1486535"/>
                    <a:pt x="78105" y="1526159"/>
                    <a:pt x="128397" y="1526159"/>
                  </a:cubicBezTo>
                  <a:lnTo>
                    <a:pt x="22513289" y="1526159"/>
                  </a:lnTo>
                  <a:cubicBezTo>
                    <a:pt x="22563581" y="1526159"/>
                    <a:pt x="22603586" y="1486408"/>
                    <a:pt x="22603586" y="1438402"/>
                  </a:cubicBezTo>
                  <a:lnTo>
                    <a:pt x="22603586" y="125857"/>
                  </a:lnTo>
                  <a:cubicBezTo>
                    <a:pt x="22603586" y="77724"/>
                    <a:pt x="22563581" y="38100"/>
                    <a:pt x="22513289" y="38100"/>
                  </a:cubicBezTo>
                  <a:lnTo>
                    <a:pt x="128397" y="38100"/>
                  </a:lnTo>
                  <a:lnTo>
                    <a:pt x="128397" y="19050"/>
                  </a:lnTo>
                  <a:lnTo>
                    <a:pt x="128397" y="38100"/>
                  </a:lnTo>
                  <a:cubicBezTo>
                    <a:pt x="78105" y="38100"/>
                    <a:pt x="38100" y="77851"/>
                    <a:pt x="38100" y="125857"/>
                  </a:cubicBezTo>
                  <a:close/>
                </a:path>
              </a:pathLst>
            </a:custGeom>
            <a:solidFill>
              <a:srgbClr val="C0C1D7"/>
            </a:solidFill>
          </p:spPr>
        </p:sp>
      </p:grpSp>
      <p:grpSp>
        <p:nvGrpSpPr>
          <p:cNvPr id="27" name="Group 27"/>
          <p:cNvGrpSpPr/>
          <p:nvPr/>
        </p:nvGrpSpPr>
        <p:grpSpPr>
          <a:xfrm>
            <a:off x="696220" y="5315541"/>
            <a:ext cx="763038" cy="1087488"/>
            <a:chOff x="0" y="0"/>
            <a:chExt cx="1017384" cy="1449984"/>
          </a:xfrm>
        </p:grpSpPr>
        <p:sp>
          <p:nvSpPr>
            <p:cNvPr id="28" name="Freeform 28"/>
            <p:cNvSpPr/>
            <p:nvPr/>
          </p:nvSpPr>
          <p:spPr>
            <a:xfrm>
              <a:off x="0" y="0"/>
              <a:ext cx="1017397" cy="1449959"/>
            </a:xfrm>
            <a:custGeom>
              <a:avLst/>
              <a:gdLst/>
              <a:ahLst/>
              <a:cxnLst/>
              <a:rect l="l" t="t" r="r" b="b"/>
              <a:pathLst>
                <a:path w="1017397" h="1449959">
                  <a:moveTo>
                    <a:pt x="0" y="61087"/>
                  </a:moveTo>
                  <a:cubicBezTo>
                    <a:pt x="0" y="27305"/>
                    <a:pt x="27305" y="0"/>
                    <a:pt x="61087" y="0"/>
                  </a:cubicBezTo>
                  <a:lnTo>
                    <a:pt x="956310" y="0"/>
                  </a:lnTo>
                  <a:cubicBezTo>
                    <a:pt x="990092" y="0"/>
                    <a:pt x="1017397" y="27305"/>
                    <a:pt x="1017397" y="61087"/>
                  </a:cubicBezTo>
                  <a:lnTo>
                    <a:pt x="1017397" y="1388872"/>
                  </a:lnTo>
                  <a:cubicBezTo>
                    <a:pt x="1017397" y="1422654"/>
                    <a:pt x="990092" y="1449959"/>
                    <a:pt x="956310" y="1449959"/>
                  </a:cubicBezTo>
                  <a:lnTo>
                    <a:pt x="61087" y="1449959"/>
                  </a:lnTo>
                  <a:cubicBezTo>
                    <a:pt x="27305" y="1449959"/>
                    <a:pt x="0" y="1422654"/>
                    <a:pt x="0" y="1388872"/>
                  </a:cubicBezTo>
                  <a:close/>
                </a:path>
              </a:pathLst>
            </a:custGeom>
            <a:solidFill>
              <a:srgbClr val="DADBF1"/>
            </a:solidFill>
          </p:spPr>
        </p:sp>
      </p:grpSp>
      <p:sp>
        <p:nvSpPr>
          <p:cNvPr id="29" name="TextBox 29"/>
          <p:cNvSpPr txBox="1"/>
          <p:nvPr/>
        </p:nvSpPr>
        <p:spPr>
          <a:xfrm>
            <a:off x="929878" y="5718572"/>
            <a:ext cx="286045" cy="319535"/>
          </a:xfrm>
          <a:prstGeom prst="rect">
            <a:avLst/>
          </a:prstGeom>
        </p:spPr>
        <p:txBody>
          <a:bodyPr lIns="0" tIns="0" rIns="0" bIns="0" rtlCol="0" anchor="t">
            <a:spAutoFit/>
          </a:bodyPr>
          <a:lstStyle/>
          <a:p>
            <a:pPr algn="l">
              <a:lnSpc>
                <a:spcPts val="2249"/>
              </a:lnSpc>
            </a:pPr>
            <a:r>
              <a:rPr lang="en-US" sz="2249" b="1">
                <a:solidFill>
                  <a:srgbClr val="272525"/>
                </a:solidFill>
                <a:latin typeface="Inter Bold"/>
                <a:ea typeface="Inter Bold"/>
                <a:cs typeface="Inter Bold"/>
                <a:sym typeface="Inter Bold"/>
              </a:rPr>
              <a:t>3</a:t>
            </a:r>
          </a:p>
        </p:txBody>
      </p:sp>
      <p:sp>
        <p:nvSpPr>
          <p:cNvPr id="30" name="TextBox 30"/>
          <p:cNvSpPr txBox="1"/>
          <p:nvPr/>
        </p:nvSpPr>
        <p:spPr>
          <a:xfrm>
            <a:off x="1587551" y="5496668"/>
            <a:ext cx="2589009" cy="307477"/>
          </a:xfrm>
          <a:prstGeom prst="rect">
            <a:avLst/>
          </a:prstGeom>
        </p:spPr>
        <p:txBody>
          <a:bodyPr lIns="0" tIns="0" rIns="0" bIns="0" rtlCol="0" anchor="t">
            <a:spAutoFit/>
          </a:bodyPr>
          <a:lstStyle/>
          <a:p>
            <a:pPr algn="l">
              <a:lnSpc>
                <a:spcPts val="2312"/>
              </a:lnSpc>
            </a:pPr>
            <a:r>
              <a:rPr lang="en-US" sz="1874" b="1">
                <a:solidFill>
                  <a:srgbClr val="272525"/>
                </a:solidFill>
                <a:latin typeface="Inter Bold"/>
                <a:ea typeface="Inter Bold"/>
                <a:cs typeface="Inter Bold"/>
                <a:sym typeface="Inter Bold"/>
              </a:rPr>
              <a:t>Real-time Deployment</a:t>
            </a:r>
          </a:p>
        </p:txBody>
      </p:sp>
      <p:sp>
        <p:nvSpPr>
          <p:cNvPr id="31" name="TextBox 31"/>
          <p:cNvSpPr txBox="1"/>
          <p:nvPr/>
        </p:nvSpPr>
        <p:spPr>
          <a:xfrm>
            <a:off x="1587551" y="5852522"/>
            <a:ext cx="15813586" cy="283816"/>
          </a:xfrm>
          <a:prstGeom prst="rect">
            <a:avLst/>
          </a:prstGeom>
        </p:spPr>
        <p:txBody>
          <a:bodyPr lIns="0" tIns="0" rIns="0" bIns="0" rtlCol="0" anchor="t">
            <a:spAutoFit/>
          </a:bodyPr>
          <a:lstStyle/>
          <a:p>
            <a:pPr algn="l">
              <a:lnSpc>
                <a:spcPts val="2000"/>
              </a:lnSpc>
            </a:pPr>
            <a:r>
              <a:rPr lang="en-US" sz="1500">
                <a:solidFill>
                  <a:srgbClr val="272525"/>
                </a:solidFill>
                <a:latin typeface="Inter"/>
                <a:ea typeface="Inter"/>
                <a:cs typeface="Inter"/>
                <a:sym typeface="Inter"/>
              </a:rPr>
              <a:t>Achieves 24-30 FPS on consumer-grade CPU hardware without specialized peripherals, making the system accessible for practical deployment.</a:t>
            </a:r>
          </a:p>
        </p:txBody>
      </p:sp>
      <p:grpSp>
        <p:nvGrpSpPr>
          <p:cNvPr id="32" name="Group 32"/>
          <p:cNvGrpSpPr/>
          <p:nvPr/>
        </p:nvGrpSpPr>
        <p:grpSpPr>
          <a:xfrm>
            <a:off x="653358" y="6545609"/>
            <a:ext cx="16981284" cy="1173213"/>
            <a:chOff x="0" y="0"/>
            <a:chExt cx="22641712" cy="1564284"/>
          </a:xfrm>
        </p:grpSpPr>
        <p:sp>
          <p:nvSpPr>
            <p:cNvPr id="33" name="Freeform 33"/>
            <p:cNvSpPr/>
            <p:nvPr/>
          </p:nvSpPr>
          <p:spPr>
            <a:xfrm>
              <a:off x="19050" y="19050"/>
              <a:ext cx="22603586" cy="1526159"/>
            </a:xfrm>
            <a:custGeom>
              <a:avLst/>
              <a:gdLst/>
              <a:ahLst/>
              <a:cxnLst/>
              <a:rect l="l" t="t" r="r" b="b"/>
              <a:pathLst>
                <a:path w="22603586" h="1526159">
                  <a:moveTo>
                    <a:pt x="0" y="106807"/>
                  </a:moveTo>
                  <a:cubicBezTo>
                    <a:pt x="0" y="47752"/>
                    <a:pt x="48895" y="0"/>
                    <a:pt x="109347" y="0"/>
                  </a:cubicBezTo>
                  <a:lnTo>
                    <a:pt x="22494239" y="0"/>
                  </a:lnTo>
                  <a:cubicBezTo>
                    <a:pt x="22554564" y="0"/>
                    <a:pt x="22603586" y="47879"/>
                    <a:pt x="22603586" y="106807"/>
                  </a:cubicBezTo>
                  <a:lnTo>
                    <a:pt x="22603586" y="1419352"/>
                  </a:lnTo>
                  <a:cubicBezTo>
                    <a:pt x="22603586" y="1478407"/>
                    <a:pt x="22554692" y="1526159"/>
                    <a:pt x="22494239" y="1526159"/>
                  </a:cubicBezTo>
                  <a:lnTo>
                    <a:pt x="109347" y="1526159"/>
                  </a:lnTo>
                  <a:cubicBezTo>
                    <a:pt x="49022" y="1526159"/>
                    <a:pt x="0" y="1478280"/>
                    <a:pt x="0" y="1419352"/>
                  </a:cubicBezTo>
                  <a:close/>
                </a:path>
              </a:pathLst>
            </a:custGeom>
            <a:solidFill>
              <a:srgbClr val="FFFFFF"/>
            </a:solidFill>
          </p:spPr>
        </p:sp>
        <p:sp>
          <p:nvSpPr>
            <p:cNvPr id="34" name="Freeform 34"/>
            <p:cNvSpPr/>
            <p:nvPr/>
          </p:nvSpPr>
          <p:spPr>
            <a:xfrm>
              <a:off x="0" y="0"/>
              <a:ext cx="22641686" cy="1564259"/>
            </a:xfrm>
            <a:custGeom>
              <a:avLst/>
              <a:gdLst/>
              <a:ahLst/>
              <a:cxnLst/>
              <a:rect l="l" t="t" r="r" b="b"/>
              <a:pathLst>
                <a:path w="22641686" h="1564259">
                  <a:moveTo>
                    <a:pt x="0" y="125857"/>
                  </a:moveTo>
                  <a:cubicBezTo>
                    <a:pt x="0" y="56007"/>
                    <a:pt x="57912" y="0"/>
                    <a:pt x="128397" y="0"/>
                  </a:cubicBezTo>
                  <a:lnTo>
                    <a:pt x="22513289" y="0"/>
                  </a:lnTo>
                  <a:lnTo>
                    <a:pt x="22513289" y="19050"/>
                  </a:lnTo>
                  <a:lnTo>
                    <a:pt x="22513289" y="0"/>
                  </a:lnTo>
                  <a:cubicBezTo>
                    <a:pt x="22583775" y="0"/>
                    <a:pt x="22641686" y="56007"/>
                    <a:pt x="22641686" y="125857"/>
                  </a:cubicBezTo>
                  <a:lnTo>
                    <a:pt x="22622636" y="125857"/>
                  </a:lnTo>
                  <a:lnTo>
                    <a:pt x="22641686" y="125857"/>
                  </a:lnTo>
                  <a:lnTo>
                    <a:pt x="22641686" y="1438402"/>
                  </a:lnTo>
                  <a:lnTo>
                    <a:pt x="22622636" y="1438402"/>
                  </a:lnTo>
                  <a:lnTo>
                    <a:pt x="22641686" y="1438402"/>
                  </a:lnTo>
                  <a:cubicBezTo>
                    <a:pt x="22641686" y="1508379"/>
                    <a:pt x="22583775" y="1564259"/>
                    <a:pt x="22513289" y="1564259"/>
                  </a:cubicBezTo>
                  <a:lnTo>
                    <a:pt x="22513289" y="1545209"/>
                  </a:lnTo>
                  <a:lnTo>
                    <a:pt x="22513289" y="1564259"/>
                  </a:lnTo>
                  <a:lnTo>
                    <a:pt x="128397" y="1564259"/>
                  </a:lnTo>
                  <a:lnTo>
                    <a:pt x="128397" y="1545209"/>
                  </a:lnTo>
                  <a:lnTo>
                    <a:pt x="128397" y="1564259"/>
                  </a:lnTo>
                  <a:cubicBezTo>
                    <a:pt x="57912" y="1564259"/>
                    <a:pt x="0" y="1508379"/>
                    <a:pt x="0" y="1438402"/>
                  </a:cubicBezTo>
                  <a:lnTo>
                    <a:pt x="0" y="125857"/>
                  </a:lnTo>
                  <a:lnTo>
                    <a:pt x="19050" y="125857"/>
                  </a:lnTo>
                  <a:lnTo>
                    <a:pt x="0" y="125857"/>
                  </a:lnTo>
                  <a:moveTo>
                    <a:pt x="38100" y="125857"/>
                  </a:moveTo>
                  <a:lnTo>
                    <a:pt x="38100" y="1438402"/>
                  </a:lnTo>
                  <a:lnTo>
                    <a:pt x="19050" y="1438402"/>
                  </a:lnTo>
                  <a:lnTo>
                    <a:pt x="38100" y="1438402"/>
                  </a:lnTo>
                  <a:cubicBezTo>
                    <a:pt x="38100" y="1486535"/>
                    <a:pt x="78105" y="1526159"/>
                    <a:pt x="128397" y="1526159"/>
                  </a:cubicBezTo>
                  <a:lnTo>
                    <a:pt x="22513289" y="1526159"/>
                  </a:lnTo>
                  <a:cubicBezTo>
                    <a:pt x="22563581" y="1526159"/>
                    <a:pt x="22603586" y="1486408"/>
                    <a:pt x="22603586" y="1438402"/>
                  </a:cubicBezTo>
                  <a:lnTo>
                    <a:pt x="22603586" y="125857"/>
                  </a:lnTo>
                  <a:cubicBezTo>
                    <a:pt x="22603586" y="77724"/>
                    <a:pt x="22563581" y="38100"/>
                    <a:pt x="22513289" y="38100"/>
                  </a:cubicBezTo>
                  <a:lnTo>
                    <a:pt x="128397" y="38100"/>
                  </a:lnTo>
                  <a:lnTo>
                    <a:pt x="128397" y="19050"/>
                  </a:lnTo>
                  <a:lnTo>
                    <a:pt x="128397" y="38100"/>
                  </a:lnTo>
                  <a:cubicBezTo>
                    <a:pt x="78105" y="38100"/>
                    <a:pt x="38100" y="77851"/>
                    <a:pt x="38100" y="125857"/>
                  </a:cubicBezTo>
                  <a:close/>
                </a:path>
              </a:pathLst>
            </a:custGeom>
            <a:solidFill>
              <a:srgbClr val="C0C1D7"/>
            </a:solidFill>
          </p:spPr>
        </p:sp>
      </p:grpSp>
      <p:grpSp>
        <p:nvGrpSpPr>
          <p:cNvPr id="35" name="Group 35"/>
          <p:cNvGrpSpPr/>
          <p:nvPr/>
        </p:nvGrpSpPr>
        <p:grpSpPr>
          <a:xfrm>
            <a:off x="696220" y="6588471"/>
            <a:ext cx="763038" cy="1087488"/>
            <a:chOff x="0" y="0"/>
            <a:chExt cx="1017384" cy="1449984"/>
          </a:xfrm>
        </p:grpSpPr>
        <p:sp>
          <p:nvSpPr>
            <p:cNvPr id="36" name="Freeform 36"/>
            <p:cNvSpPr/>
            <p:nvPr/>
          </p:nvSpPr>
          <p:spPr>
            <a:xfrm>
              <a:off x="0" y="0"/>
              <a:ext cx="1017397" cy="1449959"/>
            </a:xfrm>
            <a:custGeom>
              <a:avLst/>
              <a:gdLst/>
              <a:ahLst/>
              <a:cxnLst/>
              <a:rect l="l" t="t" r="r" b="b"/>
              <a:pathLst>
                <a:path w="1017397" h="1449959">
                  <a:moveTo>
                    <a:pt x="0" y="61087"/>
                  </a:moveTo>
                  <a:cubicBezTo>
                    <a:pt x="0" y="27305"/>
                    <a:pt x="27305" y="0"/>
                    <a:pt x="61087" y="0"/>
                  </a:cubicBezTo>
                  <a:lnTo>
                    <a:pt x="956310" y="0"/>
                  </a:lnTo>
                  <a:cubicBezTo>
                    <a:pt x="990092" y="0"/>
                    <a:pt x="1017397" y="27305"/>
                    <a:pt x="1017397" y="61087"/>
                  </a:cubicBezTo>
                  <a:lnTo>
                    <a:pt x="1017397" y="1388872"/>
                  </a:lnTo>
                  <a:cubicBezTo>
                    <a:pt x="1017397" y="1422654"/>
                    <a:pt x="990092" y="1449959"/>
                    <a:pt x="956310" y="1449959"/>
                  </a:cubicBezTo>
                  <a:lnTo>
                    <a:pt x="61087" y="1449959"/>
                  </a:lnTo>
                  <a:cubicBezTo>
                    <a:pt x="27305" y="1449959"/>
                    <a:pt x="0" y="1422654"/>
                    <a:pt x="0" y="1388872"/>
                  </a:cubicBezTo>
                  <a:close/>
                </a:path>
              </a:pathLst>
            </a:custGeom>
            <a:solidFill>
              <a:srgbClr val="DADBF1"/>
            </a:solidFill>
          </p:spPr>
        </p:sp>
      </p:grpSp>
      <p:sp>
        <p:nvSpPr>
          <p:cNvPr id="37" name="TextBox 37"/>
          <p:cNvSpPr txBox="1"/>
          <p:nvPr/>
        </p:nvSpPr>
        <p:spPr>
          <a:xfrm>
            <a:off x="929878" y="6991502"/>
            <a:ext cx="286045" cy="319535"/>
          </a:xfrm>
          <a:prstGeom prst="rect">
            <a:avLst/>
          </a:prstGeom>
        </p:spPr>
        <p:txBody>
          <a:bodyPr lIns="0" tIns="0" rIns="0" bIns="0" rtlCol="0" anchor="t">
            <a:spAutoFit/>
          </a:bodyPr>
          <a:lstStyle/>
          <a:p>
            <a:pPr algn="l">
              <a:lnSpc>
                <a:spcPts val="2249"/>
              </a:lnSpc>
            </a:pPr>
            <a:r>
              <a:rPr lang="en-US" sz="2249" b="1">
                <a:solidFill>
                  <a:srgbClr val="272525"/>
                </a:solidFill>
                <a:latin typeface="Inter Bold"/>
                <a:ea typeface="Inter Bold"/>
                <a:cs typeface="Inter Bold"/>
                <a:sym typeface="Inter Bold"/>
              </a:rPr>
              <a:t>4</a:t>
            </a:r>
          </a:p>
        </p:txBody>
      </p:sp>
      <p:sp>
        <p:nvSpPr>
          <p:cNvPr id="38" name="TextBox 38"/>
          <p:cNvSpPr txBox="1"/>
          <p:nvPr/>
        </p:nvSpPr>
        <p:spPr>
          <a:xfrm>
            <a:off x="1587551" y="6769598"/>
            <a:ext cx="2384822" cy="307477"/>
          </a:xfrm>
          <a:prstGeom prst="rect">
            <a:avLst/>
          </a:prstGeom>
        </p:spPr>
        <p:txBody>
          <a:bodyPr lIns="0" tIns="0" rIns="0" bIns="0" rtlCol="0" anchor="t">
            <a:spAutoFit/>
          </a:bodyPr>
          <a:lstStyle/>
          <a:p>
            <a:pPr algn="l">
              <a:lnSpc>
                <a:spcPts val="2312"/>
              </a:lnSpc>
            </a:pPr>
            <a:r>
              <a:rPr lang="en-US" sz="1874" b="1">
                <a:solidFill>
                  <a:srgbClr val="272525"/>
                </a:solidFill>
                <a:latin typeface="Inter Bold"/>
                <a:ea typeface="Inter Bold"/>
                <a:cs typeface="Inter Bold"/>
                <a:sym typeface="Inter Bold"/>
              </a:rPr>
              <a:t>Accessibility Focus</a:t>
            </a:r>
          </a:p>
        </p:txBody>
      </p:sp>
      <p:sp>
        <p:nvSpPr>
          <p:cNvPr id="39" name="TextBox 39"/>
          <p:cNvSpPr txBox="1"/>
          <p:nvPr/>
        </p:nvSpPr>
        <p:spPr>
          <a:xfrm>
            <a:off x="1587551" y="7125443"/>
            <a:ext cx="15813586" cy="283816"/>
          </a:xfrm>
          <a:prstGeom prst="rect">
            <a:avLst/>
          </a:prstGeom>
        </p:spPr>
        <p:txBody>
          <a:bodyPr lIns="0" tIns="0" rIns="0" bIns="0" rtlCol="0" anchor="t">
            <a:spAutoFit/>
          </a:bodyPr>
          <a:lstStyle/>
          <a:p>
            <a:pPr algn="l">
              <a:lnSpc>
                <a:spcPts val="2000"/>
              </a:lnSpc>
            </a:pPr>
            <a:r>
              <a:rPr lang="en-US" sz="1500">
                <a:solidFill>
                  <a:srgbClr val="272525"/>
                </a:solidFill>
                <a:latin typeface="Inter"/>
                <a:ea typeface="Inter"/>
                <a:cs typeface="Inter"/>
                <a:sym typeface="Inter"/>
              </a:rPr>
              <a:t>Bridges communication gaps for deaf and hard-of-hearing communities through automated, affordable sign language translation.</a:t>
            </a:r>
          </a:p>
        </p:txBody>
      </p:sp>
      <p:grpSp>
        <p:nvGrpSpPr>
          <p:cNvPr id="40" name="Group 40"/>
          <p:cNvGrpSpPr/>
          <p:nvPr/>
        </p:nvGrpSpPr>
        <p:grpSpPr>
          <a:xfrm>
            <a:off x="653358" y="7818539"/>
            <a:ext cx="16981284" cy="1173213"/>
            <a:chOff x="0" y="0"/>
            <a:chExt cx="22641712" cy="1564284"/>
          </a:xfrm>
        </p:grpSpPr>
        <p:sp>
          <p:nvSpPr>
            <p:cNvPr id="41" name="Freeform 41"/>
            <p:cNvSpPr/>
            <p:nvPr/>
          </p:nvSpPr>
          <p:spPr>
            <a:xfrm>
              <a:off x="19050" y="19050"/>
              <a:ext cx="22603586" cy="1526159"/>
            </a:xfrm>
            <a:custGeom>
              <a:avLst/>
              <a:gdLst/>
              <a:ahLst/>
              <a:cxnLst/>
              <a:rect l="l" t="t" r="r" b="b"/>
              <a:pathLst>
                <a:path w="22603586" h="1526159">
                  <a:moveTo>
                    <a:pt x="0" y="106807"/>
                  </a:moveTo>
                  <a:cubicBezTo>
                    <a:pt x="0" y="47752"/>
                    <a:pt x="48895" y="0"/>
                    <a:pt x="109347" y="0"/>
                  </a:cubicBezTo>
                  <a:lnTo>
                    <a:pt x="22494239" y="0"/>
                  </a:lnTo>
                  <a:cubicBezTo>
                    <a:pt x="22554564" y="0"/>
                    <a:pt x="22603586" y="47879"/>
                    <a:pt x="22603586" y="106807"/>
                  </a:cubicBezTo>
                  <a:lnTo>
                    <a:pt x="22603586" y="1419352"/>
                  </a:lnTo>
                  <a:cubicBezTo>
                    <a:pt x="22603586" y="1478407"/>
                    <a:pt x="22554692" y="1526159"/>
                    <a:pt x="22494239" y="1526159"/>
                  </a:cubicBezTo>
                  <a:lnTo>
                    <a:pt x="109347" y="1526159"/>
                  </a:lnTo>
                  <a:cubicBezTo>
                    <a:pt x="49022" y="1526159"/>
                    <a:pt x="0" y="1478280"/>
                    <a:pt x="0" y="1419352"/>
                  </a:cubicBezTo>
                  <a:close/>
                </a:path>
              </a:pathLst>
            </a:custGeom>
            <a:solidFill>
              <a:srgbClr val="FFFFFF"/>
            </a:solidFill>
          </p:spPr>
        </p:sp>
        <p:sp>
          <p:nvSpPr>
            <p:cNvPr id="42" name="Freeform 42"/>
            <p:cNvSpPr/>
            <p:nvPr/>
          </p:nvSpPr>
          <p:spPr>
            <a:xfrm>
              <a:off x="0" y="0"/>
              <a:ext cx="22641686" cy="1564259"/>
            </a:xfrm>
            <a:custGeom>
              <a:avLst/>
              <a:gdLst/>
              <a:ahLst/>
              <a:cxnLst/>
              <a:rect l="l" t="t" r="r" b="b"/>
              <a:pathLst>
                <a:path w="22641686" h="1564259">
                  <a:moveTo>
                    <a:pt x="0" y="125857"/>
                  </a:moveTo>
                  <a:cubicBezTo>
                    <a:pt x="0" y="56007"/>
                    <a:pt x="57912" y="0"/>
                    <a:pt x="128397" y="0"/>
                  </a:cubicBezTo>
                  <a:lnTo>
                    <a:pt x="22513289" y="0"/>
                  </a:lnTo>
                  <a:lnTo>
                    <a:pt x="22513289" y="19050"/>
                  </a:lnTo>
                  <a:lnTo>
                    <a:pt x="22513289" y="0"/>
                  </a:lnTo>
                  <a:cubicBezTo>
                    <a:pt x="22583775" y="0"/>
                    <a:pt x="22641686" y="56007"/>
                    <a:pt x="22641686" y="125857"/>
                  </a:cubicBezTo>
                  <a:lnTo>
                    <a:pt x="22622636" y="125857"/>
                  </a:lnTo>
                  <a:lnTo>
                    <a:pt x="22641686" y="125857"/>
                  </a:lnTo>
                  <a:lnTo>
                    <a:pt x="22641686" y="1438402"/>
                  </a:lnTo>
                  <a:lnTo>
                    <a:pt x="22622636" y="1438402"/>
                  </a:lnTo>
                  <a:lnTo>
                    <a:pt x="22641686" y="1438402"/>
                  </a:lnTo>
                  <a:cubicBezTo>
                    <a:pt x="22641686" y="1508379"/>
                    <a:pt x="22583775" y="1564259"/>
                    <a:pt x="22513289" y="1564259"/>
                  </a:cubicBezTo>
                  <a:lnTo>
                    <a:pt x="22513289" y="1545209"/>
                  </a:lnTo>
                  <a:lnTo>
                    <a:pt x="22513289" y="1564259"/>
                  </a:lnTo>
                  <a:lnTo>
                    <a:pt x="128397" y="1564259"/>
                  </a:lnTo>
                  <a:lnTo>
                    <a:pt x="128397" y="1545209"/>
                  </a:lnTo>
                  <a:lnTo>
                    <a:pt x="128397" y="1564259"/>
                  </a:lnTo>
                  <a:cubicBezTo>
                    <a:pt x="57912" y="1564259"/>
                    <a:pt x="0" y="1508379"/>
                    <a:pt x="0" y="1438402"/>
                  </a:cubicBezTo>
                  <a:lnTo>
                    <a:pt x="0" y="125857"/>
                  </a:lnTo>
                  <a:lnTo>
                    <a:pt x="19050" y="125857"/>
                  </a:lnTo>
                  <a:lnTo>
                    <a:pt x="0" y="125857"/>
                  </a:lnTo>
                  <a:moveTo>
                    <a:pt x="38100" y="125857"/>
                  </a:moveTo>
                  <a:lnTo>
                    <a:pt x="38100" y="1438402"/>
                  </a:lnTo>
                  <a:lnTo>
                    <a:pt x="19050" y="1438402"/>
                  </a:lnTo>
                  <a:lnTo>
                    <a:pt x="38100" y="1438402"/>
                  </a:lnTo>
                  <a:cubicBezTo>
                    <a:pt x="38100" y="1486535"/>
                    <a:pt x="78105" y="1526159"/>
                    <a:pt x="128397" y="1526159"/>
                  </a:cubicBezTo>
                  <a:lnTo>
                    <a:pt x="22513289" y="1526159"/>
                  </a:lnTo>
                  <a:cubicBezTo>
                    <a:pt x="22563581" y="1526159"/>
                    <a:pt x="22603586" y="1486408"/>
                    <a:pt x="22603586" y="1438402"/>
                  </a:cubicBezTo>
                  <a:lnTo>
                    <a:pt x="22603586" y="125857"/>
                  </a:lnTo>
                  <a:cubicBezTo>
                    <a:pt x="22603586" y="77724"/>
                    <a:pt x="22563581" y="38100"/>
                    <a:pt x="22513289" y="38100"/>
                  </a:cubicBezTo>
                  <a:lnTo>
                    <a:pt x="128397" y="38100"/>
                  </a:lnTo>
                  <a:lnTo>
                    <a:pt x="128397" y="19050"/>
                  </a:lnTo>
                  <a:lnTo>
                    <a:pt x="128397" y="38100"/>
                  </a:lnTo>
                  <a:cubicBezTo>
                    <a:pt x="78105" y="38100"/>
                    <a:pt x="38100" y="77851"/>
                    <a:pt x="38100" y="125857"/>
                  </a:cubicBezTo>
                  <a:close/>
                </a:path>
              </a:pathLst>
            </a:custGeom>
            <a:solidFill>
              <a:srgbClr val="C0C1D7"/>
            </a:solidFill>
          </p:spPr>
        </p:sp>
      </p:grpSp>
      <p:grpSp>
        <p:nvGrpSpPr>
          <p:cNvPr id="43" name="Group 43"/>
          <p:cNvGrpSpPr/>
          <p:nvPr/>
        </p:nvGrpSpPr>
        <p:grpSpPr>
          <a:xfrm>
            <a:off x="696220" y="7861402"/>
            <a:ext cx="763038" cy="1087488"/>
            <a:chOff x="0" y="0"/>
            <a:chExt cx="1017384" cy="1449984"/>
          </a:xfrm>
        </p:grpSpPr>
        <p:sp>
          <p:nvSpPr>
            <p:cNvPr id="44" name="Freeform 44"/>
            <p:cNvSpPr/>
            <p:nvPr/>
          </p:nvSpPr>
          <p:spPr>
            <a:xfrm>
              <a:off x="0" y="0"/>
              <a:ext cx="1017397" cy="1449959"/>
            </a:xfrm>
            <a:custGeom>
              <a:avLst/>
              <a:gdLst/>
              <a:ahLst/>
              <a:cxnLst/>
              <a:rect l="l" t="t" r="r" b="b"/>
              <a:pathLst>
                <a:path w="1017397" h="1449959">
                  <a:moveTo>
                    <a:pt x="0" y="61087"/>
                  </a:moveTo>
                  <a:cubicBezTo>
                    <a:pt x="0" y="27305"/>
                    <a:pt x="27305" y="0"/>
                    <a:pt x="61087" y="0"/>
                  </a:cubicBezTo>
                  <a:lnTo>
                    <a:pt x="956310" y="0"/>
                  </a:lnTo>
                  <a:cubicBezTo>
                    <a:pt x="990092" y="0"/>
                    <a:pt x="1017397" y="27305"/>
                    <a:pt x="1017397" y="61087"/>
                  </a:cubicBezTo>
                  <a:lnTo>
                    <a:pt x="1017397" y="1388872"/>
                  </a:lnTo>
                  <a:cubicBezTo>
                    <a:pt x="1017397" y="1422654"/>
                    <a:pt x="990092" y="1449959"/>
                    <a:pt x="956310" y="1449959"/>
                  </a:cubicBezTo>
                  <a:lnTo>
                    <a:pt x="61087" y="1449959"/>
                  </a:lnTo>
                  <a:cubicBezTo>
                    <a:pt x="27305" y="1449959"/>
                    <a:pt x="0" y="1422654"/>
                    <a:pt x="0" y="1388872"/>
                  </a:cubicBezTo>
                  <a:close/>
                </a:path>
              </a:pathLst>
            </a:custGeom>
            <a:solidFill>
              <a:srgbClr val="DADBF1"/>
            </a:solidFill>
          </p:spPr>
        </p:sp>
      </p:grpSp>
      <p:sp>
        <p:nvSpPr>
          <p:cNvPr id="45" name="TextBox 45"/>
          <p:cNvSpPr txBox="1"/>
          <p:nvPr/>
        </p:nvSpPr>
        <p:spPr>
          <a:xfrm>
            <a:off x="929878" y="8264423"/>
            <a:ext cx="286045" cy="319535"/>
          </a:xfrm>
          <a:prstGeom prst="rect">
            <a:avLst/>
          </a:prstGeom>
        </p:spPr>
        <p:txBody>
          <a:bodyPr lIns="0" tIns="0" rIns="0" bIns="0" rtlCol="0" anchor="t">
            <a:spAutoFit/>
          </a:bodyPr>
          <a:lstStyle/>
          <a:p>
            <a:pPr algn="l">
              <a:lnSpc>
                <a:spcPts val="2249"/>
              </a:lnSpc>
            </a:pPr>
            <a:r>
              <a:rPr lang="en-US" sz="2249" b="1">
                <a:solidFill>
                  <a:srgbClr val="272525"/>
                </a:solidFill>
                <a:latin typeface="Inter Bold"/>
                <a:ea typeface="Inter Bold"/>
                <a:cs typeface="Inter Bold"/>
                <a:sym typeface="Inter Bold"/>
              </a:rPr>
              <a:t>5</a:t>
            </a:r>
          </a:p>
        </p:txBody>
      </p:sp>
      <p:sp>
        <p:nvSpPr>
          <p:cNvPr id="46" name="TextBox 46"/>
          <p:cNvSpPr txBox="1"/>
          <p:nvPr/>
        </p:nvSpPr>
        <p:spPr>
          <a:xfrm>
            <a:off x="1587551" y="8042519"/>
            <a:ext cx="2511028" cy="307477"/>
          </a:xfrm>
          <a:prstGeom prst="rect">
            <a:avLst/>
          </a:prstGeom>
        </p:spPr>
        <p:txBody>
          <a:bodyPr lIns="0" tIns="0" rIns="0" bIns="0" rtlCol="0" anchor="t">
            <a:spAutoFit/>
          </a:bodyPr>
          <a:lstStyle/>
          <a:p>
            <a:pPr algn="l">
              <a:lnSpc>
                <a:spcPts val="2312"/>
              </a:lnSpc>
            </a:pPr>
            <a:r>
              <a:rPr lang="en-US" sz="1874" b="1">
                <a:solidFill>
                  <a:srgbClr val="272525"/>
                </a:solidFill>
                <a:latin typeface="Inter Bold"/>
                <a:ea typeface="Inter Bold"/>
                <a:cs typeface="Inter Bold"/>
                <a:sym typeface="Inter Bold"/>
              </a:rPr>
              <a:t>Scalable Architecture</a:t>
            </a:r>
          </a:p>
        </p:txBody>
      </p:sp>
      <p:sp>
        <p:nvSpPr>
          <p:cNvPr id="47" name="TextBox 47"/>
          <p:cNvSpPr txBox="1"/>
          <p:nvPr/>
        </p:nvSpPr>
        <p:spPr>
          <a:xfrm>
            <a:off x="1587551" y="8398373"/>
            <a:ext cx="15813586" cy="283816"/>
          </a:xfrm>
          <a:prstGeom prst="rect">
            <a:avLst/>
          </a:prstGeom>
        </p:spPr>
        <p:txBody>
          <a:bodyPr lIns="0" tIns="0" rIns="0" bIns="0" rtlCol="0" anchor="t">
            <a:spAutoFit/>
          </a:bodyPr>
          <a:lstStyle/>
          <a:p>
            <a:pPr algn="l">
              <a:lnSpc>
                <a:spcPts val="2000"/>
              </a:lnSpc>
            </a:pPr>
            <a:r>
              <a:rPr lang="en-US" sz="1500">
                <a:solidFill>
                  <a:srgbClr val="272525"/>
                </a:solidFill>
                <a:latin typeface="Inter"/>
                <a:ea typeface="Inter"/>
                <a:cs typeface="Inter"/>
                <a:sym typeface="Inter"/>
              </a:rPr>
              <a:t>System design supports vocabulary expansion and model refinement as additional gestures are collected.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p:spPr>
        </p:sp>
      </p:grpSp>
      <p:sp>
        <p:nvSpPr>
          <p:cNvPr id="6" name="TextBox 6"/>
          <p:cNvSpPr txBox="1"/>
          <p:nvPr/>
        </p:nvSpPr>
        <p:spPr>
          <a:xfrm>
            <a:off x="992238" y="1084212"/>
            <a:ext cx="7088238" cy="914552"/>
          </a:xfrm>
          <a:prstGeom prst="rect">
            <a:avLst/>
          </a:prstGeom>
        </p:spPr>
        <p:txBody>
          <a:bodyPr lIns="0" tIns="0" rIns="0" bIns="0" rtlCol="0" anchor="t">
            <a:spAutoFit/>
          </a:bodyPr>
          <a:lstStyle/>
          <a:p>
            <a:pPr algn="l">
              <a:lnSpc>
                <a:spcPts val="6937"/>
              </a:lnSpc>
            </a:pPr>
            <a:r>
              <a:rPr lang="en-US" sz="5562" b="1" dirty="0">
                <a:solidFill>
                  <a:srgbClr val="000000"/>
                </a:solidFill>
                <a:latin typeface="Inter Bold"/>
                <a:ea typeface="Inter Bold"/>
                <a:cs typeface="Inter Bold"/>
                <a:sym typeface="Inter Bold"/>
              </a:rPr>
              <a:t>Conclusion</a:t>
            </a:r>
          </a:p>
        </p:txBody>
      </p:sp>
      <p:sp>
        <p:nvSpPr>
          <p:cNvPr id="7" name="TextBox 7"/>
          <p:cNvSpPr txBox="1"/>
          <p:nvPr/>
        </p:nvSpPr>
        <p:spPr>
          <a:xfrm>
            <a:off x="992238" y="2480072"/>
            <a:ext cx="16303523" cy="992981"/>
          </a:xfrm>
          <a:prstGeom prst="rect">
            <a:avLst/>
          </a:prstGeom>
        </p:spPr>
        <p:txBody>
          <a:bodyPr lIns="0" tIns="0" rIns="0" bIns="0" rtlCol="0" anchor="t">
            <a:spAutoFit/>
          </a:bodyPr>
          <a:lstStyle/>
          <a:p>
            <a:pPr algn="l">
              <a:lnSpc>
                <a:spcPts val="3562"/>
              </a:lnSpc>
            </a:pPr>
            <a:r>
              <a:rPr lang="en-US" sz="2187">
                <a:solidFill>
                  <a:srgbClr val="272525"/>
                </a:solidFill>
                <a:latin typeface="Inter"/>
                <a:ea typeface="Inter"/>
                <a:cs typeface="Inter"/>
                <a:sym typeface="Inter"/>
              </a:rPr>
              <a:t>This project successfully demonstrates a practical, real-time sign language recognition system that combines MediaPipe-based landmark extraction with stacked LSTM neural networks. Key achievements:</a:t>
            </a:r>
          </a:p>
        </p:txBody>
      </p:sp>
      <p:grpSp>
        <p:nvGrpSpPr>
          <p:cNvPr id="8" name="Group 8"/>
          <p:cNvGrpSpPr/>
          <p:nvPr/>
        </p:nvGrpSpPr>
        <p:grpSpPr>
          <a:xfrm>
            <a:off x="987476" y="3787226"/>
            <a:ext cx="8019459" cy="1038520"/>
            <a:chOff x="0" y="0"/>
            <a:chExt cx="10692613" cy="1384694"/>
          </a:xfrm>
        </p:grpSpPr>
        <p:sp>
          <p:nvSpPr>
            <p:cNvPr id="9" name="Freeform 9"/>
            <p:cNvSpPr/>
            <p:nvPr/>
          </p:nvSpPr>
          <p:spPr>
            <a:xfrm>
              <a:off x="6350" y="6350"/>
              <a:ext cx="10679811" cy="1371981"/>
            </a:xfrm>
            <a:custGeom>
              <a:avLst/>
              <a:gdLst/>
              <a:ahLst/>
              <a:cxnLst/>
              <a:rect l="l" t="t" r="r" b="b"/>
              <a:pathLst>
                <a:path w="10679811" h="1371981">
                  <a:moveTo>
                    <a:pt x="0" y="158750"/>
                  </a:moveTo>
                  <a:cubicBezTo>
                    <a:pt x="0" y="71120"/>
                    <a:pt x="71628" y="0"/>
                    <a:pt x="160020" y="0"/>
                  </a:cubicBezTo>
                  <a:lnTo>
                    <a:pt x="10519791" y="0"/>
                  </a:lnTo>
                  <a:cubicBezTo>
                    <a:pt x="10608183" y="0"/>
                    <a:pt x="10679811" y="71120"/>
                    <a:pt x="10679811" y="158750"/>
                  </a:cubicBezTo>
                  <a:lnTo>
                    <a:pt x="10679811" y="1213231"/>
                  </a:lnTo>
                  <a:cubicBezTo>
                    <a:pt x="10679811" y="1300861"/>
                    <a:pt x="10608183" y="1371981"/>
                    <a:pt x="10519791" y="1371981"/>
                  </a:cubicBezTo>
                  <a:lnTo>
                    <a:pt x="160020" y="1371981"/>
                  </a:lnTo>
                  <a:cubicBezTo>
                    <a:pt x="71628" y="1371981"/>
                    <a:pt x="0" y="1300861"/>
                    <a:pt x="0" y="1213231"/>
                  </a:cubicBezTo>
                  <a:close/>
                </a:path>
              </a:pathLst>
            </a:custGeom>
            <a:solidFill>
              <a:srgbClr val="DADBF1"/>
            </a:solidFill>
          </p:spPr>
        </p:sp>
        <p:sp>
          <p:nvSpPr>
            <p:cNvPr id="10" name="Freeform 10"/>
            <p:cNvSpPr/>
            <p:nvPr/>
          </p:nvSpPr>
          <p:spPr>
            <a:xfrm>
              <a:off x="0" y="0"/>
              <a:ext cx="10692511" cy="1384681"/>
            </a:xfrm>
            <a:custGeom>
              <a:avLst/>
              <a:gdLst/>
              <a:ahLst/>
              <a:cxnLst/>
              <a:rect l="l" t="t" r="r" b="b"/>
              <a:pathLst>
                <a:path w="10692511" h="1384681">
                  <a:moveTo>
                    <a:pt x="0" y="165100"/>
                  </a:moveTo>
                  <a:cubicBezTo>
                    <a:pt x="0" y="73914"/>
                    <a:pt x="74549" y="0"/>
                    <a:pt x="166370" y="0"/>
                  </a:cubicBezTo>
                  <a:lnTo>
                    <a:pt x="10526141" y="0"/>
                  </a:lnTo>
                  <a:lnTo>
                    <a:pt x="10526141" y="6350"/>
                  </a:lnTo>
                  <a:lnTo>
                    <a:pt x="10526141" y="0"/>
                  </a:lnTo>
                  <a:cubicBezTo>
                    <a:pt x="10617962" y="0"/>
                    <a:pt x="10692511" y="73914"/>
                    <a:pt x="10692511" y="165100"/>
                  </a:cubicBezTo>
                  <a:lnTo>
                    <a:pt x="10686161" y="165100"/>
                  </a:lnTo>
                  <a:lnTo>
                    <a:pt x="10692511" y="165100"/>
                  </a:lnTo>
                  <a:lnTo>
                    <a:pt x="10692511" y="1219581"/>
                  </a:lnTo>
                  <a:lnTo>
                    <a:pt x="10686161" y="1219581"/>
                  </a:lnTo>
                  <a:lnTo>
                    <a:pt x="10692511" y="1219581"/>
                  </a:lnTo>
                  <a:cubicBezTo>
                    <a:pt x="10692511" y="1310767"/>
                    <a:pt x="10617962" y="1384681"/>
                    <a:pt x="10526141" y="1384681"/>
                  </a:cubicBezTo>
                  <a:lnTo>
                    <a:pt x="10526141" y="1378331"/>
                  </a:lnTo>
                  <a:lnTo>
                    <a:pt x="10526141" y="1384681"/>
                  </a:lnTo>
                  <a:lnTo>
                    <a:pt x="166370" y="1384681"/>
                  </a:lnTo>
                  <a:lnTo>
                    <a:pt x="166370" y="1378331"/>
                  </a:lnTo>
                  <a:lnTo>
                    <a:pt x="166370" y="1384681"/>
                  </a:lnTo>
                  <a:cubicBezTo>
                    <a:pt x="74549" y="1384681"/>
                    <a:pt x="0" y="1310767"/>
                    <a:pt x="0" y="1219581"/>
                  </a:cubicBezTo>
                  <a:lnTo>
                    <a:pt x="0" y="165100"/>
                  </a:lnTo>
                  <a:lnTo>
                    <a:pt x="6350" y="165100"/>
                  </a:lnTo>
                  <a:lnTo>
                    <a:pt x="0" y="165100"/>
                  </a:lnTo>
                  <a:moveTo>
                    <a:pt x="12700" y="165100"/>
                  </a:moveTo>
                  <a:lnTo>
                    <a:pt x="12700" y="1219581"/>
                  </a:lnTo>
                  <a:lnTo>
                    <a:pt x="6350" y="1219581"/>
                  </a:lnTo>
                  <a:lnTo>
                    <a:pt x="12700" y="1219581"/>
                  </a:lnTo>
                  <a:cubicBezTo>
                    <a:pt x="12700" y="1303655"/>
                    <a:pt x="81407" y="1371981"/>
                    <a:pt x="166370" y="1371981"/>
                  </a:cubicBezTo>
                  <a:lnTo>
                    <a:pt x="10526141" y="1371981"/>
                  </a:lnTo>
                  <a:cubicBezTo>
                    <a:pt x="10611104" y="1371981"/>
                    <a:pt x="10679811" y="1303655"/>
                    <a:pt x="10679811" y="1219581"/>
                  </a:cubicBezTo>
                  <a:lnTo>
                    <a:pt x="10679811" y="165100"/>
                  </a:lnTo>
                  <a:cubicBezTo>
                    <a:pt x="10679811" y="81026"/>
                    <a:pt x="10611104" y="12700"/>
                    <a:pt x="10526141" y="12700"/>
                  </a:cubicBezTo>
                  <a:lnTo>
                    <a:pt x="166370" y="12700"/>
                  </a:lnTo>
                  <a:lnTo>
                    <a:pt x="166370" y="6350"/>
                  </a:lnTo>
                  <a:lnTo>
                    <a:pt x="166370" y="12700"/>
                  </a:lnTo>
                  <a:cubicBezTo>
                    <a:pt x="81407" y="12700"/>
                    <a:pt x="12700" y="81026"/>
                    <a:pt x="12700" y="165100"/>
                  </a:cubicBezTo>
                  <a:close/>
                </a:path>
              </a:pathLst>
            </a:custGeom>
            <a:solidFill>
              <a:srgbClr val="C0C1D7"/>
            </a:solidFill>
          </p:spPr>
        </p:sp>
      </p:grpSp>
      <p:sp>
        <p:nvSpPr>
          <p:cNvPr id="11" name="TextBox 11"/>
          <p:cNvSpPr txBox="1"/>
          <p:nvPr/>
        </p:nvSpPr>
        <p:spPr>
          <a:xfrm>
            <a:off x="1285284" y="4065984"/>
            <a:ext cx="4859684" cy="461962"/>
          </a:xfrm>
          <a:prstGeom prst="rect">
            <a:avLst/>
          </a:prstGeom>
        </p:spPr>
        <p:txBody>
          <a:bodyPr lIns="0" tIns="0" rIns="0" bIns="0" rtlCol="0" anchor="t">
            <a:spAutoFit/>
          </a:bodyPr>
          <a:lstStyle/>
          <a:p>
            <a:pPr algn="l">
              <a:lnSpc>
                <a:spcPts val="3437"/>
              </a:lnSpc>
            </a:pPr>
            <a:r>
              <a:rPr lang="en-US" sz="2750" b="1">
                <a:solidFill>
                  <a:srgbClr val="272525"/>
                </a:solidFill>
                <a:latin typeface="Inter Bold"/>
                <a:ea typeface="Inter Bold"/>
                <a:cs typeface="Inter Bold"/>
                <a:sym typeface="Inter Bold"/>
              </a:rPr>
              <a:t>98.81% Validation Accuracy</a:t>
            </a:r>
          </a:p>
        </p:txBody>
      </p:sp>
      <p:grpSp>
        <p:nvGrpSpPr>
          <p:cNvPr id="12" name="Group 12"/>
          <p:cNvGrpSpPr/>
          <p:nvPr/>
        </p:nvGrpSpPr>
        <p:grpSpPr>
          <a:xfrm>
            <a:off x="9280922" y="3787226"/>
            <a:ext cx="8019602" cy="1038520"/>
            <a:chOff x="0" y="0"/>
            <a:chExt cx="10692803" cy="1384694"/>
          </a:xfrm>
        </p:grpSpPr>
        <p:sp>
          <p:nvSpPr>
            <p:cNvPr id="13" name="Freeform 13"/>
            <p:cNvSpPr/>
            <p:nvPr/>
          </p:nvSpPr>
          <p:spPr>
            <a:xfrm>
              <a:off x="6350" y="6350"/>
              <a:ext cx="10680064" cy="1371981"/>
            </a:xfrm>
            <a:custGeom>
              <a:avLst/>
              <a:gdLst/>
              <a:ahLst/>
              <a:cxnLst/>
              <a:rect l="l" t="t" r="r" b="b"/>
              <a:pathLst>
                <a:path w="10680064" h="1371981">
                  <a:moveTo>
                    <a:pt x="0" y="158750"/>
                  </a:moveTo>
                  <a:cubicBezTo>
                    <a:pt x="0" y="71120"/>
                    <a:pt x="71628" y="0"/>
                    <a:pt x="160020" y="0"/>
                  </a:cubicBezTo>
                  <a:lnTo>
                    <a:pt x="10520045" y="0"/>
                  </a:lnTo>
                  <a:cubicBezTo>
                    <a:pt x="10608437" y="0"/>
                    <a:pt x="10680064" y="71120"/>
                    <a:pt x="10680064" y="158750"/>
                  </a:cubicBezTo>
                  <a:lnTo>
                    <a:pt x="10680064" y="1213231"/>
                  </a:lnTo>
                  <a:cubicBezTo>
                    <a:pt x="10680064" y="1300861"/>
                    <a:pt x="10608437" y="1371981"/>
                    <a:pt x="10520045" y="1371981"/>
                  </a:cubicBezTo>
                  <a:lnTo>
                    <a:pt x="160020" y="1371981"/>
                  </a:lnTo>
                  <a:cubicBezTo>
                    <a:pt x="71628" y="1371981"/>
                    <a:pt x="0" y="1300861"/>
                    <a:pt x="0" y="1213231"/>
                  </a:cubicBezTo>
                  <a:close/>
                </a:path>
              </a:pathLst>
            </a:custGeom>
            <a:solidFill>
              <a:srgbClr val="DADBF1"/>
            </a:solidFill>
          </p:spPr>
        </p:sp>
        <p:sp>
          <p:nvSpPr>
            <p:cNvPr id="14" name="Freeform 14"/>
            <p:cNvSpPr/>
            <p:nvPr/>
          </p:nvSpPr>
          <p:spPr>
            <a:xfrm>
              <a:off x="0" y="0"/>
              <a:ext cx="10692764" cy="1384681"/>
            </a:xfrm>
            <a:custGeom>
              <a:avLst/>
              <a:gdLst/>
              <a:ahLst/>
              <a:cxnLst/>
              <a:rect l="l" t="t" r="r" b="b"/>
              <a:pathLst>
                <a:path w="10692764" h="1384681">
                  <a:moveTo>
                    <a:pt x="0" y="165100"/>
                  </a:moveTo>
                  <a:cubicBezTo>
                    <a:pt x="0" y="73914"/>
                    <a:pt x="74549" y="0"/>
                    <a:pt x="166370" y="0"/>
                  </a:cubicBezTo>
                  <a:lnTo>
                    <a:pt x="10526395" y="0"/>
                  </a:lnTo>
                  <a:lnTo>
                    <a:pt x="10526395" y="6350"/>
                  </a:lnTo>
                  <a:lnTo>
                    <a:pt x="10526395" y="0"/>
                  </a:lnTo>
                  <a:cubicBezTo>
                    <a:pt x="10618215" y="0"/>
                    <a:pt x="10692764" y="73914"/>
                    <a:pt x="10692764" y="165100"/>
                  </a:cubicBezTo>
                  <a:lnTo>
                    <a:pt x="10686414" y="165100"/>
                  </a:lnTo>
                  <a:lnTo>
                    <a:pt x="10692764" y="165100"/>
                  </a:lnTo>
                  <a:lnTo>
                    <a:pt x="10692764" y="1219581"/>
                  </a:lnTo>
                  <a:lnTo>
                    <a:pt x="10686414" y="1219581"/>
                  </a:lnTo>
                  <a:lnTo>
                    <a:pt x="10692764" y="1219581"/>
                  </a:lnTo>
                  <a:cubicBezTo>
                    <a:pt x="10692764" y="1310767"/>
                    <a:pt x="10618215" y="1384681"/>
                    <a:pt x="10526395" y="1384681"/>
                  </a:cubicBezTo>
                  <a:lnTo>
                    <a:pt x="10526395" y="1378331"/>
                  </a:lnTo>
                  <a:lnTo>
                    <a:pt x="10526395" y="1384681"/>
                  </a:lnTo>
                  <a:lnTo>
                    <a:pt x="166370" y="1384681"/>
                  </a:lnTo>
                  <a:lnTo>
                    <a:pt x="166370" y="1378331"/>
                  </a:lnTo>
                  <a:lnTo>
                    <a:pt x="166370" y="1384681"/>
                  </a:lnTo>
                  <a:cubicBezTo>
                    <a:pt x="74549" y="1384681"/>
                    <a:pt x="0" y="1310767"/>
                    <a:pt x="0" y="1219581"/>
                  </a:cubicBezTo>
                  <a:lnTo>
                    <a:pt x="0" y="165100"/>
                  </a:lnTo>
                  <a:lnTo>
                    <a:pt x="6350" y="165100"/>
                  </a:lnTo>
                  <a:lnTo>
                    <a:pt x="0" y="165100"/>
                  </a:lnTo>
                  <a:moveTo>
                    <a:pt x="12700" y="165100"/>
                  </a:moveTo>
                  <a:lnTo>
                    <a:pt x="12700" y="1219581"/>
                  </a:lnTo>
                  <a:lnTo>
                    <a:pt x="6350" y="1219581"/>
                  </a:lnTo>
                  <a:lnTo>
                    <a:pt x="12700" y="1219581"/>
                  </a:lnTo>
                  <a:cubicBezTo>
                    <a:pt x="12700" y="1303655"/>
                    <a:pt x="81407" y="1371981"/>
                    <a:pt x="166370" y="1371981"/>
                  </a:cubicBezTo>
                  <a:lnTo>
                    <a:pt x="10526395" y="1371981"/>
                  </a:lnTo>
                  <a:cubicBezTo>
                    <a:pt x="10611358" y="1371981"/>
                    <a:pt x="10680064" y="1303655"/>
                    <a:pt x="10680064" y="1219581"/>
                  </a:cubicBezTo>
                  <a:lnTo>
                    <a:pt x="10680064" y="165100"/>
                  </a:lnTo>
                  <a:cubicBezTo>
                    <a:pt x="10680064" y="81026"/>
                    <a:pt x="10611358" y="12700"/>
                    <a:pt x="10526395" y="12700"/>
                  </a:cubicBezTo>
                  <a:lnTo>
                    <a:pt x="166370" y="12700"/>
                  </a:lnTo>
                  <a:lnTo>
                    <a:pt x="166370" y="6350"/>
                  </a:lnTo>
                  <a:lnTo>
                    <a:pt x="166370" y="12700"/>
                  </a:lnTo>
                  <a:cubicBezTo>
                    <a:pt x="81407" y="12700"/>
                    <a:pt x="12700" y="81026"/>
                    <a:pt x="12700" y="165100"/>
                  </a:cubicBezTo>
                  <a:close/>
                </a:path>
              </a:pathLst>
            </a:custGeom>
            <a:solidFill>
              <a:srgbClr val="C0C1D7"/>
            </a:solidFill>
          </p:spPr>
        </p:sp>
      </p:grpSp>
      <p:sp>
        <p:nvSpPr>
          <p:cNvPr id="15" name="TextBox 15"/>
          <p:cNvSpPr txBox="1"/>
          <p:nvPr/>
        </p:nvSpPr>
        <p:spPr>
          <a:xfrm>
            <a:off x="9578731" y="4065984"/>
            <a:ext cx="5934523" cy="461962"/>
          </a:xfrm>
          <a:prstGeom prst="rect">
            <a:avLst/>
          </a:prstGeom>
        </p:spPr>
        <p:txBody>
          <a:bodyPr lIns="0" tIns="0" rIns="0" bIns="0" rtlCol="0" anchor="t">
            <a:spAutoFit/>
          </a:bodyPr>
          <a:lstStyle/>
          <a:p>
            <a:pPr algn="l">
              <a:lnSpc>
                <a:spcPts val="3437"/>
              </a:lnSpc>
            </a:pPr>
            <a:r>
              <a:rPr lang="en-US" sz="2750" b="1">
                <a:solidFill>
                  <a:srgbClr val="272525"/>
                </a:solidFill>
                <a:latin typeface="Inter Bold"/>
                <a:ea typeface="Inter Bold"/>
                <a:cs typeface="Inter Bold"/>
                <a:sym typeface="Inter Bold"/>
              </a:rPr>
              <a:t>24-30 FPS Real-time Performance</a:t>
            </a:r>
          </a:p>
        </p:txBody>
      </p:sp>
      <p:grpSp>
        <p:nvGrpSpPr>
          <p:cNvPr id="16" name="Group 16"/>
          <p:cNvGrpSpPr/>
          <p:nvPr/>
        </p:nvGrpSpPr>
        <p:grpSpPr>
          <a:xfrm>
            <a:off x="987476" y="5099742"/>
            <a:ext cx="8019459" cy="1038520"/>
            <a:chOff x="0" y="0"/>
            <a:chExt cx="10692613" cy="1384694"/>
          </a:xfrm>
        </p:grpSpPr>
        <p:sp>
          <p:nvSpPr>
            <p:cNvPr id="17" name="Freeform 17"/>
            <p:cNvSpPr/>
            <p:nvPr/>
          </p:nvSpPr>
          <p:spPr>
            <a:xfrm>
              <a:off x="6350" y="6350"/>
              <a:ext cx="10679811" cy="1371981"/>
            </a:xfrm>
            <a:custGeom>
              <a:avLst/>
              <a:gdLst/>
              <a:ahLst/>
              <a:cxnLst/>
              <a:rect l="l" t="t" r="r" b="b"/>
              <a:pathLst>
                <a:path w="10679811" h="1371981">
                  <a:moveTo>
                    <a:pt x="0" y="158750"/>
                  </a:moveTo>
                  <a:cubicBezTo>
                    <a:pt x="0" y="71120"/>
                    <a:pt x="71628" y="0"/>
                    <a:pt x="160020" y="0"/>
                  </a:cubicBezTo>
                  <a:lnTo>
                    <a:pt x="10519791" y="0"/>
                  </a:lnTo>
                  <a:cubicBezTo>
                    <a:pt x="10608183" y="0"/>
                    <a:pt x="10679811" y="71120"/>
                    <a:pt x="10679811" y="158750"/>
                  </a:cubicBezTo>
                  <a:lnTo>
                    <a:pt x="10679811" y="1213231"/>
                  </a:lnTo>
                  <a:cubicBezTo>
                    <a:pt x="10679811" y="1300861"/>
                    <a:pt x="10608183" y="1371981"/>
                    <a:pt x="10519791" y="1371981"/>
                  </a:cubicBezTo>
                  <a:lnTo>
                    <a:pt x="160020" y="1371981"/>
                  </a:lnTo>
                  <a:cubicBezTo>
                    <a:pt x="71628" y="1371981"/>
                    <a:pt x="0" y="1300861"/>
                    <a:pt x="0" y="1213231"/>
                  </a:cubicBezTo>
                  <a:close/>
                </a:path>
              </a:pathLst>
            </a:custGeom>
            <a:solidFill>
              <a:srgbClr val="DADBF1"/>
            </a:solidFill>
          </p:spPr>
        </p:sp>
        <p:sp>
          <p:nvSpPr>
            <p:cNvPr id="18" name="Freeform 18"/>
            <p:cNvSpPr/>
            <p:nvPr/>
          </p:nvSpPr>
          <p:spPr>
            <a:xfrm>
              <a:off x="0" y="0"/>
              <a:ext cx="10692511" cy="1384681"/>
            </a:xfrm>
            <a:custGeom>
              <a:avLst/>
              <a:gdLst/>
              <a:ahLst/>
              <a:cxnLst/>
              <a:rect l="l" t="t" r="r" b="b"/>
              <a:pathLst>
                <a:path w="10692511" h="1384681">
                  <a:moveTo>
                    <a:pt x="0" y="165100"/>
                  </a:moveTo>
                  <a:cubicBezTo>
                    <a:pt x="0" y="73914"/>
                    <a:pt x="74549" y="0"/>
                    <a:pt x="166370" y="0"/>
                  </a:cubicBezTo>
                  <a:lnTo>
                    <a:pt x="10526141" y="0"/>
                  </a:lnTo>
                  <a:lnTo>
                    <a:pt x="10526141" y="6350"/>
                  </a:lnTo>
                  <a:lnTo>
                    <a:pt x="10526141" y="0"/>
                  </a:lnTo>
                  <a:cubicBezTo>
                    <a:pt x="10617962" y="0"/>
                    <a:pt x="10692511" y="73914"/>
                    <a:pt x="10692511" y="165100"/>
                  </a:cubicBezTo>
                  <a:lnTo>
                    <a:pt x="10686161" y="165100"/>
                  </a:lnTo>
                  <a:lnTo>
                    <a:pt x="10692511" y="165100"/>
                  </a:lnTo>
                  <a:lnTo>
                    <a:pt x="10692511" y="1219581"/>
                  </a:lnTo>
                  <a:lnTo>
                    <a:pt x="10686161" y="1219581"/>
                  </a:lnTo>
                  <a:lnTo>
                    <a:pt x="10692511" y="1219581"/>
                  </a:lnTo>
                  <a:cubicBezTo>
                    <a:pt x="10692511" y="1310767"/>
                    <a:pt x="10617962" y="1384681"/>
                    <a:pt x="10526141" y="1384681"/>
                  </a:cubicBezTo>
                  <a:lnTo>
                    <a:pt x="10526141" y="1378331"/>
                  </a:lnTo>
                  <a:lnTo>
                    <a:pt x="10526141" y="1384681"/>
                  </a:lnTo>
                  <a:lnTo>
                    <a:pt x="166370" y="1384681"/>
                  </a:lnTo>
                  <a:lnTo>
                    <a:pt x="166370" y="1378331"/>
                  </a:lnTo>
                  <a:lnTo>
                    <a:pt x="166370" y="1384681"/>
                  </a:lnTo>
                  <a:cubicBezTo>
                    <a:pt x="74549" y="1384681"/>
                    <a:pt x="0" y="1310767"/>
                    <a:pt x="0" y="1219581"/>
                  </a:cubicBezTo>
                  <a:lnTo>
                    <a:pt x="0" y="165100"/>
                  </a:lnTo>
                  <a:lnTo>
                    <a:pt x="6350" y="165100"/>
                  </a:lnTo>
                  <a:lnTo>
                    <a:pt x="0" y="165100"/>
                  </a:lnTo>
                  <a:moveTo>
                    <a:pt x="12700" y="165100"/>
                  </a:moveTo>
                  <a:lnTo>
                    <a:pt x="12700" y="1219581"/>
                  </a:lnTo>
                  <a:lnTo>
                    <a:pt x="6350" y="1219581"/>
                  </a:lnTo>
                  <a:lnTo>
                    <a:pt x="12700" y="1219581"/>
                  </a:lnTo>
                  <a:cubicBezTo>
                    <a:pt x="12700" y="1303655"/>
                    <a:pt x="81407" y="1371981"/>
                    <a:pt x="166370" y="1371981"/>
                  </a:cubicBezTo>
                  <a:lnTo>
                    <a:pt x="10526141" y="1371981"/>
                  </a:lnTo>
                  <a:cubicBezTo>
                    <a:pt x="10611104" y="1371981"/>
                    <a:pt x="10679811" y="1303655"/>
                    <a:pt x="10679811" y="1219581"/>
                  </a:cubicBezTo>
                  <a:lnTo>
                    <a:pt x="10679811" y="165100"/>
                  </a:lnTo>
                  <a:cubicBezTo>
                    <a:pt x="10679811" y="81026"/>
                    <a:pt x="10611104" y="12700"/>
                    <a:pt x="10526141" y="12700"/>
                  </a:cubicBezTo>
                  <a:lnTo>
                    <a:pt x="166370" y="12700"/>
                  </a:lnTo>
                  <a:lnTo>
                    <a:pt x="166370" y="6350"/>
                  </a:lnTo>
                  <a:lnTo>
                    <a:pt x="166370" y="12700"/>
                  </a:lnTo>
                  <a:cubicBezTo>
                    <a:pt x="81407" y="12700"/>
                    <a:pt x="12700" y="81026"/>
                    <a:pt x="12700" y="165100"/>
                  </a:cubicBezTo>
                  <a:close/>
                </a:path>
              </a:pathLst>
            </a:custGeom>
            <a:solidFill>
              <a:srgbClr val="C0C1D7"/>
            </a:solidFill>
          </p:spPr>
        </p:sp>
      </p:grpSp>
      <p:sp>
        <p:nvSpPr>
          <p:cNvPr id="19" name="TextBox 19"/>
          <p:cNvSpPr txBox="1"/>
          <p:nvPr/>
        </p:nvSpPr>
        <p:spPr>
          <a:xfrm>
            <a:off x="1285284" y="5378501"/>
            <a:ext cx="6294539" cy="461962"/>
          </a:xfrm>
          <a:prstGeom prst="rect">
            <a:avLst/>
          </a:prstGeom>
        </p:spPr>
        <p:txBody>
          <a:bodyPr lIns="0" tIns="0" rIns="0" bIns="0" rtlCol="0" anchor="t">
            <a:spAutoFit/>
          </a:bodyPr>
          <a:lstStyle/>
          <a:p>
            <a:pPr algn="l">
              <a:lnSpc>
                <a:spcPts val="3437"/>
              </a:lnSpc>
            </a:pPr>
            <a:r>
              <a:rPr lang="en-US" sz="2750" b="1">
                <a:solidFill>
                  <a:srgbClr val="272525"/>
                </a:solidFill>
                <a:latin typeface="Inter Bold"/>
                <a:ea typeface="Inter Bold"/>
                <a:cs typeface="Inter Bold"/>
                <a:sym typeface="Inter Bold"/>
              </a:rPr>
              <a:t>Modular Incremental Dataset Design</a:t>
            </a:r>
          </a:p>
        </p:txBody>
      </p:sp>
      <p:grpSp>
        <p:nvGrpSpPr>
          <p:cNvPr id="20" name="Group 20"/>
          <p:cNvGrpSpPr/>
          <p:nvPr/>
        </p:nvGrpSpPr>
        <p:grpSpPr>
          <a:xfrm>
            <a:off x="9280922" y="5099742"/>
            <a:ext cx="8019602" cy="1038520"/>
            <a:chOff x="0" y="0"/>
            <a:chExt cx="10692803" cy="1384694"/>
          </a:xfrm>
        </p:grpSpPr>
        <p:sp>
          <p:nvSpPr>
            <p:cNvPr id="21" name="Freeform 21"/>
            <p:cNvSpPr/>
            <p:nvPr/>
          </p:nvSpPr>
          <p:spPr>
            <a:xfrm>
              <a:off x="6350" y="6350"/>
              <a:ext cx="10680064" cy="1371981"/>
            </a:xfrm>
            <a:custGeom>
              <a:avLst/>
              <a:gdLst/>
              <a:ahLst/>
              <a:cxnLst/>
              <a:rect l="l" t="t" r="r" b="b"/>
              <a:pathLst>
                <a:path w="10680064" h="1371981">
                  <a:moveTo>
                    <a:pt x="0" y="158750"/>
                  </a:moveTo>
                  <a:cubicBezTo>
                    <a:pt x="0" y="71120"/>
                    <a:pt x="71628" y="0"/>
                    <a:pt x="160020" y="0"/>
                  </a:cubicBezTo>
                  <a:lnTo>
                    <a:pt x="10520045" y="0"/>
                  </a:lnTo>
                  <a:cubicBezTo>
                    <a:pt x="10608437" y="0"/>
                    <a:pt x="10680064" y="71120"/>
                    <a:pt x="10680064" y="158750"/>
                  </a:cubicBezTo>
                  <a:lnTo>
                    <a:pt x="10680064" y="1213231"/>
                  </a:lnTo>
                  <a:cubicBezTo>
                    <a:pt x="10680064" y="1300861"/>
                    <a:pt x="10608437" y="1371981"/>
                    <a:pt x="10520045" y="1371981"/>
                  </a:cubicBezTo>
                  <a:lnTo>
                    <a:pt x="160020" y="1371981"/>
                  </a:lnTo>
                  <a:cubicBezTo>
                    <a:pt x="71628" y="1371981"/>
                    <a:pt x="0" y="1300861"/>
                    <a:pt x="0" y="1213231"/>
                  </a:cubicBezTo>
                  <a:close/>
                </a:path>
              </a:pathLst>
            </a:custGeom>
            <a:solidFill>
              <a:srgbClr val="DADBF1"/>
            </a:solidFill>
          </p:spPr>
        </p:sp>
        <p:sp>
          <p:nvSpPr>
            <p:cNvPr id="22" name="Freeform 22"/>
            <p:cNvSpPr/>
            <p:nvPr/>
          </p:nvSpPr>
          <p:spPr>
            <a:xfrm>
              <a:off x="0" y="0"/>
              <a:ext cx="10692764" cy="1384681"/>
            </a:xfrm>
            <a:custGeom>
              <a:avLst/>
              <a:gdLst/>
              <a:ahLst/>
              <a:cxnLst/>
              <a:rect l="l" t="t" r="r" b="b"/>
              <a:pathLst>
                <a:path w="10692764" h="1384681">
                  <a:moveTo>
                    <a:pt x="0" y="165100"/>
                  </a:moveTo>
                  <a:cubicBezTo>
                    <a:pt x="0" y="73914"/>
                    <a:pt x="74549" y="0"/>
                    <a:pt x="166370" y="0"/>
                  </a:cubicBezTo>
                  <a:lnTo>
                    <a:pt x="10526395" y="0"/>
                  </a:lnTo>
                  <a:lnTo>
                    <a:pt x="10526395" y="6350"/>
                  </a:lnTo>
                  <a:lnTo>
                    <a:pt x="10526395" y="0"/>
                  </a:lnTo>
                  <a:cubicBezTo>
                    <a:pt x="10618215" y="0"/>
                    <a:pt x="10692764" y="73914"/>
                    <a:pt x="10692764" y="165100"/>
                  </a:cubicBezTo>
                  <a:lnTo>
                    <a:pt x="10686414" y="165100"/>
                  </a:lnTo>
                  <a:lnTo>
                    <a:pt x="10692764" y="165100"/>
                  </a:lnTo>
                  <a:lnTo>
                    <a:pt x="10692764" y="1219581"/>
                  </a:lnTo>
                  <a:lnTo>
                    <a:pt x="10686414" y="1219581"/>
                  </a:lnTo>
                  <a:lnTo>
                    <a:pt x="10692764" y="1219581"/>
                  </a:lnTo>
                  <a:cubicBezTo>
                    <a:pt x="10692764" y="1310767"/>
                    <a:pt x="10618215" y="1384681"/>
                    <a:pt x="10526395" y="1384681"/>
                  </a:cubicBezTo>
                  <a:lnTo>
                    <a:pt x="10526395" y="1378331"/>
                  </a:lnTo>
                  <a:lnTo>
                    <a:pt x="10526395" y="1384681"/>
                  </a:lnTo>
                  <a:lnTo>
                    <a:pt x="166370" y="1384681"/>
                  </a:lnTo>
                  <a:lnTo>
                    <a:pt x="166370" y="1378331"/>
                  </a:lnTo>
                  <a:lnTo>
                    <a:pt x="166370" y="1384681"/>
                  </a:lnTo>
                  <a:cubicBezTo>
                    <a:pt x="74549" y="1384681"/>
                    <a:pt x="0" y="1310767"/>
                    <a:pt x="0" y="1219581"/>
                  </a:cubicBezTo>
                  <a:lnTo>
                    <a:pt x="0" y="165100"/>
                  </a:lnTo>
                  <a:lnTo>
                    <a:pt x="6350" y="165100"/>
                  </a:lnTo>
                  <a:lnTo>
                    <a:pt x="0" y="165100"/>
                  </a:lnTo>
                  <a:moveTo>
                    <a:pt x="12700" y="165100"/>
                  </a:moveTo>
                  <a:lnTo>
                    <a:pt x="12700" y="1219581"/>
                  </a:lnTo>
                  <a:lnTo>
                    <a:pt x="6350" y="1219581"/>
                  </a:lnTo>
                  <a:lnTo>
                    <a:pt x="12700" y="1219581"/>
                  </a:lnTo>
                  <a:cubicBezTo>
                    <a:pt x="12700" y="1303655"/>
                    <a:pt x="81407" y="1371981"/>
                    <a:pt x="166370" y="1371981"/>
                  </a:cubicBezTo>
                  <a:lnTo>
                    <a:pt x="10526395" y="1371981"/>
                  </a:lnTo>
                  <a:cubicBezTo>
                    <a:pt x="10611358" y="1371981"/>
                    <a:pt x="10680064" y="1303655"/>
                    <a:pt x="10680064" y="1219581"/>
                  </a:cubicBezTo>
                  <a:lnTo>
                    <a:pt x="10680064" y="165100"/>
                  </a:lnTo>
                  <a:cubicBezTo>
                    <a:pt x="10680064" y="81026"/>
                    <a:pt x="10611358" y="12700"/>
                    <a:pt x="10526395" y="12700"/>
                  </a:cubicBezTo>
                  <a:lnTo>
                    <a:pt x="166370" y="12700"/>
                  </a:lnTo>
                  <a:lnTo>
                    <a:pt x="166370" y="6350"/>
                  </a:lnTo>
                  <a:lnTo>
                    <a:pt x="166370" y="12700"/>
                  </a:lnTo>
                  <a:cubicBezTo>
                    <a:pt x="81407" y="12700"/>
                    <a:pt x="12700" y="81026"/>
                    <a:pt x="12700" y="165100"/>
                  </a:cubicBezTo>
                  <a:close/>
                </a:path>
              </a:pathLst>
            </a:custGeom>
            <a:solidFill>
              <a:srgbClr val="C0C1D7"/>
            </a:solidFill>
          </p:spPr>
        </p:sp>
      </p:grpSp>
      <p:sp>
        <p:nvSpPr>
          <p:cNvPr id="23" name="TextBox 23"/>
          <p:cNvSpPr txBox="1"/>
          <p:nvPr/>
        </p:nvSpPr>
        <p:spPr>
          <a:xfrm>
            <a:off x="9578731" y="5378501"/>
            <a:ext cx="6659318" cy="461962"/>
          </a:xfrm>
          <a:prstGeom prst="rect">
            <a:avLst/>
          </a:prstGeom>
        </p:spPr>
        <p:txBody>
          <a:bodyPr lIns="0" tIns="0" rIns="0" bIns="0" rtlCol="0" anchor="t">
            <a:spAutoFit/>
          </a:bodyPr>
          <a:lstStyle/>
          <a:p>
            <a:pPr algn="l">
              <a:lnSpc>
                <a:spcPts val="3437"/>
              </a:lnSpc>
            </a:pPr>
            <a:r>
              <a:rPr lang="en-US" sz="2750" b="1">
                <a:solidFill>
                  <a:srgbClr val="272525"/>
                </a:solidFill>
                <a:latin typeface="Inter Bold"/>
                <a:ea typeface="Inter Bold"/>
                <a:cs typeface="Inter Bold"/>
                <a:sym typeface="Inter Bold"/>
              </a:rPr>
              <a:t>Accessibility-Focused Implementation</a:t>
            </a:r>
          </a:p>
        </p:txBody>
      </p:sp>
      <p:sp>
        <p:nvSpPr>
          <p:cNvPr id="24" name="TextBox 24"/>
          <p:cNvSpPr txBox="1"/>
          <p:nvPr/>
        </p:nvSpPr>
        <p:spPr>
          <a:xfrm>
            <a:off x="992238" y="6366720"/>
            <a:ext cx="16303523" cy="2807494"/>
          </a:xfrm>
          <a:prstGeom prst="rect">
            <a:avLst/>
          </a:prstGeom>
        </p:spPr>
        <p:txBody>
          <a:bodyPr lIns="0" tIns="0" rIns="0" bIns="0" rtlCol="0" anchor="t">
            <a:spAutoFit/>
          </a:bodyPr>
          <a:lstStyle/>
          <a:p>
            <a:pPr algn="l">
              <a:lnSpc>
                <a:spcPts val="3562"/>
              </a:lnSpc>
            </a:pPr>
            <a:r>
              <a:rPr lang="en-US" sz="2187">
                <a:solidFill>
                  <a:srgbClr val="272525"/>
                </a:solidFill>
                <a:latin typeface="Inter"/>
                <a:ea typeface="Inter"/>
                <a:cs typeface="Inter"/>
                <a:sym typeface="Inter"/>
              </a:rPr>
              <a:t>The system proves that robust gesture recognition can be achieved through careful integration of computer vision, temporal deep learning, and efficient system design. Impact: By eliminating dependence on specialized hardware and enabling real-time inference on consumer devices, this project advances practical deployment of accessible sign language translation technologies. Future work will focus on expanding gesture vocabulary, improving robustness across diverse signers, and exploring advanced architectures like transformers. This contributes to both assistive technology development and broader research in intelligent visual interaction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904</Words>
  <Application>Microsoft Office PowerPoint</Application>
  <PresentationFormat>Custom</PresentationFormat>
  <Paragraphs>148</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Inter Bold</vt:lpstr>
      <vt:lpstr>Inter</vt:lpstr>
      <vt:lpstr>Calibri</vt:lpstr>
      <vt:lpstr>Inter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sign_language_presentation.pptx</dc:title>
  <cp:lastModifiedBy>shreyas shinde</cp:lastModifiedBy>
  <cp:revision>2</cp:revision>
  <dcterms:created xsi:type="dcterms:W3CDTF">2006-08-16T00:00:00Z</dcterms:created>
  <dcterms:modified xsi:type="dcterms:W3CDTF">2026-02-27T09:30:45Z</dcterms:modified>
  <dc:identifier>DAHCgelyh5s</dc:identifier>
</cp:coreProperties>
</file>